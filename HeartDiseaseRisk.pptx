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1" r:id="rId2"/>
    <p:sldId id="2564" r:id="rId3"/>
    <p:sldId id="2562" r:id="rId4"/>
    <p:sldId id="2584" r:id="rId5"/>
    <p:sldId id="2567" r:id="rId6"/>
    <p:sldId id="2568" r:id="rId7"/>
    <p:sldId id="2585" r:id="rId8"/>
    <p:sldId id="2586" r:id="rId9"/>
    <p:sldId id="2571" r:id="rId10"/>
    <p:sldId id="2587" r:id="rId11"/>
    <p:sldId id="2588" r:id="rId12"/>
    <p:sldId id="2589" r:id="rId13"/>
    <p:sldId id="2590" r:id="rId14"/>
    <p:sldId id="2591" r:id="rId15"/>
    <p:sldId id="2592" r:id="rId16"/>
    <p:sldId id="2593" r:id="rId17"/>
    <p:sldId id="2575" r:id="rId18"/>
    <p:sldId id="2594" r:id="rId19"/>
    <p:sldId id="2595" r:id="rId20"/>
    <p:sldId id="2579" r:id="rId21"/>
    <p:sldId id="2581" r:id="rId22"/>
    <p:sldId id="2580"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veraging Patient Demographic and Clinical Data for Accurate Heart Disease Risk Prediction Using Supervised Machine Learning" id="{2F9E16C7-01EC-4CB7-99CB-96C077E1F276}">
          <p14:sldIdLst>
            <p14:sldId id="2561"/>
            <p14:sldId id="2564"/>
            <p14:sldId id="2562"/>
            <p14:sldId id="2584"/>
            <p14:sldId id="2567"/>
            <p14:sldId id="2568"/>
            <p14:sldId id="2585"/>
            <p14:sldId id="2586"/>
            <p14:sldId id="2571"/>
            <p14:sldId id="2587"/>
            <p14:sldId id="2588"/>
            <p14:sldId id="2589"/>
            <p14:sldId id="2590"/>
            <p14:sldId id="2591"/>
            <p14:sldId id="2592"/>
            <p14:sldId id="2593"/>
            <p14:sldId id="2575"/>
            <p14:sldId id="2594"/>
            <p14:sldId id="2595"/>
          </p14:sldIdLst>
        </p14:section>
        <p14:section name="Ethical, Practical, and Future Considerations" id="{4A8166B3-ED4C-4A77-BA87-8DDD13A1F9C7}">
          <p14:sldIdLst>
            <p14:sldId id="2579"/>
            <p14:sldId id="2581"/>
            <p14:sldId id="2580"/>
          </p14:sldIdLst>
        </p14:section>
        <p14:section name="Conclusion: Advancing Heart Disease Prediction Through Data-Driven Machine Learning" id="{FBE96623-440D-4DC1-930A-300F904D88EF}">
          <p14:sldIdLst>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99369F-9F69-4B19-8F47-115EF4784668}" v="1" dt="2026-01-27T18:16:34.4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745" autoAdjust="0"/>
  </p:normalViewPr>
  <p:slideViewPr>
    <p:cSldViewPr snapToGrid="0">
      <p:cViewPr varScale="1">
        <p:scale>
          <a:sx n="60" d="100"/>
          <a:sy n="60" d="100"/>
        </p:scale>
        <p:origin x="1550" y="27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wayne Maddux" userId="c952f4797524d134" providerId="LiveId" clId="{06D4D080-7AF2-497D-9AF3-9DC11CEAABBD}"/>
    <pc:docChg chg="custSel addSld delSld modSld sldOrd delSection modSection">
      <pc:chgData name="Dwayne Maddux" userId="c952f4797524d134" providerId="LiveId" clId="{06D4D080-7AF2-497D-9AF3-9DC11CEAABBD}" dt="2026-02-02T19:30:48.855" v="464"/>
      <pc:docMkLst>
        <pc:docMk/>
      </pc:docMkLst>
      <pc:sldChg chg="modSp mod">
        <pc:chgData name="Dwayne Maddux" userId="c952f4797524d134" providerId="LiveId" clId="{06D4D080-7AF2-497D-9AF3-9DC11CEAABBD}" dt="2026-01-27T20:26:40.812" v="462" actId="27636"/>
        <pc:sldMkLst>
          <pc:docMk/>
          <pc:sldMk cId="3463690360" sldId="2561"/>
        </pc:sldMkLst>
        <pc:spChg chg="mod">
          <ac:chgData name="Dwayne Maddux" userId="c952f4797524d134" providerId="LiveId" clId="{06D4D080-7AF2-497D-9AF3-9DC11CEAABBD}" dt="2026-01-27T20:26:40.812" v="462" actId="27636"/>
          <ac:spMkLst>
            <pc:docMk/>
            <pc:sldMk cId="3463690360" sldId="2561"/>
            <ac:spMk id="9" creationId="{75068A21-3672-46A9-BBD9-D75F373DD3E1}"/>
          </ac:spMkLst>
        </pc:spChg>
        <pc:spChg chg="mod">
          <ac:chgData name="Dwayne Maddux" userId="c952f4797524d134" providerId="LiveId" clId="{06D4D080-7AF2-497D-9AF3-9DC11CEAABBD}" dt="2026-01-27T18:15:44.273" v="55" actId="27636"/>
          <ac:spMkLst>
            <pc:docMk/>
            <pc:sldMk cId="3463690360" sldId="2561"/>
            <ac:spMk id="10" creationId="{386DD1DB-FD65-4A95-863B-365A0E791EAE}"/>
          </ac:spMkLst>
        </pc:spChg>
      </pc:sldChg>
      <pc:sldChg chg="modSp mod modNotesTx">
        <pc:chgData name="Dwayne Maddux" userId="c952f4797524d134" providerId="LiveId" clId="{06D4D080-7AF2-497D-9AF3-9DC11CEAABBD}" dt="2026-01-27T20:07:31.622" v="459" actId="20577"/>
        <pc:sldMkLst>
          <pc:docMk/>
          <pc:sldMk cId="2816598095" sldId="2562"/>
        </pc:sldMkLst>
        <pc:spChg chg="mod">
          <ac:chgData name="Dwayne Maddux" userId="c952f4797524d134" providerId="LiveId" clId="{06D4D080-7AF2-497D-9AF3-9DC11CEAABBD}" dt="2026-01-27T18:18:51.077" v="87" actId="113"/>
          <ac:spMkLst>
            <pc:docMk/>
            <pc:sldMk cId="2816598095" sldId="2562"/>
            <ac:spMk id="9" creationId="{6A8B9F90-9249-4DAB-89E0-689B6D200C90}"/>
          </ac:spMkLst>
        </pc:spChg>
        <pc:spChg chg="mod">
          <ac:chgData name="Dwayne Maddux" userId="c952f4797524d134" providerId="LiveId" clId="{06D4D080-7AF2-497D-9AF3-9DC11CEAABBD}" dt="2026-01-27T18:18:31.273" v="86" actId="27636"/>
          <ac:spMkLst>
            <pc:docMk/>
            <pc:sldMk cId="2816598095" sldId="2562"/>
            <ac:spMk id="10" creationId="{4F61E509-5981-484F-AE7D-A6595ADBAEA7}"/>
          </ac:spMkLst>
        </pc:spChg>
      </pc:sldChg>
      <pc:sldChg chg="modSp mod ord">
        <pc:chgData name="Dwayne Maddux" userId="c952f4797524d134" providerId="LiveId" clId="{06D4D080-7AF2-497D-9AF3-9DC11CEAABBD}" dt="2026-01-27T18:15:44.009" v="3" actId="27636"/>
        <pc:sldMkLst>
          <pc:docMk/>
          <pc:sldMk cId="1801553000" sldId="2564"/>
        </pc:sldMkLst>
        <pc:spChg chg="mod">
          <ac:chgData name="Dwayne Maddux" userId="c952f4797524d134" providerId="LiveId" clId="{06D4D080-7AF2-497D-9AF3-9DC11CEAABBD}" dt="2026-01-27T18:15:44.009" v="3" actId="27636"/>
          <ac:spMkLst>
            <pc:docMk/>
            <pc:sldMk cId="1801553000" sldId="2564"/>
            <ac:spMk id="9" creationId="{D8B9C4C6-733E-4F84-9E66-6D71B2BDCFD4}"/>
          </ac:spMkLst>
        </pc:spChg>
        <pc:spChg chg="mod">
          <ac:chgData name="Dwayne Maddux" userId="c952f4797524d134" providerId="LiveId" clId="{06D4D080-7AF2-497D-9AF3-9DC11CEAABBD}" dt="2026-01-27T18:15:44.007" v="2" actId="27636"/>
          <ac:spMkLst>
            <pc:docMk/>
            <pc:sldMk cId="1801553000" sldId="2564"/>
            <ac:spMk id="10" creationId="{1DC9FBBC-2A15-4B20-ACE9-D918C8BE5304}"/>
          </ac:spMkLst>
        </pc:spChg>
      </pc:sldChg>
      <pc:sldChg chg="modSp mod">
        <pc:chgData name="Dwayne Maddux" userId="c952f4797524d134" providerId="LiveId" clId="{06D4D080-7AF2-497D-9AF3-9DC11CEAABBD}" dt="2026-01-27T18:24:45.441" v="102" actId="20577"/>
        <pc:sldMkLst>
          <pc:docMk/>
          <pc:sldMk cId="3085299992" sldId="2567"/>
        </pc:sldMkLst>
        <pc:spChg chg="mod">
          <ac:chgData name="Dwayne Maddux" userId="c952f4797524d134" providerId="LiveId" clId="{06D4D080-7AF2-497D-9AF3-9DC11CEAABBD}" dt="2026-01-27T18:24:45.441" v="102" actId="20577"/>
          <ac:spMkLst>
            <pc:docMk/>
            <pc:sldMk cId="3085299992" sldId="2567"/>
            <ac:spMk id="4" creationId="{D6B6900C-2446-4C0A-1EB3-0FBD0AF41E68}"/>
          </ac:spMkLst>
        </pc:spChg>
      </pc:sldChg>
      <pc:sldChg chg="modSp mod modNotesTx">
        <pc:chgData name="Dwayne Maddux" userId="c952f4797524d134" providerId="LiveId" clId="{06D4D080-7AF2-497D-9AF3-9DC11CEAABBD}" dt="2026-01-27T18:33:24.130" v="357" actId="20577"/>
        <pc:sldMkLst>
          <pc:docMk/>
          <pc:sldMk cId="2821447647" sldId="2568"/>
        </pc:sldMkLst>
        <pc:spChg chg="mod">
          <ac:chgData name="Dwayne Maddux" userId="c952f4797524d134" providerId="LiveId" clId="{06D4D080-7AF2-497D-9AF3-9DC11CEAABBD}" dt="2026-01-27T18:15:44.065" v="13" actId="27636"/>
          <ac:spMkLst>
            <pc:docMk/>
            <pc:sldMk cId="2821447647" sldId="2568"/>
            <ac:spMk id="9" creationId="{A9EE305A-BF5C-41B3-820D-0AB40E052A8B}"/>
          </ac:spMkLst>
        </pc:spChg>
        <pc:spChg chg="mod">
          <ac:chgData name="Dwayne Maddux" userId="c952f4797524d134" providerId="LiveId" clId="{06D4D080-7AF2-497D-9AF3-9DC11CEAABBD}" dt="2026-01-27T18:33:24.130" v="357" actId="20577"/>
          <ac:spMkLst>
            <pc:docMk/>
            <pc:sldMk cId="2821447647" sldId="2568"/>
            <ac:spMk id="10" creationId="{3E965727-F1EB-49DA-AC88-B8DF4EB02CC3}"/>
          </ac:spMkLst>
        </pc:spChg>
      </pc:sldChg>
      <pc:sldChg chg="modSp mod">
        <pc:chgData name="Dwayne Maddux" userId="c952f4797524d134" providerId="LiveId" clId="{06D4D080-7AF2-497D-9AF3-9DC11CEAABBD}" dt="2026-01-27T20:03:25.175" v="454" actId="27636"/>
        <pc:sldMkLst>
          <pc:docMk/>
          <pc:sldMk cId="3700446035" sldId="2571"/>
        </pc:sldMkLst>
        <pc:spChg chg="mod">
          <ac:chgData name="Dwayne Maddux" userId="c952f4797524d134" providerId="LiveId" clId="{06D4D080-7AF2-497D-9AF3-9DC11CEAABBD}" dt="2026-01-27T20:03:25.175" v="454" actId="27636"/>
          <ac:spMkLst>
            <pc:docMk/>
            <pc:sldMk cId="3700446035" sldId="2571"/>
            <ac:spMk id="4" creationId="{CFF99FBB-543A-FDD4-3F83-7A9653C63237}"/>
          </ac:spMkLst>
        </pc:spChg>
      </pc:sldChg>
      <pc:sldChg chg="modSp mod">
        <pc:chgData name="Dwayne Maddux" userId="c952f4797524d134" providerId="LiveId" clId="{06D4D080-7AF2-497D-9AF3-9DC11CEAABBD}" dt="2026-01-27T19:09:23.735" v="423" actId="20577"/>
        <pc:sldMkLst>
          <pc:docMk/>
          <pc:sldMk cId="4100252571" sldId="2575"/>
        </pc:sldMkLst>
        <pc:spChg chg="mod">
          <ac:chgData name="Dwayne Maddux" userId="c952f4797524d134" providerId="LiveId" clId="{06D4D080-7AF2-497D-9AF3-9DC11CEAABBD}" dt="2026-01-27T19:09:23.735" v="423" actId="20577"/>
          <ac:spMkLst>
            <pc:docMk/>
            <pc:sldMk cId="4100252571" sldId="2575"/>
            <ac:spMk id="4" creationId="{4F12CDBE-6155-6351-0F32-479044499450}"/>
          </ac:spMkLst>
        </pc:spChg>
      </pc:sldChg>
      <pc:sldChg chg="modSp mod">
        <pc:chgData name="Dwayne Maddux" userId="c952f4797524d134" providerId="LiveId" clId="{06D4D080-7AF2-497D-9AF3-9DC11CEAABBD}" dt="2026-01-27T18:15:44.208" v="42" actId="27636"/>
        <pc:sldMkLst>
          <pc:docMk/>
          <pc:sldMk cId="964651536" sldId="2579"/>
        </pc:sldMkLst>
        <pc:spChg chg="mod">
          <ac:chgData name="Dwayne Maddux" userId="c952f4797524d134" providerId="LiveId" clId="{06D4D080-7AF2-497D-9AF3-9DC11CEAABBD}" dt="2026-01-27T18:15:44.208" v="42" actId="27636"/>
          <ac:spMkLst>
            <pc:docMk/>
            <pc:sldMk cId="964651536" sldId="2579"/>
            <ac:spMk id="4" creationId="{E543328A-AEC6-41B4-5C7E-809C9D2DAEC9}"/>
          </ac:spMkLst>
        </pc:spChg>
      </pc:sldChg>
      <pc:sldChg chg="modSp mod ord modNotesTx">
        <pc:chgData name="Dwayne Maddux" userId="c952f4797524d134" providerId="LiveId" clId="{06D4D080-7AF2-497D-9AF3-9DC11CEAABBD}" dt="2026-02-02T19:30:48.855" v="464"/>
        <pc:sldMkLst>
          <pc:docMk/>
          <pc:sldMk cId="3166606899" sldId="2580"/>
        </pc:sldMkLst>
        <pc:spChg chg="mod">
          <ac:chgData name="Dwayne Maddux" userId="c952f4797524d134" providerId="LiveId" clId="{06D4D080-7AF2-497D-9AF3-9DC11CEAABBD}" dt="2026-01-27T18:15:44.208" v="43" actId="27636"/>
          <ac:spMkLst>
            <pc:docMk/>
            <pc:sldMk cId="3166606899" sldId="2580"/>
            <ac:spMk id="4" creationId="{65C3E4E8-2C37-0F6B-BB11-7FFAC5245352}"/>
          </ac:spMkLst>
        </pc:spChg>
        <pc:spChg chg="mod">
          <ac:chgData name="Dwayne Maddux" userId="c952f4797524d134" providerId="LiveId" clId="{06D4D080-7AF2-497D-9AF3-9DC11CEAABBD}" dt="2026-01-27T18:15:44.208" v="44" actId="27636"/>
          <ac:spMkLst>
            <pc:docMk/>
            <pc:sldMk cId="3166606899" sldId="2580"/>
            <ac:spMk id="8" creationId="{964B0B5D-011A-4792-9572-EA7AFCA87AB3}"/>
          </ac:spMkLst>
        </pc:spChg>
      </pc:sldChg>
      <pc:sldChg chg="modSp mod">
        <pc:chgData name="Dwayne Maddux" userId="c952f4797524d134" providerId="LiveId" clId="{06D4D080-7AF2-497D-9AF3-9DC11CEAABBD}" dt="2026-01-27T18:15:44.230" v="46" actId="27636"/>
        <pc:sldMkLst>
          <pc:docMk/>
          <pc:sldMk cId="3939093725" sldId="2581"/>
        </pc:sldMkLst>
        <pc:spChg chg="mod">
          <ac:chgData name="Dwayne Maddux" userId="c952f4797524d134" providerId="LiveId" clId="{06D4D080-7AF2-497D-9AF3-9DC11CEAABBD}" dt="2026-01-27T18:15:44.230" v="46" actId="27636"/>
          <ac:spMkLst>
            <pc:docMk/>
            <pc:sldMk cId="3939093725" sldId="2581"/>
            <ac:spMk id="9" creationId="{7E621779-33D5-44C6-9CA0-AF3BBB2999C4}"/>
          </ac:spMkLst>
        </pc:spChg>
        <pc:spChg chg="mod">
          <ac:chgData name="Dwayne Maddux" userId="c952f4797524d134" providerId="LiveId" clId="{06D4D080-7AF2-497D-9AF3-9DC11CEAABBD}" dt="2026-01-27T18:15:44.224" v="45" actId="27636"/>
          <ac:spMkLst>
            <pc:docMk/>
            <pc:sldMk cId="3939093725" sldId="2581"/>
            <ac:spMk id="10" creationId="{D379BEC1-AB2B-402B-A83F-6B8F46039C36}"/>
          </ac:spMkLst>
        </pc:spChg>
      </pc:sldChg>
      <pc:sldChg chg="modSp mod">
        <pc:chgData name="Dwayne Maddux" userId="c952f4797524d134" providerId="LiveId" clId="{06D4D080-7AF2-497D-9AF3-9DC11CEAABBD}" dt="2026-01-27T18:15:44.261" v="53" actId="27636"/>
        <pc:sldMkLst>
          <pc:docMk/>
          <pc:sldMk cId="2980626632" sldId="2583"/>
        </pc:sldMkLst>
        <pc:spChg chg="mod">
          <ac:chgData name="Dwayne Maddux" userId="c952f4797524d134" providerId="LiveId" clId="{06D4D080-7AF2-497D-9AF3-9DC11CEAABBD}" dt="2026-01-27T18:15:44.259" v="52" actId="27636"/>
          <ac:spMkLst>
            <pc:docMk/>
            <pc:sldMk cId="2980626632" sldId="2583"/>
            <ac:spMk id="4" creationId="{1E67D56E-F632-D6FB-38A5-00A62F080704}"/>
          </ac:spMkLst>
        </pc:spChg>
        <pc:spChg chg="mod">
          <ac:chgData name="Dwayne Maddux" userId="c952f4797524d134" providerId="LiveId" clId="{06D4D080-7AF2-497D-9AF3-9DC11CEAABBD}" dt="2026-01-27T18:15:44.253" v="51" actId="27636"/>
          <ac:spMkLst>
            <pc:docMk/>
            <pc:sldMk cId="2980626632" sldId="2583"/>
            <ac:spMk id="8" creationId="{5ACAFE87-0EC1-41E3-B97A-E0221575C294}"/>
          </ac:spMkLst>
        </pc:spChg>
        <pc:spChg chg="mod">
          <ac:chgData name="Dwayne Maddux" userId="c952f4797524d134" providerId="LiveId" clId="{06D4D080-7AF2-497D-9AF3-9DC11CEAABBD}" dt="2026-01-27T18:15:44.261" v="53" actId="27636"/>
          <ac:spMkLst>
            <pc:docMk/>
            <pc:sldMk cId="2980626632" sldId="2583"/>
            <ac:spMk id="10" creationId="{24D29F06-7F52-42CE-B98A-D89066B38307}"/>
          </ac:spMkLst>
        </pc:spChg>
      </pc:sldChg>
      <pc:sldChg chg="addSp modSp add mod modTransition modClrScheme chgLayout">
        <pc:chgData name="Dwayne Maddux" userId="c952f4797524d134" providerId="LiveId" clId="{06D4D080-7AF2-497D-9AF3-9DC11CEAABBD}" dt="2026-01-27T18:17:53.972" v="84" actId="48537"/>
        <pc:sldMkLst>
          <pc:docMk/>
          <pc:sldMk cId="970671582" sldId="2584"/>
        </pc:sldMkLst>
        <pc:spChg chg="mod">
          <ac:chgData name="Dwayne Maddux" userId="c952f4797524d134" providerId="LiveId" clId="{06D4D080-7AF2-497D-9AF3-9DC11CEAABBD}" dt="2026-01-27T18:17:53.972" v="84" actId="48537"/>
          <ac:spMkLst>
            <pc:docMk/>
            <pc:sldMk cId="970671582" sldId="2584"/>
            <ac:spMk id="2" creationId="{7D2E264C-39C6-C135-7541-61B97BF5EB82}"/>
          </ac:spMkLst>
        </pc:spChg>
        <pc:spChg chg="mod">
          <ac:chgData name="Dwayne Maddux" userId="c952f4797524d134" providerId="LiveId" clId="{06D4D080-7AF2-497D-9AF3-9DC11CEAABBD}" dt="2026-01-27T18:17:53.972" v="84" actId="48537"/>
          <ac:spMkLst>
            <pc:docMk/>
            <pc:sldMk cId="970671582" sldId="2584"/>
            <ac:spMk id="4" creationId="{D58B2EDF-5381-756A-123E-D5D2AFDD8685}"/>
          </ac:spMkLst>
        </pc:spChg>
        <pc:spChg chg="mod">
          <ac:chgData name="Dwayne Maddux" userId="c952f4797524d134" providerId="LiveId" clId="{06D4D080-7AF2-497D-9AF3-9DC11CEAABBD}" dt="2026-01-27T18:17:53.972" v="84" actId="48537"/>
          <ac:spMkLst>
            <pc:docMk/>
            <pc:sldMk cId="970671582" sldId="2584"/>
            <ac:spMk id="6" creationId="{8E6719B5-A1DE-74CD-2A7E-59E9862F83AC}"/>
          </ac:spMkLst>
        </pc:spChg>
        <pc:spChg chg="add mod">
          <ac:chgData name="Dwayne Maddux" userId="c952f4797524d134" providerId="LiveId" clId="{06D4D080-7AF2-497D-9AF3-9DC11CEAABBD}" dt="2026-01-27T18:17:53.972" v="84" actId="48537"/>
          <ac:spMkLst>
            <pc:docMk/>
            <pc:sldMk cId="970671582" sldId="2584"/>
            <ac:spMk id="12" creationId="{12BD5A9D-502A-4FA2-3B19-A122B0B8D6AD}"/>
          </ac:spMkLst>
        </pc:spChg>
        <pc:picChg chg="mod">
          <ac:chgData name="Dwayne Maddux" userId="c952f4797524d134" providerId="LiveId" clId="{06D4D080-7AF2-497D-9AF3-9DC11CEAABBD}" dt="2026-01-27T18:17:53.972" v="84" actId="48537"/>
          <ac:picMkLst>
            <pc:docMk/>
            <pc:sldMk cId="970671582" sldId="2584"/>
            <ac:picMk id="7" creationId="{76F9A50E-C17A-4F52-90B4-AA46C060713F}"/>
          </ac:picMkLst>
        </pc:picChg>
      </pc:sldChg>
      <pc:sldChg chg="addSp modSp add mod modTransition modClrScheme chgLayout">
        <pc:chgData name="Dwayne Maddux" userId="c952f4797524d134" providerId="LiveId" clId="{06D4D080-7AF2-497D-9AF3-9DC11CEAABBD}" dt="2026-01-27T18:38:07.004" v="359" actId="48537"/>
        <pc:sldMkLst>
          <pc:docMk/>
          <pc:sldMk cId="2996437409" sldId="2585"/>
        </pc:sldMkLst>
        <pc:spChg chg="mod">
          <ac:chgData name="Dwayne Maddux" userId="c952f4797524d134" providerId="LiveId" clId="{06D4D080-7AF2-497D-9AF3-9DC11CEAABBD}" dt="2026-01-27T18:38:07.004" v="359" actId="48537"/>
          <ac:spMkLst>
            <pc:docMk/>
            <pc:sldMk cId="2996437409" sldId="2585"/>
            <ac:spMk id="2" creationId="{10CDBE31-BD57-1304-0CB3-51DDD94BE7B6}"/>
          </ac:spMkLst>
        </pc:spChg>
        <pc:spChg chg="mod">
          <ac:chgData name="Dwayne Maddux" userId="c952f4797524d134" providerId="LiveId" clId="{06D4D080-7AF2-497D-9AF3-9DC11CEAABBD}" dt="2026-01-27T18:38:07.004" v="359" actId="48537"/>
          <ac:spMkLst>
            <pc:docMk/>
            <pc:sldMk cId="2996437409" sldId="2585"/>
            <ac:spMk id="4" creationId="{6C5CD90E-346D-2D2F-95B5-71C313A9DDAA}"/>
          </ac:spMkLst>
        </pc:spChg>
        <pc:spChg chg="mod">
          <ac:chgData name="Dwayne Maddux" userId="c952f4797524d134" providerId="LiveId" clId="{06D4D080-7AF2-497D-9AF3-9DC11CEAABBD}" dt="2026-01-27T18:38:07.004" v="359" actId="48537"/>
          <ac:spMkLst>
            <pc:docMk/>
            <pc:sldMk cId="2996437409" sldId="2585"/>
            <ac:spMk id="6" creationId="{EF469E2B-608A-A4DD-0785-F64D3003CC7A}"/>
          </ac:spMkLst>
        </pc:spChg>
        <pc:spChg chg="add mod">
          <ac:chgData name="Dwayne Maddux" userId="c952f4797524d134" providerId="LiveId" clId="{06D4D080-7AF2-497D-9AF3-9DC11CEAABBD}" dt="2026-01-27T18:38:07.004" v="359" actId="48537"/>
          <ac:spMkLst>
            <pc:docMk/>
            <pc:sldMk cId="2996437409" sldId="2585"/>
            <ac:spMk id="12" creationId="{B8882AA4-7A9C-3132-6B62-12962E8D8E7E}"/>
          </ac:spMkLst>
        </pc:spChg>
        <pc:picChg chg="mod">
          <ac:chgData name="Dwayne Maddux" userId="c952f4797524d134" providerId="LiveId" clId="{06D4D080-7AF2-497D-9AF3-9DC11CEAABBD}" dt="2026-01-27T18:38:07.004" v="359" actId="48537"/>
          <ac:picMkLst>
            <pc:docMk/>
            <pc:sldMk cId="2996437409" sldId="2585"/>
            <ac:picMk id="7" creationId="{0EFDBBFB-9A0E-4632-910A-66A0BB842E8C}"/>
          </ac:picMkLst>
        </pc:picChg>
      </pc:sldChg>
      <pc:sldChg chg="addSp modSp add mod modTransition">
        <pc:chgData name="Dwayne Maddux" userId="c952f4797524d134" providerId="LiveId" clId="{06D4D080-7AF2-497D-9AF3-9DC11CEAABBD}" dt="2026-01-27T18:42:08.176" v="363" actId="48537"/>
        <pc:sldMkLst>
          <pc:docMk/>
          <pc:sldMk cId="4186985112" sldId="2586"/>
        </pc:sldMkLst>
        <pc:spChg chg="mod">
          <ac:chgData name="Dwayne Maddux" userId="c952f4797524d134" providerId="LiveId" clId="{06D4D080-7AF2-497D-9AF3-9DC11CEAABBD}" dt="2026-01-27T18:42:08.176" v="363" actId="48537"/>
          <ac:spMkLst>
            <pc:docMk/>
            <pc:sldMk cId="4186985112" sldId="2586"/>
            <ac:spMk id="2" creationId="{A575EBE6-C4C5-6C93-1782-971F2E844E2C}"/>
          </ac:spMkLst>
        </pc:spChg>
        <pc:spChg chg="mod">
          <ac:chgData name="Dwayne Maddux" userId="c952f4797524d134" providerId="LiveId" clId="{06D4D080-7AF2-497D-9AF3-9DC11CEAABBD}" dt="2026-01-27T18:42:08.176" v="363" actId="48537"/>
          <ac:spMkLst>
            <pc:docMk/>
            <pc:sldMk cId="4186985112" sldId="2586"/>
            <ac:spMk id="5" creationId="{FBE0F312-8AA6-7534-D6B5-54542A4DABD1}"/>
          </ac:spMkLst>
        </pc:spChg>
        <pc:spChg chg="add">
          <ac:chgData name="Dwayne Maddux" userId="c952f4797524d134" providerId="LiveId" clId="{06D4D080-7AF2-497D-9AF3-9DC11CEAABBD}" dt="2026-01-27T18:42:08.176" v="363" actId="48537"/>
          <ac:spMkLst>
            <pc:docMk/>
            <pc:sldMk cId="4186985112" sldId="2586"/>
            <ac:spMk id="11" creationId="{8329E1C7-0476-5CBB-3507-B83190A7A062}"/>
          </ac:spMkLst>
        </pc:spChg>
        <pc:graphicFrameChg chg="mod ord modGraphic">
          <ac:chgData name="Dwayne Maddux" userId="c952f4797524d134" providerId="LiveId" clId="{06D4D080-7AF2-497D-9AF3-9DC11CEAABBD}" dt="2026-01-27T18:42:08.176" v="363" actId="48537"/>
          <ac:graphicFrameMkLst>
            <pc:docMk/>
            <pc:sldMk cId="4186985112" sldId="2586"/>
            <ac:graphicFrameMk id="6" creationId="{584612BA-DCD0-4687-92C4-D740D2566233}"/>
          </ac:graphicFrameMkLst>
        </pc:graphicFrameChg>
      </pc:sldChg>
      <pc:sldChg chg="addSp modSp add mod modTransition modClrScheme chgLayout">
        <pc:chgData name="Dwayne Maddux" userId="c952f4797524d134" providerId="LiveId" clId="{06D4D080-7AF2-497D-9AF3-9DC11CEAABBD}" dt="2026-01-27T18:49:14.419" v="367" actId="48537"/>
        <pc:sldMkLst>
          <pc:docMk/>
          <pc:sldMk cId="945460603" sldId="2587"/>
        </pc:sldMkLst>
        <pc:spChg chg="mod">
          <ac:chgData name="Dwayne Maddux" userId="c952f4797524d134" providerId="LiveId" clId="{06D4D080-7AF2-497D-9AF3-9DC11CEAABBD}" dt="2026-01-27T18:49:14.419" v="367" actId="48537"/>
          <ac:spMkLst>
            <pc:docMk/>
            <pc:sldMk cId="945460603" sldId="2587"/>
            <ac:spMk id="2" creationId="{77480897-6277-EAC0-5CDA-E4E599B3AC88}"/>
          </ac:spMkLst>
        </pc:spChg>
        <pc:spChg chg="mod">
          <ac:chgData name="Dwayne Maddux" userId="c952f4797524d134" providerId="LiveId" clId="{06D4D080-7AF2-497D-9AF3-9DC11CEAABBD}" dt="2026-01-27T18:49:14.419" v="367" actId="48537"/>
          <ac:spMkLst>
            <pc:docMk/>
            <pc:sldMk cId="945460603" sldId="2587"/>
            <ac:spMk id="4" creationId="{82465CF8-3033-2DEE-B4A7-DDAD2F8AFFF8}"/>
          </ac:spMkLst>
        </pc:spChg>
        <pc:spChg chg="mod">
          <ac:chgData name="Dwayne Maddux" userId="c952f4797524d134" providerId="LiveId" clId="{06D4D080-7AF2-497D-9AF3-9DC11CEAABBD}" dt="2026-01-27T18:49:14.419" v="367" actId="48537"/>
          <ac:spMkLst>
            <pc:docMk/>
            <pc:sldMk cId="945460603" sldId="2587"/>
            <ac:spMk id="6" creationId="{DC6B20C4-E46D-A75F-E05D-E3B95FC18060}"/>
          </ac:spMkLst>
        </pc:spChg>
        <pc:spChg chg="add mod">
          <ac:chgData name="Dwayne Maddux" userId="c952f4797524d134" providerId="LiveId" clId="{06D4D080-7AF2-497D-9AF3-9DC11CEAABBD}" dt="2026-01-27T18:49:14.419" v="367" actId="48537"/>
          <ac:spMkLst>
            <pc:docMk/>
            <pc:sldMk cId="945460603" sldId="2587"/>
            <ac:spMk id="12" creationId="{DD55792A-5D5A-CCD5-C6A2-1D755EC7C7EB}"/>
          </ac:spMkLst>
        </pc:spChg>
        <pc:picChg chg="mod">
          <ac:chgData name="Dwayne Maddux" userId="c952f4797524d134" providerId="LiveId" clId="{06D4D080-7AF2-497D-9AF3-9DC11CEAABBD}" dt="2026-01-27T18:49:14.419" v="367" actId="48537"/>
          <ac:picMkLst>
            <pc:docMk/>
            <pc:sldMk cId="945460603" sldId="2587"/>
            <ac:picMk id="7" creationId="{2CAD8A5E-645A-4A11-8673-D46E2C602DF4}"/>
          </ac:picMkLst>
        </pc:picChg>
      </pc:sldChg>
      <pc:sldChg chg="addSp modSp add mod ord modTransition">
        <pc:chgData name="Dwayne Maddux" userId="c952f4797524d134" providerId="LiveId" clId="{06D4D080-7AF2-497D-9AF3-9DC11CEAABBD}" dt="2026-01-27T18:51:16.190" v="372"/>
        <pc:sldMkLst>
          <pc:docMk/>
          <pc:sldMk cId="4135617823" sldId="2588"/>
        </pc:sldMkLst>
        <pc:spChg chg="mod">
          <ac:chgData name="Dwayne Maddux" userId="c952f4797524d134" providerId="LiveId" clId="{06D4D080-7AF2-497D-9AF3-9DC11CEAABBD}" dt="2026-01-27T18:50:14.967" v="369" actId="48537"/>
          <ac:spMkLst>
            <pc:docMk/>
            <pc:sldMk cId="4135617823" sldId="2588"/>
            <ac:spMk id="2" creationId="{E2541E25-A8CF-6A89-7DAF-5978ACFA06D8}"/>
          </ac:spMkLst>
        </pc:spChg>
        <pc:spChg chg="mod">
          <ac:chgData name="Dwayne Maddux" userId="c952f4797524d134" providerId="LiveId" clId="{06D4D080-7AF2-497D-9AF3-9DC11CEAABBD}" dt="2026-01-27T18:50:14.967" v="369" actId="48537"/>
          <ac:spMkLst>
            <pc:docMk/>
            <pc:sldMk cId="4135617823" sldId="2588"/>
            <ac:spMk id="5" creationId="{A8AEC453-5A1E-8270-D998-818D11F0F89D}"/>
          </ac:spMkLst>
        </pc:spChg>
        <pc:spChg chg="add">
          <ac:chgData name="Dwayne Maddux" userId="c952f4797524d134" providerId="LiveId" clId="{06D4D080-7AF2-497D-9AF3-9DC11CEAABBD}" dt="2026-01-27T18:50:14.967" v="369" actId="48537"/>
          <ac:spMkLst>
            <pc:docMk/>
            <pc:sldMk cId="4135617823" sldId="2588"/>
            <ac:spMk id="11" creationId="{B3352771-2079-379A-A83A-F1F2DF092400}"/>
          </ac:spMkLst>
        </pc:spChg>
        <pc:graphicFrameChg chg="mod ord modGraphic">
          <ac:chgData name="Dwayne Maddux" userId="c952f4797524d134" providerId="LiveId" clId="{06D4D080-7AF2-497D-9AF3-9DC11CEAABBD}" dt="2026-01-27T18:50:14.967" v="369" actId="48537"/>
          <ac:graphicFrameMkLst>
            <pc:docMk/>
            <pc:sldMk cId="4135617823" sldId="2588"/>
            <ac:graphicFrameMk id="6" creationId="{4E18E4C5-7F4C-4C2F-9478-FE4C9F2F79DC}"/>
          </ac:graphicFrameMkLst>
        </pc:graphicFrameChg>
      </pc:sldChg>
      <pc:sldChg chg="addSp modSp add mod modTransition modClrScheme chgLayout">
        <pc:chgData name="Dwayne Maddux" userId="c952f4797524d134" providerId="LiveId" clId="{06D4D080-7AF2-497D-9AF3-9DC11CEAABBD}" dt="2026-01-27T18:52:54.504" v="374" actId="48537"/>
        <pc:sldMkLst>
          <pc:docMk/>
          <pc:sldMk cId="904559679" sldId="2589"/>
        </pc:sldMkLst>
        <pc:spChg chg="mod">
          <ac:chgData name="Dwayne Maddux" userId="c952f4797524d134" providerId="LiveId" clId="{06D4D080-7AF2-497D-9AF3-9DC11CEAABBD}" dt="2026-01-27T18:52:54.504" v="374" actId="48537"/>
          <ac:spMkLst>
            <pc:docMk/>
            <pc:sldMk cId="904559679" sldId="2589"/>
            <ac:spMk id="2" creationId="{FB0D991C-E0C9-FBDC-640D-B74DC6DA07C4}"/>
          </ac:spMkLst>
        </pc:spChg>
        <pc:spChg chg="mod">
          <ac:chgData name="Dwayne Maddux" userId="c952f4797524d134" providerId="LiveId" clId="{06D4D080-7AF2-497D-9AF3-9DC11CEAABBD}" dt="2026-01-27T18:52:54.504" v="374" actId="48537"/>
          <ac:spMkLst>
            <pc:docMk/>
            <pc:sldMk cId="904559679" sldId="2589"/>
            <ac:spMk id="4" creationId="{42F86EBD-4F2D-A609-C2D0-4BDCFC326420}"/>
          </ac:spMkLst>
        </pc:spChg>
        <pc:spChg chg="mod">
          <ac:chgData name="Dwayne Maddux" userId="c952f4797524d134" providerId="LiveId" clId="{06D4D080-7AF2-497D-9AF3-9DC11CEAABBD}" dt="2026-01-27T18:52:54.504" v="374" actId="48537"/>
          <ac:spMkLst>
            <pc:docMk/>
            <pc:sldMk cId="904559679" sldId="2589"/>
            <ac:spMk id="6" creationId="{9D42919E-F629-E6DC-1354-629F71CE134D}"/>
          </ac:spMkLst>
        </pc:spChg>
        <pc:spChg chg="add mod">
          <ac:chgData name="Dwayne Maddux" userId="c952f4797524d134" providerId="LiveId" clId="{06D4D080-7AF2-497D-9AF3-9DC11CEAABBD}" dt="2026-01-27T18:52:54.504" v="374" actId="48537"/>
          <ac:spMkLst>
            <pc:docMk/>
            <pc:sldMk cId="904559679" sldId="2589"/>
            <ac:spMk id="12" creationId="{5E525780-6996-9D71-0306-435101D60966}"/>
          </ac:spMkLst>
        </pc:spChg>
        <pc:picChg chg="mod">
          <ac:chgData name="Dwayne Maddux" userId="c952f4797524d134" providerId="LiveId" clId="{06D4D080-7AF2-497D-9AF3-9DC11CEAABBD}" dt="2026-01-27T18:52:54.504" v="374" actId="48537"/>
          <ac:picMkLst>
            <pc:docMk/>
            <pc:sldMk cId="904559679" sldId="2589"/>
            <ac:picMk id="7" creationId="{945B92DD-BF7B-4C76-A7C3-76E2A954F719}"/>
          </ac:picMkLst>
        </pc:picChg>
      </pc:sldChg>
      <pc:sldChg chg="modSp add mod ord">
        <pc:chgData name="Dwayne Maddux" userId="c952f4797524d134" providerId="LiveId" clId="{06D4D080-7AF2-497D-9AF3-9DC11CEAABBD}" dt="2026-01-27T18:55:23.985" v="394" actId="20577"/>
        <pc:sldMkLst>
          <pc:docMk/>
          <pc:sldMk cId="1813832716" sldId="2590"/>
        </pc:sldMkLst>
        <pc:spChg chg="mod">
          <ac:chgData name="Dwayne Maddux" userId="c952f4797524d134" providerId="LiveId" clId="{06D4D080-7AF2-497D-9AF3-9DC11CEAABBD}" dt="2026-01-27T18:55:23.985" v="394" actId="20577"/>
          <ac:spMkLst>
            <pc:docMk/>
            <pc:sldMk cId="1813832716" sldId="2590"/>
            <ac:spMk id="4" creationId="{4971707B-AC4A-57AF-2135-F224C761EE54}"/>
          </ac:spMkLst>
        </pc:spChg>
      </pc:sldChg>
      <pc:sldChg chg="addSp modSp add mod modTransition modClrScheme chgLayout">
        <pc:chgData name="Dwayne Maddux" userId="c952f4797524d134" providerId="LiveId" clId="{06D4D080-7AF2-497D-9AF3-9DC11CEAABBD}" dt="2026-01-27T18:55:53.831" v="396" actId="48537"/>
        <pc:sldMkLst>
          <pc:docMk/>
          <pc:sldMk cId="38678778" sldId="2591"/>
        </pc:sldMkLst>
        <pc:spChg chg="mod">
          <ac:chgData name="Dwayne Maddux" userId="c952f4797524d134" providerId="LiveId" clId="{06D4D080-7AF2-497D-9AF3-9DC11CEAABBD}" dt="2026-01-27T18:55:53.831" v="396" actId="48537"/>
          <ac:spMkLst>
            <pc:docMk/>
            <pc:sldMk cId="38678778" sldId="2591"/>
            <ac:spMk id="2" creationId="{B52F21D3-34FB-C51C-FCC5-89EBD15C288A}"/>
          </ac:spMkLst>
        </pc:spChg>
        <pc:spChg chg="mod">
          <ac:chgData name="Dwayne Maddux" userId="c952f4797524d134" providerId="LiveId" clId="{06D4D080-7AF2-497D-9AF3-9DC11CEAABBD}" dt="2026-01-27T18:55:53.831" v="396" actId="48537"/>
          <ac:spMkLst>
            <pc:docMk/>
            <pc:sldMk cId="38678778" sldId="2591"/>
            <ac:spMk id="4" creationId="{B73F7A62-8013-A1D3-0839-EB688DDC6DD7}"/>
          </ac:spMkLst>
        </pc:spChg>
        <pc:spChg chg="mod">
          <ac:chgData name="Dwayne Maddux" userId="c952f4797524d134" providerId="LiveId" clId="{06D4D080-7AF2-497D-9AF3-9DC11CEAABBD}" dt="2026-01-27T18:55:53.831" v="396" actId="48537"/>
          <ac:spMkLst>
            <pc:docMk/>
            <pc:sldMk cId="38678778" sldId="2591"/>
            <ac:spMk id="6" creationId="{F9DC730B-02CD-2209-BF0E-A006EC7C6B6E}"/>
          </ac:spMkLst>
        </pc:spChg>
        <pc:spChg chg="add mod">
          <ac:chgData name="Dwayne Maddux" userId="c952f4797524d134" providerId="LiveId" clId="{06D4D080-7AF2-497D-9AF3-9DC11CEAABBD}" dt="2026-01-27T18:55:53.831" v="396" actId="48537"/>
          <ac:spMkLst>
            <pc:docMk/>
            <pc:sldMk cId="38678778" sldId="2591"/>
            <ac:spMk id="12" creationId="{7F4AFEC9-5C68-86F0-7241-08F489B649FE}"/>
          </ac:spMkLst>
        </pc:spChg>
        <pc:picChg chg="mod">
          <ac:chgData name="Dwayne Maddux" userId="c952f4797524d134" providerId="LiveId" clId="{06D4D080-7AF2-497D-9AF3-9DC11CEAABBD}" dt="2026-01-27T18:55:53.831" v="396" actId="48537"/>
          <ac:picMkLst>
            <pc:docMk/>
            <pc:sldMk cId="38678778" sldId="2591"/>
            <ac:picMk id="7" creationId="{23F99B68-90AC-40FB-83EA-2B94469A4FE6}"/>
          </ac:picMkLst>
        </pc:picChg>
      </pc:sldChg>
      <pc:sldChg chg="addSp modSp add mod modTransition">
        <pc:chgData name="Dwayne Maddux" userId="c952f4797524d134" providerId="LiveId" clId="{06D4D080-7AF2-497D-9AF3-9DC11CEAABBD}" dt="2026-01-27T18:56:46.959" v="398" actId="48537"/>
        <pc:sldMkLst>
          <pc:docMk/>
          <pc:sldMk cId="4017291797" sldId="2592"/>
        </pc:sldMkLst>
        <pc:spChg chg="mod">
          <ac:chgData name="Dwayne Maddux" userId="c952f4797524d134" providerId="LiveId" clId="{06D4D080-7AF2-497D-9AF3-9DC11CEAABBD}" dt="2026-01-27T18:56:46.959" v="398" actId="48537"/>
          <ac:spMkLst>
            <pc:docMk/>
            <pc:sldMk cId="4017291797" sldId="2592"/>
            <ac:spMk id="2" creationId="{FDCED553-0886-6524-9442-470095899CD5}"/>
          </ac:spMkLst>
        </pc:spChg>
        <pc:spChg chg="mod">
          <ac:chgData name="Dwayne Maddux" userId="c952f4797524d134" providerId="LiveId" clId="{06D4D080-7AF2-497D-9AF3-9DC11CEAABBD}" dt="2026-01-27T18:56:46.959" v="398" actId="48537"/>
          <ac:spMkLst>
            <pc:docMk/>
            <pc:sldMk cId="4017291797" sldId="2592"/>
            <ac:spMk id="4" creationId="{FF9B8269-EEF1-F168-02BC-A7993C47DD0C}"/>
          </ac:spMkLst>
        </pc:spChg>
        <pc:spChg chg="mod">
          <ac:chgData name="Dwayne Maddux" userId="c952f4797524d134" providerId="LiveId" clId="{06D4D080-7AF2-497D-9AF3-9DC11CEAABBD}" dt="2026-01-27T18:56:46.959" v="398" actId="48537"/>
          <ac:spMkLst>
            <pc:docMk/>
            <pc:sldMk cId="4017291797" sldId="2592"/>
            <ac:spMk id="6" creationId="{C9C4DC9E-2576-8018-24EA-39EB5AF58627}"/>
          </ac:spMkLst>
        </pc:spChg>
        <pc:spChg chg="add">
          <ac:chgData name="Dwayne Maddux" userId="c952f4797524d134" providerId="LiveId" clId="{06D4D080-7AF2-497D-9AF3-9DC11CEAABBD}" dt="2026-01-27T18:56:46.959" v="398" actId="48537"/>
          <ac:spMkLst>
            <pc:docMk/>
            <pc:sldMk cId="4017291797" sldId="2592"/>
            <ac:spMk id="12" creationId="{2D203803-F16F-7AAF-FBDC-A26430DF42CA}"/>
          </ac:spMkLst>
        </pc:spChg>
        <pc:picChg chg="mod">
          <ac:chgData name="Dwayne Maddux" userId="c952f4797524d134" providerId="LiveId" clId="{06D4D080-7AF2-497D-9AF3-9DC11CEAABBD}" dt="2026-01-27T18:56:46.959" v="398" actId="48537"/>
          <ac:picMkLst>
            <pc:docMk/>
            <pc:sldMk cId="4017291797" sldId="2592"/>
            <ac:picMk id="7" creationId="{B055E829-7DDA-4153-B486-A04980140900}"/>
          </ac:picMkLst>
        </pc:picChg>
      </pc:sldChg>
      <pc:sldChg chg="addSp modSp add mod modTransition modClrScheme chgLayout">
        <pc:chgData name="Dwayne Maddux" userId="c952f4797524d134" providerId="LiveId" clId="{06D4D080-7AF2-497D-9AF3-9DC11CEAABBD}" dt="2026-01-27T18:57:14.518" v="400" actId="48537"/>
        <pc:sldMkLst>
          <pc:docMk/>
          <pc:sldMk cId="4019261391" sldId="2593"/>
        </pc:sldMkLst>
        <pc:spChg chg="mod">
          <ac:chgData name="Dwayne Maddux" userId="c952f4797524d134" providerId="LiveId" clId="{06D4D080-7AF2-497D-9AF3-9DC11CEAABBD}" dt="2026-01-27T18:57:14.518" v="400" actId="48537"/>
          <ac:spMkLst>
            <pc:docMk/>
            <pc:sldMk cId="4019261391" sldId="2593"/>
            <ac:spMk id="2" creationId="{BE9ACB9A-BDBF-E49F-1087-B4C6B39EF3E8}"/>
          </ac:spMkLst>
        </pc:spChg>
        <pc:spChg chg="mod">
          <ac:chgData name="Dwayne Maddux" userId="c952f4797524d134" providerId="LiveId" clId="{06D4D080-7AF2-497D-9AF3-9DC11CEAABBD}" dt="2026-01-27T18:57:14.518" v="400" actId="48537"/>
          <ac:spMkLst>
            <pc:docMk/>
            <pc:sldMk cId="4019261391" sldId="2593"/>
            <ac:spMk id="4" creationId="{226E27A0-BFF2-531F-8B01-9308E9616744}"/>
          </ac:spMkLst>
        </pc:spChg>
        <pc:spChg chg="mod">
          <ac:chgData name="Dwayne Maddux" userId="c952f4797524d134" providerId="LiveId" clId="{06D4D080-7AF2-497D-9AF3-9DC11CEAABBD}" dt="2026-01-27T18:57:14.518" v="400" actId="48537"/>
          <ac:spMkLst>
            <pc:docMk/>
            <pc:sldMk cId="4019261391" sldId="2593"/>
            <ac:spMk id="6" creationId="{7AA457A0-2054-0960-7266-2951AF603FA1}"/>
          </ac:spMkLst>
        </pc:spChg>
        <pc:spChg chg="add mod">
          <ac:chgData name="Dwayne Maddux" userId="c952f4797524d134" providerId="LiveId" clId="{06D4D080-7AF2-497D-9AF3-9DC11CEAABBD}" dt="2026-01-27T18:57:14.518" v="400" actId="48537"/>
          <ac:spMkLst>
            <pc:docMk/>
            <pc:sldMk cId="4019261391" sldId="2593"/>
            <ac:spMk id="12" creationId="{4CD0EEFD-3230-40D4-C7F3-F327F867FFB6}"/>
          </ac:spMkLst>
        </pc:spChg>
        <pc:picChg chg="mod">
          <ac:chgData name="Dwayne Maddux" userId="c952f4797524d134" providerId="LiveId" clId="{06D4D080-7AF2-497D-9AF3-9DC11CEAABBD}" dt="2026-01-27T18:57:14.518" v="400" actId="48537"/>
          <ac:picMkLst>
            <pc:docMk/>
            <pc:sldMk cId="4019261391" sldId="2593"/>
            <ac:picMk id="7" creationId="{F6CB4D2C-ED2D-435D-9FF3-EF257AFA33FB}"/>
          </ac:picMkLst>
        </pc:picChg>
      </pc:sldChg>
      <pc:sldChg chg="addSp modSp add mod ord modTransition modClrScheme chgLayout">
        <pc:chgData name="Dwayne Maddux" userId="c952f4797524d134" providerId="LiveId" clId="{06D4D080-7AF2-497D-9AF3-9DC11CEAABBD}" dt="2026-01-27T20:00:20.265" v="429"/>
        <pc:sldMkLst>
          <pc:docMk/>
          <pc:sldMk cId="1090475114" sldId="2594"/>
        </pc:sldMkLst>
        <pc:spChg chg="mod">
          <ac:chgData name="Dwayne Maddux" userId="c952f4797524d134" providerId="LiveId" clId="{06D4D080-7AF2-497D-9AF3-9DC11CEAABBD}" dt="2026-01-27T19:09:58.668" v="425" actId="48537"/>
          <ac:spMkLst>
            <pc:docMk/>
            <pc:sldMk cId="1090475114" sldId="2594"/>
            <ac:spMk id="2" creationId="{9D8B1FBD-24B8-D614-765C-4C04E5618851}"/>
          </ac:spMkLst>
        </pc:spChg>
        <pc:spChg chg="mod">
          <ac:chgData name="Dwayne Maddux" userId="c952f4797524d134" providerId="LiveId" clId="{06D4D080-7AF2-497D-9AF3-9DC11CEAABBD}" dt="2026-01-27T19:09:58.668" v="425" actId="48537"/>
          <ac:spMkLst>
            <pc:docMk/>
            <pc:sldMk cId="1090475114" sldId="2594"/>
            <ac:spMk id="4" creationId="{1EFE3A16-2D5A-8B68-32DF-3FF0069CCC28}"/>
          </ac:spMkLst>
        </pc:spChg>
        <pc:spChg chg="mod">
          <ac:chgData name="Dwayne Maddux" userId="c952f4797524d134" providerId="LiveId" clId="{06D4D080-7AF2-497D-9AF3-9DC11CEAABBD}" dt="2026-01-27T19:09:58.668" v="425" actId="48537"/>
          <ac:spMkLst>
            <pc:docMk/>
            <pc:sldMk cId="1090475114" sldId="2594"/>
            <ac:spMk id="6" creationId="{2D9774BA-3247-AC4C-992E-3FA5BE7803D7}"/>
          </ac:spMkLst>
        </pc:spChg>
        <pc:spChg chg="add mod">
          <ac:chgData name="Dwayne Maddux" userId="c952f4797524d134" providerId="LiveId" clId="{06D4D080-7AF2-497D-9AF3-9DC11CEAABBD}" dt="2026-01-27T19:09:58.668" v="425" actId="48537"/>
          <ac:spMkLst>
            <pc:docMk/>
            <pc:sldMk cId="1090475114" sldId="2594"/>
            <ac:spMk id="12" creationId="{96000162-27AF-4AB4-FF33-122C43406D86}"/>
          </ac:spMkLst>
        </pc:spChg>
        <pc:picChg chg="mod">
          <ac:chgData name="Dwayne Maddux" userId="c952f4797524d134" providerId="LiveId" clId="{06D4D080-7AF2-497D-9AF3-9DC11CEAABBD}" dt="2026-01-27T19:09:58.668" v="425" actId="48537"/>
          <ac:picMkLst>
            <pc:docMk/>
            <pc:sldMk cId="1090475114" sldId="2594"/>
            <ac:picMk id="7" creationId="{C289358E-314B-4F40-91A2-76F4D556C20D}"/>
          </ac:picMkLst>
        </pc:picChg>
      </pc:sldChg>
      <pc:sldChg chg="addSp modSp add mod ord modTransition">
        <pc:chgData name="Dwayne Maddux" userId="c952f4797524d134" providerId="LiveId" clId="{06D4D080-7AF2-497D-9AF3-9DC11CEAABBD}" dt="2026-01-27T20:01:40.278" v="436"/>
        <pc:sldMkLst>
          <pc:docMk/>
          <pc:sldMk cId="1664253052" sldId="2595"/>
        </pc:sldMkLst>
        <pc:spChg chg="mod">
          <ac:chgData name="Dwayne Maddux" userId="c952f4797524d134" providerId="LiveId" clId="{06D4D080-7AF2-497D-9AF3-9DC11CEAABBD}" dt="2026-01-27T19:19:51.322" v="427" actId="48537"/>
          <ac:spMkLst>
            <pc:docMk/>
            <pc:sldMk cId="1664253052" sldId="2595"/>
            <ac:spMk id="2" creationId="{C53178AF-2830-9B3F-A592-C958B69C1501}"/>
          </ac:spMkLst>
        </pc:spChg>
        <pc:spChg chg="mod">
          <ac:chgData name="Dwayne Maddux" userId="c952f4797524d134" providerId="LiveId" clId="{06D4D080-7AF2-497D-9AF3-9DC11CEAABBD}" dt="2026-01-27T19:19:51.322" v="427" actId="48537"/>
          <ac:spMkLst>
            <pc:docMk/>
            <pc:sldMk cId="1664253052" sldId="2595"/>
            <ac:spMk id="5" creationId="{AC6040A9-60E9-5E96-25F2-32739C63C303}"/>
          </ac:spMkLst>
        </pc:spChg>
        <pc:spChg chg="add">
          <ac:chgData name="Dwayne Maddux" userId="c952f4797524d134" providerId="LiveId" clId="{06D4D080-7AF2-497D-9AF3-9DC11CEAABBD}" dt="2026-01-27T19:19:51.322" v="427" actId="48537"/>
          <ac:spMkLst>
            <pc:docMk/>
            <pc:sldMk cId="1664253052" sldId="2595"/>
            <ac:spMk id="11" creationId="{95DAEED3-0651-32FE-7CFC-1EC56B0FDC53}"/>
          </ac:spMkLst>
        </pc:spChg>
        <pc:graphicFrameChg chg="mod ord modGraphic">
          <ac:chgData name="Dwayne Maddux" userId="c952f4797524d134" providerId="LiveId" clId="{06D4D080-7AF2-497D-9AF3-9DC11CEAABBD}" dt="2026-01-27T19:19:51.322" v="427" actId="48537"/>
          <ac:graphicFrameMkLst>
            <pc:docMk/>
            <pc:sldMk cId="1664253052" sldId="2595"/>
            <ac:graphicFrameMk id="6" creationId="{B7F4A4FA-15EB-4A00-9382-5490843E3046}"/>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35.jpeg"/></Relationships>
</file>

<file path=ppt/diagrams/_rels/data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image" Target="../media/image39.jpeg"/></Relationships>
</file>

<file path=ppt/diagrams/_rels/data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image" Target="../media/image4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3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image" Target="../media/image39.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image" Target="../media/image47.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F52DE3-4017-41CF-845C-F544BAC3D2E8}"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6B1FDB3F-846E-449B-9C2A-BA2AD6C36756}">
      <dgm:prSet/>
      <dgm:spPr/>
      <dgm:t>
        <a:bodyPr/>
        <a:lstStyle/>
        <a:p>
          <a:pPr>
            <a:lnSpc>
              <a:spcPct val="100000"/>
            </a:lnSpc>
            <a:defRPr b="1"/>
          </a:pPr>
          <a:r>
            <a:rPr lang="en-US"/>
            <a:t>Handling Missing Values</a:t>
          </a:r>
        </a:p>
      </dgm:t>
    </dgm:pt>
    <dgm:pt modelId="{A7F44B85-8DC9-41A0-9E2C-FCA83129809B}" type="parTrans" cxnId="{6546484F-6B5B-43EE-B227-5CC55793A2F4}">
      <dgm:prSet/>
      <dgm:spPr/>
      <dgm:t>
        <a:bodyPr/>
        <a:lstStyle/>
        <a:p>
          <a:endParaRPr lang="en-US"/>
        </a:p>
      </dgm:t>
    </dgm:pt>
    <dgm:pt modelId="{87D39643-F52A-48A6-AB03-42B39EE67962}" type="sibTrans" cxnId="{6546484F-6B5B-43EE-B227-5CC55793A2F4}">
      <dgm:prSet/>
      <dgm:spPr/>
      <dgm:t>
        <a:bodyPr/>
        <a:lstStyle/>
        <a:p>
          <a:pPr>
            <a:lnSpc>
              <a:spcPct val="100000"/>
            </a:lnSpc>
            <a:defRPr b="1"/>
          </a:pPr>
          <a:endParaRPr lang="en-US"/>
        </a:p>
      </dgm:t>
    </dgm:pt>
    <dgm:pt modelId="{ED026ACE-533B-481D-8CDA-1F20B1A8A37F}">
      <dgm:prSet/>
      <dgm:spPr/>
      <dgm:t>
        <a:bodyPr/>
        <a:lstStyle/>
        <a:p>
          <a:pPr>
            <a:lnSpc>
              <a:spcPct val="100000"/>
            </a:lnSpc>
          </a:pPr>
          <a:r>
            <a:rPr lang="en-US"/>
            <a:t>Numerical gaps were resolved using median imputation, and categorical gaps with the most frequent category, ensuring data completeness.</a:t>
          </a:r>
        </a:p>
      </dgm:t>
    </dgm:pt>
    <dgm:pt modelId="{150B2456-DF91-4473-B529-BF95F1458E97}" type="parTrans" cxnId="{A301465E-1728-4883-B7D8-79F1538C18CD}">
      <dgm:prSet/>
      <dgm:spPr/>
      <dgm:t>
        <a:bodyPr/>
        <a:lstStyle/>
        <a:p>
          <a:endParaRPr lang="en-US"/>
        </a:p>
      </dgm:t>
    </dgm:pt>
    <dgm:pt modelId="{9B391C4F-9B9C-4B31-A3B7-9DC6853B61AC}" type="sibTrans" cxnId="{A301465E-1728-4883-B7D8-79F1538C18CD}">
      <dgm:prSet/>
      <dgm:spPr/>
      <dgm:t>
        <a:bodyPr/>
        <a:lstStyle/>
        <a:p>
          <a:endParaRPr lang="en-US"/>
        </a:p>
      </dgm:t>
    </dgm:pt>
    <dgm:pt modelId="{9375CC6D-E310-459B-85AF-1EB91878F85F}">
      <dgm:prSet/>
      <dgm:spPr/>
      <dgm:t>
        <a:bodyPr/>
        <a:lstStyle/>
        <a:p>
          <a:pPr>
            <a:lnSpc>
              <a:spcPct val="100000"/>
            </a:lnSpc>
            <a:defRPr b="1"/>
          </a:pPr>
          <a:r>
            <a:rPr lang="en-US"/>
            <a:t>Feature Transformation</a:t>
          </a:r>
        </a:p>
      </dgm:t>
    </dgm:pt>
    <dgm:pt modelId="{DAED8993-F59C-4F66-B4F2-604FA2E8423D}" type="parTrans" cxnId="{7BD95963-C6CB-497E-AC20-40CC975348E7}">
      <dgm:prSet/>
      <dgm:spPr/>
      <dgm:t>
        <a:bodyPr/>
        <a:lstStyle/>
        <a:p>
          <a:endParaRPr lang="en-US"/>
        </a:p>
      </dgm:t>
    </dgm:pt>
    <dgm:pt modelId="{434E67FA-C823-4527-B7F4-7A97CE094A27}" type="sibTrans" cxnId="{7BD95963-C6CB-497E-AC20-40CC975348E7}">
      <dgm:prSet/>
      <dgm:spPr/>
      <dgm:t>
        <a:bodyPr/>
        <a:lstStyle/>
        <a:p>
          <a:pPr>
            <a:lnSpc>
              <a:spcPct val="100000"/>
            </a:lnSpc>
            <a:defRPr b="1"/>
          </a:pPr>
          <a:endParaRPr lang="en-US"/>
        </a:p>
      </dgm:t>
    </dgm:pt>
    <dgm:pt modelId="{9C517FFE-AB9B-4C93-84F1-67D96F7E105B}">
      <dgm:prSet/>
      <dgm:spPr/>
      <dgm:t>
        <a:bodyPr/>
        <a:lstStyle/>
        <a:p>
          <a:pPr>
            <a:lnSpc>
              <a:spcPct val="100000"/>
            </a:lnSpc>
          </a:pPr>
          <a:r>
            <a:rPr lang="en-US"/>
            <a:t>Numerical features were standardized for uniformity, while categorical variables underwent one-hot encoding for model compatibility.</a:t>
          </a:r>
        </a:p>
      </dgm:t>
    </dgm:pt>
    <dgm:pt modelId="{F676A7A7-5718-4E22-A629-CDBC9625E10A}" type="parTrans" cxnId="{48E23A9D-5071-43C9-82A4-5D3F304DC3EF}">
      <dgm:prSet/>
      <dgm:spPr/>
      <dgm:t>
        <a:bodyPr/>
        <a:lstStyle/>
        <a:p>
          <a:endParaRPr lang="en-US"/>
        </a:p>
      </dgm:t>
    </dgm:pt>
    <dgm:pt modelId="{4F164C9E-E355-459A-BF8F-F05CCDAEE864}" type="sibTrans" cxnId="{48E23A9D-5071-43C9-82A4-5D3F304DC3EF}">
      <dgm:prSet/>
      <dgm:spPr/>
      <dgm:t>
        <a:bodyPr/>
        <a:lstStyle/>
        <a:p>
          <a:endParaRPr lang="en-US"/>
        </a:p>
      </dgm:t>
    </dgm:pt>
    <dgm:pt modelId="{E99DE11E-1E0A-4185-AB69-F16F2584D503}">
      <dgm:prSet/>
      <dgm:spPr/>
      <dgm:t>
        <a:bodyPr/>
        <a:lstStyle/>
        <a:p>
          <a:pPr>
            <a:lnSpc>
              <a:spcPct val="100000"/>
            </a:lnSpc>
            <a:defRPr b="1"/>
          </a:pPr>
          <a:r>
            <a:rPr lang="en-US"/>
            <a:t>Pipeline Workflow</a:t>
          </a:r>
        </a:p>
      </dgm:t>
    </dgm:pt>
    <dgm:pt modelId="{CCB739CC-CB36-40E7-B371-8B94D78BD41D}" type="parTrans" cxnId="{64954FBE-A9E3-4D20-9C9A-5539A9A2387D}">
      <dgm:prSet/>
      <dgm:spPr/>
      <dgm:t>
        <a:bodyPr/>
        <a:lstStyle/>
        <a:p>
          <a:endParaRPr lang="en-US"/>
        </a:p>
      </dgm:t>
    </dgm:pt>
    <dgm:pt modelId="{8AFE7A52-D4A4-4493-86E6-1D19956BD9A2}" type="sibTrans" cxnId="{64954FBE-A9E3-4D20-9C9A-5539A9A2387D}">
      <dgm:prSet/>
      <dgm:spPr/>
      <dgm:t>
        <a:bodyPr/>
        <a:lstStyle/>
        <a:p>
          <a:endParaRPr lang="en-US"/>
        </a:p>
      </dgm:t>
    </dgm:pt>
    <dgm:pt modelId="{162609DC-6E89-49DF-B38B-FD339BAFE495}">
      <dgm:prSet/>
      <dgm:spPr/>
      <dgm:t>
        <a:bodyPr/>
        <a:lstStyle/>
        <a:p>
          <a:pPr>
            <a:lnSpc>
              <a:spcPct val="100000"/>
            </a:lnSpc>
          </a:pPr>
          <a:r>
            <a:rPr lang="en-US"/>
            <a:t>A pipeline was used to orchestrate preprocessing steps, maintaining workflow consistency and preventing data leakage during modeling.</a:t>
          </a:r>
        </a:p>
      </dgm:t>
    </dgm:pt>
    <dgm:pt modelId="{5CD3C8B1-6935-4A62-8A9D-AB60FDBE21BC}" type="parTrans" cxnId="{E3B76D61-5892-4836-91DB-F00F4F89BDBE}">
      <dgm:prSet/>
      <dgm:spPr/>
      <dgm:t>
        <a:bodyPr/>
        <a:lstStyle/>
        <a:p>
          <a:endParaRPr lang="en-US"/>
        </a:p>
      </dgm:t>
    </dgm:pt>
    <dgm:pt modelId="{960D4D41-68E5-4CC1-8748-B677E67E5773}" type="sibTrans" cxnId="{E3B76D61-5892-4836-91DB-F00F4F89BDBE}">
      <dgm:prSet/>
      <dgm:spPr/>
      <dgm:t>
        <a:bodyPr/>
        <a:lstStyle/>
        <a:p>
          <a:endParaRPr lang="en-US"/>
        </a:p>
      </dgm:t>
    </dgm:pt>
    <dgm:pt modelId="{4CBD980B-C256-4E5E-91B7-BE76D3468C81}" type="pres">
      <dgm:prSet presAssocID="{48F52DE3-4017-41CF-845C-F544BAC3D2E8}" presName="Root" presStyleCnt="0">
        <dgm:presLayoutVars>
          <dgm:dir/>
          <dgm:resizeHandles val="exact"/>
        </dgm:presLayoutVars>
      </dgm:prSet>
      <dgm:spPr/>
    </dgm:pt>
    <dgm:pt modelId="{D5D9F983-A5DA-4CAE-B6B0-652E531BEED3}" type="pres">
      <dgm:prSet presAssocID="{6B1FDB3F-846E-449B-9C2A-BA2AD6C36756}" presName="Composite" presStyleCnt="0"/>
      <dgm:spPr/>
    </dgm:pt>
    <dgm:pt modelId="{5BE47709-617E-40B8-A30A-29F4BE76B3EB}" type="pres">
      <dgm:prSet presAssocID="{6B1FDB3F-846E-449B-9C2A-BA2AD6C3675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7666" r="15835" b="2"/>
          <a:stretch/>
        </a:blipFill>
      </dgm:spPr>
      <dgm:extLst>
        <a:ext uri="{E40237B7-FDA0-4F09-8148-C483321AD2D9}">
          <dgm14:cNvPr xmlns:dgm14="http://schemas.microsoft.com/office/drawing/2010/diagram" id="0" name="" descr="shot of word back to school"/>
        </a:ext>
      </dgm:extLst>
    </dgm:pt>
    <dgm:pt modelId="{68B0335E-5224-4874-8170-FFD6894E0101}" type="pres">
      <dgm:prSet presAssocID="{6B1FDB3F-846E-449B-9C2A-BA2AD6C36756}" presName="Subtitle" presStyleLbl="revTx" presStyleIdx="0" presStyleCnt="6">
        <dgm:presLayoutVars>
          <dgm:chMax val="0"/>
          <dgm:bulletEnabled/>
        </dgm:presLayoutVars>
      </dgm:prSet>
      <dgm:spPr/>
    </dgm:pt>
    <dgm:pt modelId="{F3689139-D8C7-458A-8245-B360E8CEE1A4}" type="pres">
      <dgm:prSet presAssocID="{6B1FDB3F-846E-449B-9C2A-BA2AD6C36756}" presName="Description" presStyleLbl="revTx" presStyleIdx="1" presStyleCnt="6">
        <dgm:presLayoutVars>
          <dgm:bulletEnabled/>
        </dgm:presLayoutVars>
      </dgm:prSet>
      <dgm:spPr/>
    </dgm:pt>
    <dgm:pt modelId="{1BB970D2-B2B0-4688-A850-9C2BF7CF6C16}" type="pres">
      <dgm:prSet presAssocID="{87D39643-F52A-48A6-AB03-42B39EE67962}" presName="sibTrans" presStyleLbl="sibTrans2D1" presStyleIdx="0" presStyleCnt="0"/>
      <dgm:spPr/>
    </dgm:pt>
    <dgm:pt modelId="{205144DE-B660-4920-924B-2D4F697CF705}" type="pres">
      <dgm:prSet presAssocID="{9375CC6D-E310-459B-85AF-1EB91878F85F}" presName="Composite" presStyleCnt="0"/>
      <dgm:spPr/>
    </dgm:pt>
    <dgm:pt modelId="{7ED8C088-3310-419B-A728-F31D32F68301}" type="pres">
      <dgm:prSet presAssocID="{9375CC6D-E310-459B-85AF-1EB91878F85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33251" b="2"/>
          <a:stretch/>
        </a:blipFill>
      </dgm:spPr>
      <dgm:extLst>
        <a:ext uri="{E40237B7-FDA0-4F09-8148-C483321AD2D9}">
          <dgm14:cNvPr xmlns:dgm14="http://schemas.microsoft.com/office/drawing/2010/diagram" id="0" name="" descr="DNA code on large LED screen"/>
        </a:ext>
      </dgm:extLst>
    </dgm:pt>
    <dgm:pt modelId="{D5F825DC-D2C6-4128-8A41-C019F520FE69}" type="pres">
      <dgm:prSet presAssocID="{9375CC6D-E310-459B-85AF-1EB91878F85F}" presName="Subtitle" presStyleLbl="revTx" presStyleIdx="2" presStyleCnt="6">
        <dgm:presLayoutVars>
          <dgm:chMax val="0"/>
          <dgm:bulletEnabled/>
        </dgm:presLayoutVars>
      </dgm:prSet>
      <dgm:spPr/>
    </dgm:pt>
    <dgm:pt modelId="{968D48A4-A216-47A5-A587-6AD05D558BC7}" type="pres">
      <dgm:prSet presAssocID="{9375CC6D-E310-459B-85AF-1EB91878F85F}" presName="Description" presStyleLbl="revTx" presStyleIdx="3" presStyleCnt="6">
        <dgm:presLayoutVars>
          <dgm:bulletEnabled/>
        </dgm:presLayoutVars>
      </dgm:prSet>
      <dgm:spPr/>
    </dgm:pt>
    <dgm:pt modelId="{F7931590-389E-4A2D-8952-EBABDC012206}" type="pres">
      <dgm:prSet presAssocID="{434E67FA-C823-4527-B7F4-7A97CE094A27}" presName="sibTrans" presStyleLbl="sibTrans2D1" presStyleIdx="0" presStyleCnt="0"/>
      <dgm:spPr/>
    </dgm:pt>
    <dgm:pt modelId="{AD7AC892-C38D-465B-83F2-9234F7E9326B}" type="pres">
      <dgm:prSet presAssocID="{E99DE11E-1E0A-4185-AB69-F16F2584D503}" presName="Composite" presStyleCnt="0"/>
      <dgm:spPr/>
    </dgm:pt>
    <dgm:pt modelId="{7B70C3D4-B1EB-41EB-9197-01612C9DCBDC}" type="pres">
      <dgm:prSet presAssocID="{E99DE11E-1E0A-4185-AB69-F16F2584D503}"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8166" r="19329" b="-7"/>
          <a:stretch/>
        </a:blipFill>
      </dgm:spPr>
      <dgm:extLst>
        <a:ext uri="{E40237B7-FDA0-4F09-8148-C483321AD2D9}">
          <dgm14:cNvPr xmlns:dgm14="http://schemas.microsoft.com/office/drawing/2010/diagram" id="0" name="" descr="New technology to clean up microplastics in rivers, oceans, and air using fibers, algae, etc."/>
        </a:ext>
      </dgm:extLst>
    </dgm:pt>
    <dgm:pt modelId="{3CB502D5-8363-41D2-8922-584DDF7BF852}" type="pres">
      <dgm:prSet presAssocID="{E99DE11E-1E0A-4185-AB69-F16F2584D503}" presName="Subtitle" presStyleLbl="revTx" presStyleIdx="4" presStyleCnt="6">
        <dgm:presLayoutVars>
          <dgm:chMax val="0"/>
          <dgm:bulletEnabled/>
        </dgm:presLayoutVars>
      </dgm:prSet>
      <dgm:spPr/>
    </dgm:pt>
    <dgm:pt modelId="{5F6F9E15-0B19-49A4-BEB7-BEE0AFC5E592}" type="pres">
      <dgm:prSet presAssocID="{E99DE11E-1E0A-4185-AB69-F16F2584D503}" presName="Description" presStyleLbl="revTx" presStyleIdx="5" presStyleCnt="6">
        <dgm:presLayoutVars>
          <dgm:bulletEnabled/>
        </dgm:presLayoutVars>
      </dgm:prSet>
      <dgm:spPr/>
    </dgm:pt>
  </dgm:ptLst>
  <dgm:cxnLst>
    <dgm:cxn modelId="{6A7AAB30-BA53-466A-8D6E-0FD5FCAFFB37}" type="presOf" srcId="{48F52DE3-4017-41CF-845C-F544BAC3D2E8}" destId="{4CBD980B-C256-4E5E-91B7-BE76D3468C81}" srcOrd="0" destOrd="0" presId="urn:microsoft.com/office/officeart/2024/3/layout/verticalVisualTextBlock1"/>
    <dgm:cxn modelId="{3CF2A434-35FD-48A2-A625-B894495DC96B}" type="presOf" srcId="{6B1FDB3F-846E-449B-9C2A-BA2AD6C36756}" destId="{68B0335E-5224-4874-8170-FFD6894E0101}" srcOrd="0" destOrd="0" presId="urn:microsoft.com/office/officeart/2024/3/layout/verticalVisualTextBlock1"/>
    <dgm:cxn modelId="{38CE153C-8ED4-4AB2-814C-9731AAA600DB}" type="presOf" srcId="{9375CC6D-E310-459B-85AF-1EB91878F85F}" destId="{D5F825DC-D2C6-4128-8A41-C019F520FE69}" srcOrd="0" destOrd="0" presId="urn:microsoft.com/office/officeart/2024/3/layout/verticalVisualTextBlock1"/>
    <dgm:cxn modelId="{A301465E-1728-4883-B7D8-79F1538C18CD}" srcId="{6B1FDB3F-846E-449B-9C2A-BA2AD6C36756}" destId="{ED026ACE-533B-481D-8CDA-1F20B1A8A37F}" srcOrd="0" destOrd="0" parTransId="{150B2456-DF91-4473-B529-BF95F1458E97}" sibTransId="{9B391C4F-9B9C-4B31-A3B7-9DC6853B61AC}"/>
    <dgm:cxn modelId="{E3B76D61-5892-4836-91DB-F00F4F89BDBE}" srcId="{E99DE11E-1E0A-4185-AB69-F16F2584D503}" destId="{162609DC-6E89-49DF-B38B-FD339BAFE495}" srcOrd="0" destOrd="0" parTransId="{5CD3C8B1-6935-4A62-8A9D-AB60FDBE21BC}" sibTransId="{960D4D41-68E5-4CC1-8748-B677E67E5773}"/>
    <dgm:cxn modelId="{7BD95963-C6CB-497E-AC20-40CC975348E7}" srcId="{48F52DE3-4017-41CF-845C-F544BAC3D2E8}" destId="{9375CC6D-E310-459B-85AF-1EB91878F85F}" srcOrd="1" destOrd="0" parTransId="{DAED8993-F59C-4F66-B4F2-604FA2E8423D}" sibTransId="{434E67FA-C823-4527-B7F4-7A97CE094A27}"/>
    <dgm:cxn modelId="{6546484F-6B5B-43EE-B227-5CC55793A2F4}" srcId="{48F52DE3-4017-41CF-845C-F544BAC3D2E8}" destId="{6B1FDB3F-846E-449B-9C2A-BA2AD6C36756}" srcOrd="0" destOrd="0" parTransId="{A7F44B85-8DC9-41A0-9E2C-FCA83129809B}" sibTransId="{87D39643-F52A-48A6-AB03-42B39EE67962}"/>
    <dgm:cxn modelId="{3635C35A-94CF-43A4-98A9-F38E00B0C64D}" type="presOf" srcId="{87D39643-F52A-48A6-AB03-42B39EE67962}" destId="{1BB970D2-B2B0-4688-A850-9C2BF7CF6C16}" srcOrd="0" destOrd="0" presId="urn:microsoft.com/office/officeart/2024/3/layout/verticalVisualTextBlock1"/>
    <dgm:cxn modelId="{48E23A9D-5071-43C9-82A4-5D3F304DC3EF}" srcId="{9375CC6D-E310-459B-85AF-1EB91878F85F}" destId="{9C517FFE-AB9B-4C93-84F1-67D96F7E105B}" srcOrd="0" destOrd="0" parTransId="{F676A7A7-5718-4E22-A629-CDBC9625E10A}" sibTransId="{4F164C9E-E355-459A-BF8F-F05CCDAEE864}"/>
    <dgm:cxn modelId="{2013609F-5189-43C3-89C0-1453D3B29230}" type="presOf" srcId="{434E67FA-C823-4527-B7F4-7A97CE094A27}" destId="{F7931590-389E-4A2D-8952-EBABDC012206}" srcOrd="0" destOrd="0" presId="urn:microsoft.com/office/officeart/2024/3/layout/verticalVisualTextBlock1"/>
    <dgm:cxn modelId="{64954FBE-A9E3-4D20-9C9A-5539A9A2387D}" srcId="{48F52DE3-4017-41CF-845C-F544BAC3D2E8}" destId="{E99DE11E-1E0A-4185-AB69-F16F2584D503}" srcOrd="2" destOrd="0" parTransId="{CCB739CC-CB36-40E7-B371-8B94D78BD41D}" sibTransId="{8AFE7A52-D4A4-4493-86E6-1D19956BD9A2}"/>
    <dgm:cxn modelId="{6DE136C8-C8A8-4421-89B7-A4A39F14F7F7}" type="presOf" srcId="{E99DE11E-1E0A-4185-AB69-F16F2584D503}" destId="{3CB502D5-8363-41D2-8922-584DDF7BF852}" srcOrd="0" destOrd="0" presId="urn:microsoft.com/office/officeart/2024/3/layout/verticalVisualTextBlock1"/>
    <dgm:cxn modelId="{28CBADDA-2BDC-474A-869A-231D6503606F}" type="presOf" srcId="{9C517FFE-AB9B-4C93-84F1-67D96F7E105B}" destId="{968D48A4-A216-47A5-A587-6AD05D558BC7}" srcOrd="0" destOrd="0" presId="urn:microsoft.com/office/officeart/2024/3/layout/verticalVisualTextBlock1"/>
    <dgm:cxn modelId="{92B787E4-CC3D-4B88-BB99-50ADEDBD821B}" type="presOf" srcId="{162609DC-6E89-49DF-B38B-FD339BAFE495}" destId="{5F6F9E15-0B19-49A4-BEB7-BEE0AFC5E592}" srcOrd="0" destOrd="0" presId="urn:microsoft.com/office/officeart/2024/3/layout/verticalVisualTextBlock1"/>
    <dgm:cxn modelId="{D26052EF-8274-4323-8518-388A85102EFD}" type="presOf" srcId="{ED026ACE-533B-481D-8CDA-1F20B1A8A37F}" destId="{F3689139-D8C7-458A-8245-B360E8CEE1A4}" srcOrd="0" destOrd="0" presId="urn:microsoft.com/office/officeart/2024/3/layout/verticalVisualTextBlock1"/>
    <dgm:cxn modelId="{57BCBAA7-7FC3-4123-9EFE-5326100AAB74}" type="presParOf" srcId="{4CBD980B-C256-4E5E-91B7-BE76D3468C81}" destId="{D5D9F983-A5DA-4CAE-B6B0-652E531BEED3}" srcOrd="0" destOrd="0" presId="urn:microsoft.com/office/officeart/2024/3/layout/verticalVisualTextBlock1"/>
    <dgm:cxn modelId="{308CF4AA-CA7E-40E7-AF3F-404384A229FA}" type="presParOf" srcId="{D5D9F983-A5DA-4CAE-B6B0-652E531BEED3}" destId="{5BE47709-617E-40B8-A30A-29F4BE76B3EB}" srcOrd="0" destOrd="0" presId="urn:microsoft.com/office/officeart/2024/3/layout/verticalVisualTextBlock1"/>
    <dgm:cxn modelId="{6720F58E-7E3F-4D8F-9732-C4C9F6632F26}" type="presParOf" srcId="{D5D9F983-A5DA-4CAE-B6B0-652E531BEED3}" destId="{68B0335E-5224-4874-8170-FFD6894E0101}" srcOrd="1" destOrd="0" presId="urn:microsoft.com/office/officeart/2024/3/layout/verticalVisualTextBlock1"/>
    <dgm:cxn modelId="{1B8B2690-E76B-4A5A-9F84-A8039836C7CA}" type="presParOf" srcId="{D5D9F983-A5DA-4CAE-B6B0-652E531BEED3}" destId="{F3689139-D8C7-458A-8245-B360E8CEE1A4}" srcOrd="2" destOrd="0" presId="urn:microsoft.com/office/officeart/2024/3/layout/verticalVisualTextBlock1"/>
    <dgm:cxn modelId="{712A435F-4C99-41C0-92E7-EE7EB9B611CC}" type="presParOf" srcId="{4CBD980B-C256-4E5E-91B7-BE76D3468C81}" destId="{1BB970D2-B2B0-4688-A850-9C2BF7CF6C16}" srcOrd="1" destOrd="0" presId="urn:microsoft.com/office/officeart/2024/3/layout/verticalVisualTextBlock1"/>
    <dgm:cxn modelId="{468F8042-B47B-4750-8ECF-E6465BFE5A9D}" type="presParOf" srcId="{4CBD980B-C256-4E5E-91B7-BE76D3468C81}" destId="{205144DE-B660-4920-924B-2D4F697CF705}" srcOrd="2" destOrd="0" presId="urn:microsoft.com/office/officeart/2024/3/layout/verticalVisualTextBlock1"/>
    <dgm:cxn modelId="{CE0E5447-72CE-4DE1-B609-D1ADE196959C}" type="presParOf" srcId="{205144DE-B660-4920-924B-2D4F697CF705}" destId="{7ED8C088-3310-419B-A728-F31D32F68301}" srcOrd="0" destOrd="0" presId="urn:microsoft.com/office/officeart/2024/3/layout/verticalVisualTextBlock1"/>
    <dgm:cxn modelId="{CA4A7F55-B8FB-490A-A32E-26BEFE7D70C9}" type="presParOf" srcId="{205144DE-B660-4920-924B-2D4F697CF705}" destId="{D5F825DC-D2C6-4128-8A41-C019F520FE69}" srcOrd="1" destOrd="0" presId="urn:microsoft.com/office/officeart/2024/3/layout/verticalVisualTextBlock1"/>
    <dgm:cxn modelId="{DEBDF2F3-C5E2-4F1F-A3CC-A5358ADA6916}" type="presParOf" srcId="{205144DE-B660-4920-924B-2D4F697CF705}" destId="{968D48A4-A216-47A5-A587-6AD05D558BC7}" srcOrd="2" destOrd="0" presId="urn:microsoft.com/office/officeart/2024/3/layout/verticalVisualTextBlock1"/>
    <dgm:cxn modelId="{CEB5BECF-9C6B-4DA1-AEDE-9599A01A6785}" type="presParOf" srcId="{4CBD980B-C256-4E5E-91B7-BE76D3468C81}" destId="{F7931590-389E-4A2D-8952-EBABDC012206}" srcOrd="3" destOrd="0" presId="urn:microsoft.com/office/officeart/2024/3/layout/verticalVisualTextBlock1"/>
    <dgm:cxn modelId="{C4D2A214-437C-44A5-A2B2-1757868D9F6D}" type="presParOf" srcId="{4CBD980B-C256-4E5E-91B7-BE76D3468C81}" destId="{AD7AC892-C38D-465B-83F2-9234F7E9326B}" srcOrd="4" destOrd="0" presId="urn:microsoft.com/office/officeart/2024/3/layout/verticalVisualTextBlock1"/>
    <dgm:cxn modelId="{DB00E224-ABF8-418E-ABCB-BDDB68FD7B63}" type="presParOf" srcId="{AD7AC892-C38D-465B-83F2-9234F7E9326B}" destId="{7B70C3D4-B1EB-41EB-9197-01612C9DCBDC}" srcOrd="0" destOrd="0" presId="urn:microsoft.com/office/officeart/2024/3/layout/verticalVisualTextBlock1"/>
    <dgm:cxn modelId="{ADCFF865-8F1C-4830-B4C9-15431C749C0C}" type="presParOf" srcId="{AD7AC892-C38D-465B-83F2-9234F7E9326B}" destId="{3CB502D5-8363-41D2-8922-584DDF7BF852}" srcOrd="1" destOrd="0" presId="urn:microsoft.com/office/officeart/2024/3/layout/verticalVisualTextBlock1"/>
    <dgm:cxn modelId="{DF8ACA61-8EF4-4FB7-8D43-7B9A55CEC014}" type="presParOf" srcId="{AD7AC892-C38D-465B-83F2-9234F7E9326B}" destId="{5F6F9E15-0B19-49A4-BEB7-BEE0AFC5E592}"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6A009E-41A5-4A8C-B67D-60C7BD8DF6C3}"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160F568E-3065-4DBA-A125-2013AA2D3BBF}">
      <dgm:prSet/>
      <dgm:spPr/>
      <dgm:t>
        <a:bodyPr/>
        <a:lstStyle/>
        <a:p>
          <a:pPr>
            <a:lnSpc>
              <a:spcPct val="100000"/>
            </a:lnSpc>
            <a:defRPr b="1"/>
          </a:pPr>
          <a:r>
            <a:rPr lang="en-US"/>
            <a:t>Hyperparameter Tuning Process</a:t>
          </a:r>
        </a:p>
      </dgm:t>
    </dgm:pt>
    <dgm:pt modelId="{CB76E0C8-FFC9-4990-AF83-2D662B55EBC7}" type="parTrans" cxnId="{E35F0C52-8502-4289-8865-4826EFF4E458}">
      <dgm:prSet/>
      <dgm:spPr/>
      <dgm:t>
        <a:bodyPr/>
        <a:lstStyle/>
        <a:p>
          <a:endParaRPr lang="en-US"/>
        </a:p>
      </dgm:t>
    </dgm:pt>
    <dgm:pt modelId="{529CC987-E595-46FB-9FBB-7E8E59E3CBAF}" type="sibTrans" cxnId="{E35F0C52-8502-4289-8865-4826EFF4E458}">
      <dgm:prSet/>
      <dgm:spPr/>
      <dgm:t>
        <a:bodyPr/>
        <a:lstStyle/>
        <a:p>
          <a:pPr>
            <a:lnSpc>
              <a:spcPct val="100000"/>
            </a:lnSpc>
            <a:defRPr b="1"/>
          </a:pPr>
          <a:endParaRPr lang="en-US"/>
        </a:p>
      </dgm:t>
    </dgm:pt>
    <dgm:pt modelId="{26D964A4-1BF7-4422-A9B1-35682592E884}">
      <dgm:prSet/>
      <dgm:spPr/>
      <dgm:t>
        <a:bodyPr/>
        <a:lstStyle/>
        <a:p>
          <a:pPr>
            <a:lnSpc>
              <a:spcPct val="100000"/>
            </a:lnSpc>
          </a:pPr>
          <a:r>
            <a:rPr lang="en-US"/>
            <a:t>RandomizedSearchCV was used to explore different model parameters systematically, aiming for optimal settings.</a:t>
          </a:r>
        </a:p>
      </dgm:t>
    </dgm:pt>
    <dgm:pt modelId="{B7AC2B56-1A87-4ABD-BB74-5498BC73F802}" type="parTrans" cxnId="{5901C7C2-DC48-4D54-8196-AFC86862AB6B}">
      <dgm:prSet/>
      <dgm:spPr/>
      <dgm:t>
        <a:bodyPr/>
        <a:lstStyle/>
        <a:p>
          <a:endParaRPr lang="en-US"/>
        </a:p>
      </dgm:t>
    </dgm:pt>
    <dgm:pt modelId="{29FE2E9B-3C66-4A2B-AC24-43582BED7484}" type="sibTrans" cxnId="{5901C7C2-DC48-4D54-8196-AFC86862AB6B}">
      <dgm:prSet/>
      <dgm:spPr/>
      <dgm:t>
        <a:bodyPr/>
        <a:lstStyle/>
        <a:p>
          <a:endParaRPr lang="en-US"/>
        </a:p>
      </dgm:t>
    </dgm:pt>
    <dgm:pt modelId="{D6E9CED9-0234-405E-AC1B-0A4E5A8EF6E3}">
      <dgm:prSet/>
      <dgm:spPr/>
      <dgm:t>
        <a:bodyPr/>
        <a:lstStyle/>
        <a:p>
          <a:pPr>
            <a:lnSpc>
              <a:spcPct val="100000"/>
            </a:lnSpc>
            <a:defRPr b="1"/>
          </a:pPr>
          <a:r>
            <a:rPr lang="en-US"/>
            <a:t>ROC-AUC Metric Guidance</a:t>
          </a:r>
        </a:p>
      </dgm:t>
    </dgm:pt>
    <dgm:pt modelId="{C2B4B01B-37A4-4746-ACF2-E38C2FF9F223}" type="parTrans" cxnId="{4506F66A-F415-4145-90C7-B842DD2DBF42}">
      <dgm:prSet/>
      <dgm:spPr/>
      <dgm:t>
        <a:bodyPr/>
        <a:lstStyle/>
        <a:p>
          <a:endParaRPr lang="en-US"/>
        </a:p>
      </dgm:t>
    </dgm:pt>
    <dgm:pt modelId="{F08F214E-CF8D-43B6-BBBA-CAA53AB2D82A}" type="sibTrans" cxnId="{4506F66A-F415-4145-90C7-B842DD2DBF42}">
      <dgm:prSet/>
      <dgm:spPr/>
      <dgm:t>
        <a:bodyPr/>
        <a:lstStyle/>
        <a:p>
          <a:pPr>
            <a:lnSpc>
              <a:spcPct val="100000"/>
            </a:lnSpc>
            <a:defRPr b="1"/>
          </a:pPr>
          <a:endParaRPr lang="en-US"/>
        </a:p>
      </dgm:t>
    </dgm:pt>
    <dgm:pt modelId="{51C5BA84-E241-4932-A49D-21C38291735D}">
      <dgm:prSet/>
      <dgm:spPr/>
      <dgm:t>
        <a:bodyPr/>
        <a:lstStyle/>
        <a:p>
          <a:pPr>
            <a:lnSpc>
              <a:spcPct val="100000"/>
            </a:lnSpc>
          </a:pPr>
          <a:r>
            <a:rPr lang="en-US" dirty="0"/>
            <a:t>The ROC-AUC metric directed the search, enhancing the model’s ability to distinguish heart disease cases.</a:t>
          </a:r>
        </a:p>
      </dgm:t>
    </dgm:pt>
    <dgm:pt modelId="{FFD9AB61-8A72-4C6A-BB8D-77A3A020BC29}" type="parTrans" cxnId="{1B1AF547-4A86-4ABF-AC5A-844E598CD9F1}">
      <dgm:prSet/>
      <dgm:spPr/>
      <dgm:t>
        <a:bodyPr/>
        <a:lstStyle/>
        <a:p>
          <a:endParaRPr lang="en-US"/>
        </a:p>
      </dgm:t>
    </dgm:pt>
    <dgm:pt modelId="{B05BBA78-04CD-47C0-9ECE-56F7F34A3016}" type="sibTrans" cxnId="{1B1AF547-4A86-4ABF-AC5A-844E598CD9F1}">
      <dgm:prSet/>
      <dgm:spPr/>
      <dgm:t>
        <a:bodyPr/>
        <a:lstStyle/>
        <a:p>
          <a:endParaRPr lang="en-US"/>
        </a:p>
      </dgm:t>
    </dgm:pt>
    <dgm:pt modelId="{BA4AA738-8CB7-4424-9212-E3280556F9BD}">
      <dgm:prSet/>
      <dgm:spPr/>
      <dgm:t>
        <a:bodyPr/>
        <a:lstStyle/>
        <a:p>
          <a:pPr>
            <a:lnSpc>
              <a:spcPct val="100000"/>
            </a:lnSpc>
            <a:defRPr b="1"/>
          </a:pPr>
          <a:r>
            <a:rPr lang="en-US"/>
            <a:t>Maximized Predictive Accuracy</a:t>
          </a:r>
        </a:p>
      </dgm:t>
    </dgm:pt>
    <dgm:pt modelId="{F7A69C2A-B91E-4D81-A603-3210B4B58ED9}" type="parTrans" cxnId="{EDF9D05E-72EF-4BE1-BD9F-79E0737BCC34}">
      <dgm:prSet/>
      <dgm:spPr/>
      <dgm:t>
        <a:bodyPr/>
        <a:lstStyle/>
        <a:p>
          <a:endParaRPr lang="en-US"/>
        </a:p>
      </dgm:t>
    </dgm:pt>
    <dgm:pt modelId="{86264A5E-CB18-4531-879A-F4115115E3BE}" type="sibTrans" cxnId="{EDF9D05E-72EF-4BE1-BD9F-79E0737BCC34}">
      <dgm:prSet/>
      <dgm:spPr/>
      <dgm:t>
        <a:bodyPr/>
        <a:lstStyle/>
        <a:p>
          <a:endParaRPr lang="en-US"/>
        </a:p>
      </dgm:t>
    </dgm:pt>
    <dgm:pt modelId="{A54450D4-809E-4E50-9DC2-C893C433F89B}">
      <dgm:prSet/>
      <dgm:spPr/>
      <dgm:t>
        <a:bodyPr/>
        <a:lstStyle/>
        <a:p>
          <a:pPr>
            <a:lnSpc>
              <a:spcPct val="100000"/>
            </a:lnSpc>
          </a:pPr>
          <a:r>
            <a:rPr lang="en-US"/>
            <a:t>Parameter selection aimed to maximize accuracy and effectiveness for reliable patient predictions.</a:t>
          </a:r>
        </a:p>
      </dgm:t>
    </dgm:pt>
    <dgm:pt modelId="{84E40919-F58A-4CD0-803B-BD354AB28A4D}" type="parTrans" cxnId="{12F3652D-EAC7-4D32-9A7E-B536512E83D4}">
      <dgm:prSet/>
      <dgm:spPr/>
      <dgm:t>
        <a:bodyPr/>
        <a:lstStyle/>
        <a:p>
          <a:endParaRPr lang="en-US"/>
        </a:p>
      </dgm:t>
    </dgm:pt>
    <dgm:pt modelId="{FA308A60-D934-41D6-99F6-352694456252}" type="sibTrans" cxnId="{12F3652D-EAC7-4D32-9A7E-B536512E83D4}">
      <dgm:prSet/>
      <dgm:spPr/>
      <dgm:t>
        <a:bodyPr/>
        <a:lstStyle/>
        <a:p>
          <a:endParaRPr lang="en-US"/>
        </a:p>
      </dgm:t>
    </dgm:pt>
    <dgm:pt modelId="{BE308249-1679-4E75-B407-02403B3B4F8F}" type="pres">
      <dgm:prSet presAssocID="{146A009E-41A5-4A8C-B67D-60C7BD8DF6C3}" presName="Root" presStyleCnt="0">
        <dgm:presLayoutVars>
          <dgm:dir/>
          <dgm:resizeHandles val="exact"/>
        </dgm:presLayoutVars>
      </dgm:prSet>
      <dgm:spPr/>
    </dgm:pt>
    <dgm:pt modelId="{2ACF5366-6785-459A-840D-4258A54A29E7}" type="pres">
      <dgm:prSet presAssocID="{160F568E-3065-4DBA-A125-2013AA2D3BBF}" presName="Composite" presStyleCnt="0"/>
      <dgm:spPr/>
    </dgm:pt>
    <dgm:pt modelId="{C114D8E2-A35A-4A58-BEDF-9F929A2397D8}" type="pres">
      <dgm:prSet presAssocID="{160F568E-3065-4DBA-A125-2013AA2D3BBF}"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478" r="19019" b="-5"/>
          <a:stretch/>
        </a:blipFill>
      </dgm:spPr>
      <dgm:extLst>
        <a:ext uri="{E40237B7-FDA0-4F09-8148-C483321AD2D9}">
          <dgm14:cNvPr xmlns:dgm14="http://schemas.microsoft.com/office/drawing/2010/diagram" id="0" name="" descr="Shot of a computer with a graph on the screen in an empty laboratory"/>
        </a:ext>
      </dgm:extLst>
    </dgm:pt>
    <dgm:pt modelId="{17978BF1-0B51-4507-9AD0-915AFD96E5BD}" type="pres">
      <dgm:prSet presAssocID="{160F568E-3065-4DBA-A125-2013AA2D3BBF}" presName="Subtitle" presStyleLbl="revTx" presStyleIdx="0" presStyleCnt="6">
        <dgm:presLayoutVars>
          <dgm:chMax val="0"/>
          <dgm:bulletEnabled/>
        </dgm:presLayoutVars>
      </dgm:prSet>
      <dgm:spPr/>
    </dgm:pt>
    <dgm:pt modelId="{7CFBB418-86F3-424A-9F83-D74088EF45ED}" type="pres">
      <dgm:prSet presAssocID="{160F568E-3065-4DBA-A125-2013AA2D3BBF}" presName="Description" presStyleLbl="revTx" presStyleIdx="1" presStyleCnt="6">
        <dgm:presLayoutVars>
          <dgm:bulletEnabled/>
        </dgm:presLayoutVars>
      </dgm:prSet>
      <dgm:spPr/>
    </dgm:pt>
    <dgm:pt modelId="{F2E1EEBA-15AD-413E-BE03-D3A499EC137F}" type="pres">
      <dgm:prSet presAssocID="{529CC987-E595-46FB-9FBB-7E8E59E3CBAF}" presName="sibTrans" presStyleLbl="sibTrans2D1" presStyleIdx="0" presStyleCnt="0"/>
      <dgm:spPr/>
    </dgm:pt>
    <dgm:pt modelId="{85846A0A-D75B-43B0-B59D-21B88119F8AC}" type="pres">
      <dgm:prSet presAssocID="{D6E9CED9-0234-405E-AC1B-0A4E5A8EF6E3}" presName="Composite" presStyleCnt="0"/>
      <dgm:spPr/>
    </dgm:pt>
    <dgm:pt modelId="{BCF1C9BC-9E11-4470-90B1-13D15990AD73}" type="pres">
      <dgm:prSet presAssocID="{D6E9CED9-0234-405E-AC1B-0A4E5A8EF6E3}"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50746" b="-7"/>
          <a:stretch/>
        </a:blipFill>
      </dgm:spPr>
      <dgm:extLst>
        <a:ext uri="{E40237B7-FDA0-4F09-8148-C483321AD2D9}">
          <dgm14:cNvPr xmlns:dgm14="http://schemas.microsoft.com/office/drawing/2010/diagram" id="0" name="" descr="3d text meaning innovation, progress and improvement - XXL image!"/>
        </a:ext>
      </dgm:extLst>
    </dgm:pt>
    <dgm:pt modelId="{304D02D1-932A-4AF1-B0B6-78FC67107E13}" type="pres">
      <dgm:prSet presAssocID="{D6E9CED9-0234-405E-AC1B-0A4E5A8EF6E3}" presName="Subtitle" presStyleLbl="revTx" presStyleIdx="2" presStyleCnt="6">
        <dgm:presLayoutVars>
          <dgm:chMax val="0"/>
          <dgm:bulletEnabled/>
        </dgm:presLayoutVars>
      </dgm:prSet>
      <dgm:spPr/>
    </dgm:pt>
    <dgm:pt modelId="{2B94052C-B71C-471F-92B8-C5E27A41A63D}" type="pres">
      <dgm:prSet presAssocID="{D6E9CED9-0234-405E-AC1B-0A4E5A8EF6E3}" presName="Description" presStyleLbl="revTx" presStyleIdx="3" presStyleCnt="6">
        <dgm:presLayoutVars>
          <dgm:bulletEnabled/>
        </dgm:presLayoutVars>
      </dgm:prSet>
      <dgm:spPr/>
    </dgm:pt>
    <dgm:pt modelId="{82A7D0BA-60BF-446A-B452-1EFCC39D0DAF}" type="pres">
      <dgm:prSet presAssocID="{F08F214E-CF8D-43B6-BBBA-CAA53AB2D82A}" presName="sibTrans" presStyleLbl="sibTrans2D1" presStyleIdx="0" presStyleCnt="0"/>
      <dgm:spPr/>
    </dgm:pt>
    <dgm:pt modelId="{C6172E99-A52D-41BC-88F0-A0CAD784CFC7}" type="pres">
      <dgm:prSet presAssocID="{BA4AA738-8CB7-4424-9212-E3280556F9BD}" presName="Composite" presStyleCnt="0"/>
      <dgm:spPr/>
    </dgm:pt>
    <dgm:pt modelId="{3316F8B4-4BF7-4E73-9815-D69911DBFABD}" type="pres">
      <dgm:prSet presAssocID="{BA4AA738-8CB7-4424-9212-E3280556F9BD}"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4253" r="-14" b="-13"/>
          <a:stretch/>
        </a:blipFill>
      </dgm:spPr>
      <dgm:extLst>
        <a:ext uri="{E40237B7-FDA0-4F09-8148-C483321AD2D9}">
          <dgm14:cNvPr xmlns:dgm14="http://schemas.microsoft.com/office/drawing/2010/diagram" id="0" name="" descr="Shot of a businessman holding on to a bunch of cryptocurrency balloons on top of a graph against a white background"/>
        </a:ext>
      </dgm:extLst>
    </dgm:pt>
    <dgm:pt modelId="{4A79D8D3-B9E7-46B8-9A70-E2474155604D}" type="pres">
      <dgm:prSet presAssocID="{BA4AA738-8CB7-4424-9212-E3280556F9BD}" presName="Subtitle" presStyleLbl="revTx" presStyleIdx="4" presStyleCnt="6">
        <dgm:presLayoutVars>
          <dgm:chMax val="0"/>
          <dgm:bulletEnabled/>
        </dgm:presLayoutVars>
      </dgm:prSet>
      <dgm:spPr/>
    </dgm:pt>
    <dgm:pt modelId="{1ECF8C7B-A8FB-420E-BF03-33016BD3EC4B}" type="pres">
      <dgm:prSet presAssocID="{BA4AA738-8CB7-4424-9212-E3280556F9BD}" presName="Description" presStyleLbl="revTx" presStyleIdx="5" presStyleCnt="6">
        <dgm:presLayoutVars>
          <dgm:bulletEnabled/>
        </dgm:presLayoutVars>
      </dgm:prSet>
      <dgm:spPr/>
    </dgm:pt>
  </dgm:ptLst>
  <dgm:cxnLst>
    <dgm:cxn modelId="{12F3652D-EAC7-4D32-9A7E-B536512E83D4}" srcId="{BA4AA738-8CB7-4424-9212-E3280556F9BD}" destId="{A54450D4-809E-4E50-9DC2-C893C433F89B}" srcOrd="0" destOrd="0" parTransId="{84E40919-F58A-4CD0-803B-BD354AB28A4D}" sibTransId="{FA308A60-D934-41D6-99F6-352694456252}"/>
    <dgm:cxn modelId="{0F732033-66B7-4673-84F3-A3D730C5125D}" type="presOf" srcId="{BA4AA738-8CB7-4424-9212-E3280556F9BD}" destId="{4A79D8D3-B9E7-46B8-9A70-E2474155604D}" srcOrd="0" destOrd="0" presId="urn:microsoft.com/office/officeart/2024/3/layout/verticalVisualTextBlock1"/>
    <dgm:cxn modelId="{EDF9D05E-72EF-4BE1-BD9F-79E0737BCC34}" srcId="{146A009E-41A5-4A8C-B67D-60C7BD8DF6C3}" destId="{BA4AA738-8CB7-4424-9212-E3280556F9BD}" srcOrd="2" destOrd="0" parTransId="{F7A69C2A-B91E-4D81-A603-3210B4B58ED9}" sibTransId="{86264A5E-CB18-4531-879A-F4115115E3BE}"/>
    <dgm:cxn modelId="{1E4B7565-3F52-4316-8ECE-A93D5AC734D3}" type="presOf" srcId="{146A009E-41A5-4A8C-B67D-60C7BD8DF6C3}" destId="{BE308249-1679-4E75-B407-02403B3B4F8F}" srcOrd="0" destOrd="0" presId="urn:microsoft.com/office/officeart/2024/3/layout/verticalVisualTextBlock1"/>
    <dgm:cxn modelId="{4C632267-2A0D-4221-B39D-12148D668C9A}" type="presOf" srcId="{160F568E-3065-4DBA-A125-2013AA2D3BBF}" destId="{17978BF1-0B51-4507-9AD0-915AFD96E5BD}" srcOrd="0" destOrd="0" presId="urn:microsoft.com/office/officeart/2024/3/layout/verticalVisualTextBlock1"/>
    <dgm:cxn modelId="{1B1AF547-4A86-4ABF-AC5A-844E598CD9F1}" srcId="{D6E9CED9-0234-405E-AC1B-0A4E5A8EF6E3}" destId="{51C5BA84-E241-4932-A49D-21C38291735D}" srcOrd="0" destOrd="0" parTransId="{FFD9AB61-8A72-4C6A-BB8D-77A3A020BC29}" sibTransId="{B05BBA78-04CD-47C0-9ECE-56F7F34A3016}"/>
    <dgm:cxn modelId="{4506F66A-F415-4145-90C7-B842DD2DBF42}" srcId="{146A009E-41A5-4A8C-B67D-60C7BD8DF6C3}" destId="{D6E9CED9-0234-405E-AC1B-0A4E5A8EF6E3}" srcOrd="1" destOrd="0" parTransId="{C2B4B01B-37A4-4746-ACF2-E38C2FF9F223}" sibTransId="{F08F214E-CF8D-43B6-BBBA-CAA53AB2D82A}"/>
    <dgm:cxn modelId="{22ED8B6B-A009-411B-9069-D7FBD06488CD}" type="presOf" srcId="{F08F214E-CF8D-43B6-BBBA-CAA53AB2D82A}" destId="{82A7D0BA-60BF-446A-B452-1EFCC39D0DAF}" srcOrd="0" destOrd="0" presId="urn:microsoft.com/office/officeart/2024/3/layout/verticalVisualTextBlock1"/>
    <dgm:cxn modelId="{D451854F-8997-4D59-8251-BA78BBFBA006}" type="presOf" srcId="{D6E9CED9-0234-405E-AC1B-0A4E5A8EF6E3}" destId="{304D02D1-932A-4AF1-B0B6-78FC67107E13}" srcOrd="0" destOrd="0" presId="urn:microsoft.com/office/officeart/2024/3/layout/verticalVisualTextBlock1"/>
    <dgm:cxn modelId="{E35F0C52-8502-4289-8865-4826EFF4E458}" srcId="{146A009E-41A5-4A8C-B67D-60C7BD8DF6C3}" destId="{160F568E-3065-4DBA-A125-2013AA2D3BBF}" srcOrd="0" destOrd="0" parTransId="{CB76E0C8-FFC9-4990-AF83-2D662B55EBC7}" sibTransId="{529CC987-E595-46FB-9FBB-7E8E59E3CBAF}"/>
    <dgm:cxn modelId="{49302C82-67CB-4403-8E60-899511F23C09}" type="presOf" srcId="{51C5BA84-E241-4932-A49D-21C38291735D}" destId="{2B94052C-B71C-471F-92B8-C5E27A41A63D}" srcOrd="0" destOrd="0" presId="urn:microsoft.com/office/officeart/2024/3/layout/verticalVisualTextBlock1"/>
    <dgm:cxn modelId="{5901C7C2-DC48-4D54-8196-AFC86862AB6B}" srcId="{160F568E-3065-4DBA-A125-2013AA2D3BBF}" destId="{26D964A4-1BF7-4422-A9B1-35682592E884}" srcOrd="0" destOrd="0" parTransId="{B7AC2B56-1A87-4ABD-BB74-5498BC73F802}" sibTransId="{29FE2E9B-3C66-4A2B-AC24-43582BED7484}"/>
    <dgm:cxn modelId="{F62CD2D4-ABC4-4663-8528-396A8261B3B0}" type="presOf" srcId="{26D964A4-1BF7-4422-A9B1-35682592E884}" destId="{7CFBB418-86F3-424A-9F83-D74088EF45ED}" srcOrd="0" destOrd="0" presId="urn:microsoft.com/office/officeart/2024/3/layout/verticalVisualTextBlock1"/>
    <dgm:cxn modelId="{AD8165D9-8FFE-4ACA-92C5-AC9FB69DD9A4}" type="presOf" srcId="{A54450D4-809E-4E50-9DC2-C893C433F89B}" destId="{1ECF8C7B-A8FB-420E-BF03-33016BD3EC4B}" srcOrd="0" destOrd="0" presId="urn:microsoft.com/office/officeart/2024/3/layout/verticalVisualTextBlock1"/>
    <dgm:cxn modelId="{F65139FF-04B6-489C-9EA9-30E34EC7E52A}" type="presOf" srcId="{529CC987-E595-46FB-9FBB-7E8E59E3CBAF}" destId="{F2E1EEBA-15AD-413E-BE03-D3A499EC137F}" srcOrd="0" destOrd="0" presId="urn:microsoft.com/office/officeart/2024/3/layout/verticalVisualTextBlock1"/>
    <dgm:cxn modelId="{C34C08FE-F985-44F5-8449-10471BB92DC4}" type="presParOf" srcId="{BE308249-1679-4E75-B407-02403B3B4F8F}" destId="{2ACF5366-6785-459A-840D-4258A54A29E7}" srcOrd="0" destOrd="0" presId="urn:microsoft.com/office/officeart/2024/3/layout/verticalVisualTextBlock1"/>
    <dgm:cxn modelId="{1281AD2C-4257-4CB4-9F3E-5A74CE647AC2}" type="presParOf" srcId="{2ACF5366-6785-459A-840D-4258A54A29E7}" destId="{C114D8E2-A35A-4A58-BEDF-9F929A2397D8}" srcOrd="0" destOrd="0" presId="urn:microsoft.com/office/officeart/2024/3/layout/verticalVisualTextBlock1"/>
    <dgm:cxn modelId="{4A97896F-B060-4284-80AF-C17A00CD9902}" type="presParOf" srcId="{2ACF5366-6785-459A-840D-4258A54A29E7}" destId="{17978BF1-0B51-4507-9AD0-915AFD96E5BD}" srcOrd="1" destOrd="0" presId="urn:microsoft.com/office/officeart/2024/3/layout/verticalVisualTextBlock1"/>
    <dgm:cxn modelId="{1AB35763-B68F-40C8-BF96-09BEDFF575D2}" type="presParOf" srcId="{2ACF5366-6785-459A-840D-4258A54A29E7}" destId="{7CFBB418-86F3-424A-9F83-D74088EF45ED}" srcOrd="2" destOrd="0" presId="urn:microsoft.com/office/officeart/2024/3/layout/verticalVisualTextBlock1"/>
    <dgm:cxn modelId="{877B4946-5BEE-42EF-8271-8A51E2F9B240}" type="presParOf" srcId="{BE308249-1679-4E75-B407-02403B3B4F8F}" destId="{F2E1EEBA-15AD-413E-BE03-D3A499EC137F}" srcOrd="1" destOrd="0" presId="urn:microsoft.com/office/officeart/2024/3/layout/verticalVisualTextBlock1"/>
    <dgm:cxn modelId="{449F8A89-D26C-45B0-8F65-C66F7F340F3D}" type="presParOf" srcId="{BE308249-1679-4E75-B407-02403B3B4F8F}" destId="{85846A0A-D75B-43B0-B59D-21B88119F8AC}" srcOrd="2" destOrd="0" presId="urn:microsoft.com/office/officeart/2024/3/layout/verticalVisualTextBlock1"/>
    <dgm:cxn modelId="{0064525E-697C-4F92-AA32-D8010DEA04F5}" type="presParOf" srcId="{85846A0A-D75B-43B0-B59D-21B88119F8AC}" destId="{BCF1C9BC-9E11-4470-90B1-13D15990AD73}" srcOrd="0" destOrd="0" presId="urn:microsoft.com/office/officeart/2024/3/layout/verticalVisualTextBlock1"/>
    <dgm:cxn modelId="{C637AC38-167F-4053-933C-30794D2ECD80}" type="presParOf" srcId="{85846A0A-D75B-43B0-B59D-21B88119F8AC}" destId="{304D02D1-932A-4AF1-B0B6-78FC67107E13}" srcOrd="1" destOrd="0" presId="urn:microsoft.com/office/officeart/2024/3/layout/verticalVisualTextBlock1"/>
    <dgm:cxn modelId="{3A8D65AD-A99B-43C9-87F5-6AFCCE366A35}" type="presParOf" srcId="{85846A0A-D75B-43B0-B59D-21B88119F8AC}" destId="{2B94052C-B71C-471F-92B8-C5E27A41A63D}" srcOrd="2" destOrd="0" presId="urn:microsoft.com/office/officeart/2024/3/layout/verticalVisualTextBlock1"/>
    <dgm:cxn modelId="{909578E6-42DE-4178-A9DE-D43EEB0B0A53}" type="presParOf" srcId="{BE308249-1679-4E75-B407-02403B3B4F8F}" destId="{82A7D0BA-60BF-446A-B452-1EFCC39D0DAF}" srcOrd="3" destOrd="0" presId="urn:microsoft.com/office/officeart/2024/3/layout/verticalVisualTextBlock1"/>
    <dgm:cxn modelId="{8F907080-CA6A-4EC1-870B-F09506BCE196}" type="presParOf" srcId="{BE308249-1679-4E75-B407-02403B3B4F8F}" destId="{C6172E99-A52D-41BC-88F0-A0CAD784CFC7}" srcOrd="4" destOrd="0" presId="urn:microsoft.com/office/officeart/2024/3/layout/verticalVisualTextBlock1"/>
    <dgm:cxn modelId="{A393154A-AE5E-4621-9B2C-A9A1C21AD688}" type="presParOf" srcId="{C6172E99-A52D-41BC-88F0-A0CAD784CFC7}" destId="{3316F8B4-4BF7-4E73-9815-D69911DBFABD}" srcOrd="0" destOrd="0" presId="urn:microsoft.com/office/officeart/2024/3/layout/verticalVisualTextBlock1"/>
    <dgm:cxn modelId="{349021AC-47BE-44BE-B473-718F968ED82F}" type="presParOf" srcId="{C6172E99-A52D-41BC-88F0-A0CAD784CFC7}" destId="{4A79D8D3-B9E7-46B8-9A70-E2474155604D}" srcOrd="1" destOrd="0" presId="urn:microsoft.com/office/officeart/2024/3/layout/verticalVisualTextBlock1"/>
    <dgm:cxn modelId="{BCB16E48-EC16-4132-AE2E-38FDDE2009E1}" type="presParOf" srcId="{C6172E99-A52D-41BC-88F0-A0CAD784CFC7}" destId="{1ECF8C7B-A8FB-420E-BF03-33016BD3EC4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C4F37D-7859-45A9-AFF2-4F05F1710BB5}"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57C8B492-981A-409B-A417-FC33F5D9974A}">
      <dgm:prSet/>
      <dgm:spPr/>
      <dgm:t>
        <a:bodyPr/>
        <a:lstStyle/>
        <a:p>
          <a:pPr>
            <a:lnSpc>
              <a:spcPct val="100000"/>
            </a:lnSpc>
            <a:defRPr b="1"/>
          </a:pPr>
          <a:r>
            <a:rPr lang="en-US"/>
            <a:t>Machine Learning for Prediction</a:t>
          </a:r>
        </a:p>
      </dgm:t>
    </dgm:pt>
    <dgm:pt modelId="{E5DBC5C7-7847-430D-B3FB-62E683104F0D}" type="parTrans" cxnId="{54A2BF8D-DD4E-4D0E-AD54-179B08F5E86E}">
      <dgm:prSet/>
      <dgm:spPr/>
      <dgm:t>
        <a:bodyPr/>
        <a:lstStyle/>
        <a:p>
          <a:endParaRPr lang="en-US"/>
        </a:p>
      </dgm:t>
    </dgm:pt>
    <dgm:pt modelId="{8F21AE65-76C4-42DA-A022-E5B19E9609C3}" type="sibTrans" cxnId="{54A2BF8D-DD4E-4D0E-AD54-179B08F5E86E}">
      <dgm:prSet/>
      <dgm:spPr/>
      <dgm:t>
        <a:bodyPr/>
        <a:lstStyle/>
        <a:p>
          <a:pPr>
            <a:lnSpc>
              <a:spcPct val="100000"/>
            </a:lnSpc>
            <a:defRPr b="1"/>
          </a:pPr>
          <a:endParaRPr lang="en-US"/>
        </a:p>
      </dgm:t>
    </dgm:pt>
    <dgm:pt modelId="{A6A55575-5892-4CF5-BA81-3B4E7C025A32}">
      <dgm:prSet/>
      <dgm:spPr/>
      <dgm:t>
        <a:bodyPr/>
        <a:lstStyle/>
        <a:p>
          <a:pPr>
            <a:lnSpc>
              <a:spcPct val="100000"/>
            </a:lnSpc>
          </a:pPr>
          <a:r>
            <a:rPr lang="en-US"/>
            <a:t>Machine learning models can assess heart disease risk using routine patient data for improved prediction accuracy.</a:t>
          </a:r>
        </a:p>
      </dgm:t>
    </dgm:pt>
    <dgm:pt modelId="{111222B3-387D-4DD0-B9EE-52E4B1785136}" type="parTrans" cxnId="{EF7CABA4-A1EB-4B09-8B99-D25AB5EC7A4A}">
      <dgm:prSet/>
      <dgm:spPr/>
      <dgm:t>
        <a:bodyPr/>
        <a:lstStyle/>
        <a:p>
          <a:endParaRPr lang="en-US"/>
        </a:p>
      </dgm:t>
    </dgm:pt>
    <dgm:pt modelId="{CB2FDE08-BB14-4794-A67A-3DFDA1315D6C}" type="sibTrans" cxnId="{EF7CABA4-A1EB-4B09-8B99-D25AB5EC7A4A}">
      <dgm:prSet/>
      <dgm:spPr/>
      <dgm:t>
        <a:bodyPr/>
        <a:lstStyle/>
        <a:p>
          <a:endParaRPr lang="en-US"/>
        </a:p>
      </dgm:t>
    </dgm:pt>
    <dgm:pt modelId="{821D5F7E-373C-41FF-BB33-681E487C7F02}">
      <dgm:prSet/>
      <dgm:spPr/>
      <dgm:t>
        <a:bodyPr/>
        <a:lstStyle/>
        <a:p>
          <a:pPr>
            <a:lnSpc>
              <a:spcPct val="100000"/>
            </a:lnSpc>
            <a:defRPr b="1"/>
          </a:pPr>
          <a:r>
            <a:rPr lang="en-US"/>
            <a:t>Model Optimization Strategies</a:t>
          </a:r>
        </a:p>
      </dgm:t>
    </dgm:pt>
    <dgm:pt modelId="{B8393EF3-7BB0-4C83-B280-66C046F7E33E}" type="parTrans" cxnId="{2DFC6563-39AA-4E37-9361-D82CDF8AE788}">
      <dgm:prSet/>
      <dgm:spPr/>
      <dgm:t>
        <a:bodyPr/>
        <a:lstStyle/>
        <a:p>
          <a:endParaRPr lang="en-US"/>
        </a:p>
      </dgm:t>
    </dgm:pt>
    <dgm:pt modelId="{8142E725-56E5-4F98-8656-CF768994901D}" type="sibTrans" cxnId="{2DFC6563-39AA-4E37-9361-D82CDF8AE788}">
      <dgm:prSet/>
      <dgm:spPr/>
      <dgm:t>
        <a:bodyPr/>
        <a:lstStyle/>
        <a:p>
          <a:pPr>
            <a:lnSpc>
              <a:spcPct val="100000"/>
            </a:lnSpc>
            <a:defRPr b="1"/>
          </a:pPr>
          <a:endParaRPr lang="en-US"/>
        </a:p>
      </dgm:t>
    </dgm:pt>
    <dgm:pt modelId="{967CFD6C-00C3-4FAD-AB87-626FEAC297A4}">
      <dgm:prSet/>
      <dgm:spPr/>
      <dgm:t>
        <a:bodyPr/>
        <a:lstStyle/>
        <a:p>
          <a:pPr>
            <a:lnSpc>
              <a:spcPct val="100000"/>
            </a:lnSpc>
          </a:pPr>
          <a:r>
            <a:rPr lang="en-US"/>
            <a:t>Robust preprocessing, model comparison, and hyperparameter tuning result in strong, reliable performance suited for healthcare.</a:t>
          </a:r>
        </a:p>
      </dgm:t>
    </dgm:pt>
    <dgm:pt modelId="{64991F89-DE87-45F4-84C1-362AB77B42E4}" type="parTrans" cxnId="{32FF9AF3-3A65-48E9-9646-9F9ADF489218}">
      <dgm:prSet/>
      <dgm:spPr/>
      <dgm:t>
        <a:bodyPr/>
        <a:lstStyle/>
        <a:p>
          <a:endParaRPr lang="en-US"/>
        </a:p>
      </dgm:t>
    </dgm:pt>
    <dgm:pt modelId="{1599CA25-DADE-4383-B115-9747A18FCBC9}" type="sibTrans" cxnId="{32FF9AF3-3A65-48E9-9646-9F9ADF489218}">
      <dgm:prSet/>
      <dgm:spPr/>
      <dgm:t>
        <a:bodyPr/>
        <a:lstStyle/>
        <a:p>
          <a:endParaRPr lang="en-US"/>
        </a:p>
      </dgm:t>
    </dgm:pt>
    <dgm:pt modelId="{5FD9CDC6-5FDC-4D32-9FF6-9D0AF4C1769B}">
      <dgm:prSet/>
      <dgm:spPr/>
      <dgm:t>
        <a:bodyPr/>
        <a:lstStyle/>
        <a:p>
          <a:pPr>
            <a:lnSpc>
              <a:spcPct val="100000"/>
            </a:lnSpc>
            <a:defRPr b="1"/>
          </a:pPr>
          <a:r>
            <a:rPr lang="en-US"/>
            <a:t>Future Improvements and Integration</a:t>
          </a:r>
        </a:p>
      </dgm:t>
    </dgm:pt>
    <dgm:pt modelId="{4481B280-AF96-4C49-B80A-730FB32AAE6F}" type="parTrans" cxnId="{7D6F4AD6-E033-482A-9583-35A4CA15E92F}">
      <dgm:prSet/>
      <dgm:spPr/>
      <dgm:t>
        <a:bodyPr/>
        <a:lstStyle/>
        <a:p>
          <a:endParaRPr lang="en-US"/>
        </a:p>
      </dgm:t>
    </dgm:pt>
    <dgm:pt modelId="{C57E4CAD-C4B3-4312-A3DD-0C1A7238E370}" type="sibTrans" cxnId="{7D6F4AD6-E033-482A-9583-35A4CA15E92F}">
      <dgm:prSet/>
      <dgm:spPr/>
      <dgm:t>
        <a:bodyPr/>
        <a:lstStyle/>
        <a:p>
          <a:endParaRPr lang="en-US"/>
        </a:p>
      </dgm:t>
    </dgm:pt>
    <dgm:pt modelId="{CF8C11CE-9F4F-48FC-8173-67E9E0AC57B1}">
      <dgm:prSet/>
      <dgm:spPr/>
      <dgm:t>
        <a:bodyPr/>
        <a:lstStyle/>
        <a:p>
          <a:pPr>
            <a:lnSpc>
              <a:spcPct val="100000"/>
            </a:lnSpc>
          </a:pPr>
          <a:r>
            <a:rPr lang="en-US"/>
            <a:t>Future work will add clinical variables, ensure external validation, and embed the model in clinical decision support systems.</a:t>
          </a:r>
        </a:p>
      </dgm:t>
    </dgm:pt>
    <dgm:pt modelId="{BF177758-EF5B-45E0-BBB6-C85626B4756F}" type="parTrans" cxnId="{4744CE70-47FC-4059-AB7A-0B4B211ED8F4}">
      <dgm:prSet/>
      <dgm:spPr/>
      <dgm:t>
        <a:bodyPr/>
        <a:lstStyle/>
        <a:p>
          <a:endParaRPr lang="en-US"/>
        </a:p>
      </dgm:t>
    </dgm:pt>
    <dgm:pt modelId="{3E85F79A-6C43-4779-904E-75B4E20803DA}" type="sibTrans" cxnId="{4744CE70-47FC-4059-AB7A-0B4B211ED8F4}">
      <dgm:prSet/>
      <dgm:spPr/>
      <dgm:t>
        <a:bodyPr/>
        <a:lstStyle/>
        <a:p>
          <a:endParaRPr lang="en-US"/>
        </a:p>
      </dgm:t>
    </dgm:pt>
    <dgm:pt modelId="{26AD948B-CD0E-40AB-8965-88FE34B8CFDF}" type="pres">
      <dgm:prSet presAssocID="{D0C4F37D-7859-45A9-AFF2-4F05F1710BB5}" presName="Root" presStyleCnt="0">
        <dgm:presLayoutVars>
          <dgm:dir/>
          <dgm:resizeHandles val="exact"/>
        </dgm:presLayoutVars>
      </dgm:prSet>
      <dgm:spPr/>
    </dgm:pt>
    <dgm:pt modelId="{BC678882-E77D-4E7C-A9F2-471631CB1395}" type="pres">
      <dgm:prSet presAssocID="{57C8B492-981A-409B-A417-FC33F5D9974A}" presName="Composite" presStyleCnt="0"/>
      <dgm:spPr/>
    </dgm:pt>
    <dgm:pt modelId="{3244D9BA-AB72-4418-AA37-AA2762152FD1}" type="pres">
      <dgm:prSet presAssocID="{57C8B492-981A-409B-A417-FC33F5D9974A}"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1938" r="11809" b="-5"/>
          <a:stretch/>
        </a:blipFill>
      </dgm:spPr>
      <dgm:extLst>
        <a:ext uri="{E40237B7-FDA0-4F09-8148-C483321AD2D9}">
          <dgm14:cNvPr xmlns:dgm14="http://schemas.microsoft.com/office/drawing/2010/diagram" id="0" name="" descr="Digital financial graph"/>
        </a:ext>
      </dgm:extLst>
    </dgm:pt>
    <dgm:pt modelId="{8F5210CD-7893-472E-91B0-6DE17257A515}" type="pres">
      <dgm:prSet presAssocID="{57C8B492-981A-409B-A417-FC33F5D9974A}" presName="Subtitle" presStyleLbl="revTx" presStyleIdx="0" presStyleCnt="6">
        <dgm:presLayoutVars>
          <dgm:chMax val="0"/>
          <dgm:bulletEnabled/>
        </dgm:presLayoutVars>
      </dgm:prSet>
      <dgm:spPr/>
    </dgm:pt>
    <dgm:pt modelId="{9CACBD68-2902-45E8-ACC6-43B4521D3439}" type="pres">
      <dgm:prSet presAssocID="{57C8B492-981A-409B-A417-FC33F5D9974A}" presName="Description" presStyleLbl="revTx" presStyleIdx="1" presStyleCnt="6">
        <dgm:presLayoutVars>
          <dgm:bulletEnabled/>
        </dgm:presLayoutVars>
      </dgm:prSet>
      <dgm:spPr/>
    </dgm:pt>
    <dgm:pt modelId="{AC5AF143-0279-4554-9497-9249ADF47170}" type="pres">
      <dgm:prSet presAssocID="{8F21AE65-76C4-42DA-A022-E5B19E9609C3}" presName="sibTrans" presStyleLbl="sibTrans2D1" presStyleIdx="0" presStyleCnt="0"/>
      <dgm:spPr/>
    </dgm:pt>
    <dgm:pt modelId="{985C270B-8445-44BF-89D1-42A9C05717B1}" type="pres">
      <dgm:prSet presAssocID="{821D5F7E-373C-41FF-BB33-681E487C7F02}" presName="Composite" presStyleCnt="0"/>
      <dgm:spPr/>
    </dgm:pt>
    <dgm:pt modelId="{FBAD0BE3-B611-4C00-8796-26AFCEED72E8}" type="pres">
      <dgm:prSet presAssocID="{821D5F7E-373C-41FF-BB33-681E487C7F0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1044" r="26205" b="-1"/>
          <a:stretch/>
        </a:blipFill>
      </dgm:spPr>
      <dgm:extLst>
        <a:ext uri="{E40237B7-FDA0-4F09-8148-C483321AD2D9}">
          <dgm14:cNvPr xmlns:dgm14="http://schemas.microsoft.com/office/drawing/2010/diagram" id="0" name="" descr="Medical interface of the future, a system for managing medical data obtained by scanning the neural network of the human brain. Thanks to modern technologies and the help of neural networks, it is possible to make predictions and diagnose diseases at an early stage."/>
        </a:ext>
      </dgm:extLst>
    </dgm:pt>
    <dgm:pt modelId="{C6EBBA84-0AC3-41A5-82AB-0BC4B0C38132}" type="pres">
      <dgm:prSet presAssocID="{821D5F7E-373C-41FF-BB33-681E487C7F02}" presName="Subtitle" presStyleLbl="revTx" presStyleIdx="2" presStyleCnt="6">
        <dgm:presLayoutVars>
          <dgm:chMax val="0"/>
          <dgm:bulletEnabled/>
        </dgm:presLayoutVars>
      </dgm:prSet>
      <dgm:spPr/>
    </dgm:pt>
    <dgm:pt modelId="{A60F1BC7-F86A-4859-B39B-806626594DFE}" type="pres">
      <dgm:prSet presAssocID="{821D5F7E-373C-41FF-BB33-681E487C7F02}" presName="Description" presStyleLbl="revTx" presStyleIdx="3" presStyleCnt="6">
        <dgm:presLayoutVars>
          <dgm:bulletEnabled/>
        </dgm:presLayoutVars>
      </dgm:prSet>
      <dgm:spPr/>
    </dgm:pt>
    <dgm:pt modelId="{9F11E94F-AD0A-4300-8357-D4265E62F08E}" type="pres">
      <dgm:prSet presAssocID="{8142E725-56E5-4F98-8656-CF768994901D}" presName="sibTrans" presStyleLbl="sibTrans2D1" presStyleIdx="0" presStyleCnt="0"/>
      <dgm:spPr/>
    </dgm:pt>
    <dgm:pt modelId="{65EC8432-B596-4392-AFEE-51B2C8600CFB}" type="pres">
      <dgm:prSet presAssocID="{5FD9CDC6-5FDC-4D32-9FF6-9D0AF4C1769B}" presName="Composite" presStyleCnt="0"/>
      <dgm:spPr/>
    </dgm:pt>
    <dgm:pt modelId="{F2F6C79C-BDAD-4638-8CF4-1FF09EC8758B}" type="pres">
      <dgm:prSet presAssocID="{5FD9CDC6-5FDC-4D32-9FF6-9D0AF4C1769B}"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7633" r="16114" b="-5"/>
          <a:stretch/>
        </a:blipFill>
      </dgm:spPr>
      <dgm:extLst>
        <a:ext uri="{E40237B7-FDA0-4F09-8148-C483321AD2D9}">
          <dgm14:cNvPr xmlns:dgm14="http://schemas.microsoft.com/office/drawing/2010/diagram" id="0" name="" descr="Medicine doctor touching electronic medical record on tablet. DNA. Digital healthcare and network connection on hologram modern virtual screen interface, medical technology and network concept."/>
        </a:ext>
      </dgm:extLst>
    </dgm:pt>
    <dgm:pt modelId="{19AD72CC-0D2C-40D4-81B3-54C0C973FBDA}" type="pres">
      <dgm:prSet presAssocID="{5FD9CDC6-5FDC-4D32-9FF6-9D0AF4C1769B}" presName="Subtitle" presStyleLbl="revTx" presStyleIdx="4" presStyleCnt="6">
        <dgm:presLayoutVars>
          <dgm:chMax val="0"/>
          <dgm:bulletEnabled/>
        </dgm:presLayoutVars>
      </dgm:prSet>
      <dgm:spPr/>
    </dgm:pt>
    <dgm:pt modelId="{AA730540-186E-45EF-B2C4-7D8DD04FEECC}" type="pres">
      <dgm:prSet presAssocID="{5FD9CDC6-5FDC-4D32-9FF6-9D0AF4C1769B}" presName="Description" presStyleLbl="revTx" presStyleIdx="5" presStyleCnt="6">
        <dgm:presLayoutVars>
          <dgm:bulletEnabled/>
        </dgm:presLayoutVars>
      </dgm:prSet>
      <dgm:spPr/>
    </dgm:pt>
  </dgm:ptLst>
  <dgm:cxnLst>
    <dgm:cxn modelId="{665F095D-A4ED-47BF-81A9-F92F062EE585}" type="presOf" srcId="{5FD9CDC6-5FDC-4D32-9FF6-9D0AF4C1769B}" destId="{19AD72CC-0D2C-40D4-81B3-54C0C973FBDA}" srcOrd="0" destOrd="0" presId="urn:microsoft.com/office/officeart/2024/3/layout/verticalVisualTextBlock1"/>
    <dgm:cxn modelId="{2DFC6563-39AA-4E37-9361-D82CDF8AE788}" srcId="{D0C4F37D-7859-45A9-AFF2-4F05F1710BB5}" destId="{821D5F7E-373C-41FF-BB33-681E487C7F02}" srcOrd="1" destOrd="0" parTransId="{B8393EF3-7BB0-4C83-B280-66C046F7E33E}" sibTransId="{8142E725-56E5-4F98-8656-CF768994901D}"/>
    <dgm:cxn modelId="{04D13C4A-03F9-4330-A732-BFD82C3527DE}" type="presOf" srcId="{A6A55575-5892-4CF5-BA81-3B4E7C025A32}" destId="{9CACBD68-2902-45E8-ACC6-43B4521D3439}" srcOrd="0" destOrd="0" presId="urn:microsoft.com/office/officeart/2024/3/layout/verticalVisualTextBlock1"/>
    <dgm:cxn modelId="{4744CE70-47FC-4059-AB7A-0B4B211ED8F4}" srcId="{5FD9CDC6-5FDC-4D32-9FF6-9D0AF4C1769B}" destId="{CF8C11CE-9F4F-48FC-8173-67E9E0AC57B1}" srcOrd="0" destOrd="0" parTransId="{BF177758-EF5B-45E0-BBB6-C85626B4756F}" sibTransId="{3E85F79A-6C43-4779-904E-75B4E20803DA}"/>
    <dgm:cxn modelId="{C847227C-3C51-4BF6-9099-2B42B7CF3A08}" type="presOf" srcId="{821D5F7E-373C-41FF-BB33-681E487C7F02}" destId="{C6EBBA84-0AC3-41A5-82AB-0BC4B0C38132}" srcOrd="0" destOrd="0" presId="urn:microsoft.com/office/officeart/2024/3/layout/verticalVisualTextBlock1"/>
    <dgm:cxn modelId="{EAB7657D-EED1-40D7-B321-EA36CCFA037B}" type="presOf" srcId="{57C8B492-981A-409B-A417-FC33F5D9974A}" destId="{8F5210CD-7893-472E-91B0-6DE17257A515}" srcOrd="0" destOrd="0" presId="urn:microsoft.com/office/officeart/2024/3/layout/verticalVisualTextBlock1"/>
    <dgm:cxn modelId="{54A2BF8D-DD4E-4D0E-AD54-179B08F5E86E}" srcId="{D0C4F37D-7859-45A9-AFF2-4F05F1710BB5}" destId="{57C8B492-981A-409B-A417-FC33F5D9974A}" srcOrd="0" destOrd="0" parTransId="{E5DBC5C7-7847-430D-B3FB-62E683104F0D}" sibTransId="{8F21AE65-76C4-42DA-A022-E5B19E9609C3}"/>
    <dgm:cxn modelId="{EF7CABA4-A1EB-4B09-8B99-D25AB5EC7A4A}" srcId="{57C8B492-981A-409B-A417-FC33F5D9974A}" destId="{A6A55575-5892-4CF5-BA81-3B4E7C025A32}" srcOrd="0" destOrd="0" parTransId="{111222B3-387D-4DD0-B9EE-52E4B1785136}" sibTransId="{CB2FDE08-BB14-4794-A67A-3DFDA1315D6C}"/>
    <dgm:cxn modelId="{F9C228A8-263F-484D-BFEE-2B10B172A0FA}" type="presOf" srcId="{CF8C11CE-9F4F-48FC-8173-67E9E0AC57B1}" destId="{AA730540-186E-45EF-B2C4-7D8DD04FEECC}" srcOrd="0" destOrd="0" presId="urn:microsoft.com/office/officeart/2024/3/layout/verticalVisualTextBlock1"/>
    <dgm:cxn modelId="{37500DCB-B25C-40F5-A644-0BD59DD9FD5B}" type="presOf" srcId="{8F21AE65-76C4-42DA-A022-E5B19E9609C3}" destId="{AC5AF143-0279-4554-9497-9249ADF47170}" srcOrd="0" destOrd="0" presId="urn:microsoft.com/office/officeart/2024/3/layout/verticalVisualTextBlock1"/>
    <dgm:cxn modelId="{7D6F4AD6-E033-482A-9583-35A4CA15E92F}" srcId="{D0C4F37D-7859-45A9-AFF2-4F05F1710BB5}" destId="{5FD9CDC6-5FDC-4D32-9FF6-9D0AF4C1769B}" srcOrd="2" destOrd="0" parTransId="{4481B280-AF96-4C49-B80A-730FB32AAE6F}" sibTransId="{C57E4CAD-C4B3-4312-A3DD-0C1A7238E370}"/>
    <dgm:cxn modelId="{734CB2E3-037A-4C49-9CB7-B9457DC9C189}" type="presOf" srcId="{8142E725-56E5-4F98-8656-CF768994901D}" destId="{9F11E94F-AD0A-4300-8357-D4265E62F08E}" srcOrd="0" destOrd="0" presId="urn:microsoft.com/office/officeart/2024/3/layout/verticalVisualTextBlock1"/>
    <dgm:cxn modelId="{35AE32E8-8A18-43D5-A3DD-AD117886DC2C}" type="presOf" srcId="{967CFD6C-00C3-4FAD-AB87-626FEAC297A4}" destId="{A60F1BC7-F86A-4859-B39B-806626594DFE}" srcOrd="0" destOrd="0" presId="urn:microsoft.com/office/officeart/2024/3/layout/verticalVisualTextBlock1"/>
    <dgm:cxn modelId="{32FF9AF3-3A65-48E9-9646-9F9ADF489218}" srcId="{821D5F7E-373C-41FF-BB33-681E487C7F02}" destId="{967CFD6C-00C3-4FAD-AB87-626FEAC297A4}" srcOrd="0" destOrd="0" parTransId="{64991F89-DE87-45F4-84C1-362AB77B42E4}" sibTransId="{1599CA25-DADE-4383-B115-9747A18FCBC9}"/>
    <dgm:cxn modelId="{280A46F7-63B1-4B15-B1D3-58A4AD63BDD5}" type="presOf" srcId="{D0C4F37D-7859-45A9-AFF2-4F05F1710BB5}" destId="{26AD948B-CD0E-40AB-8965-88FE34B8CFDF}" srcOrd="0" destOrd="0" presId="urn:microsoft.com/office/officeart/2024/3/layout/verticalVisualTextBlock1"/>
    <dgm:cxn modelId="{BB43C20C-0CEB-406C-B76B-460DEA13CBDB}" type="presParOf" srcId="{26AD948B-CD0E-40AB-8965-88FE34B8CFDF}" destId="{BC678882-E77D-4E7C-A9F2-471631CB1395}" srcOrd="0" destOrd="0" presId="urn:microsoft.com/office/officeart/2024/3/layout/verticalVisualTextBlock1"/>
    <dgm:cxn modelId="{49DAFB5B-CB8C-43D9-9521-3FAE47C8A770}" type="presParOf" srcId="{BC678882-E77D-4E7C-A9F2-471631CB1395}" destId="{3244D9BA-AB72-4418-AA37-AA2762152FD1}" srcOrd="0" destOrd="0" presId="urn:microsoft.com/office/officeart/2024/3/layout/verticalVisualTextBlock1"/>
    <dgm:cxn modelId="{2A849819-9846-45D5-9E68-6EF716C9E52E}" type="presParOf" srcId="{BC678882-E77D-4E7C-A9F2-471631CB1395}" destId="{8F5210CD-7893-472E-91B0-6DE17257A515}" srcOrd="1" destOrd="0" presId="urn:microsoft.com/office/officeart/2024/3/layout/verticalVisualTextBlock1"/>
    <dgm:cxn modelId="{F4C40592-9ADD-4B22-AE8F-3D0C9AB392D8}" type="presParOf" srcId="{BC678882-E77D-4E7C-A9F2-471631CB1395}" destId="{9CACBD68-2902-45E8-ACC6-43B4521D3439}" srcOrd="2" destOrd="0" presId="urn:microsoft.com/office/officeart/2024/3/layout/verticalVisualTextBlock1"/>
    <dgm:cxn modelId="{E4141614-9382-45E0-AD50-80F12D359A16}" type="presParOf" srcId="{26AD948B-CD0E-40AB-8965-88FE34B8CFDF}" destId="{AC5AF143-0279-4554-9497-9249ADF47170}" srcOrd="1" destOrd="0" presId="urn:microsoft.com/office/officeart/2024/3/layout/verticalVisualTextBlock1"/>
    <dgm:cxn modelId="{0C614412-7B36-486F-8C3A-39721E5FF548}" type="presParOf" srcId="{26AD948B-CD0E-40AB-8965-88FE34B8CFDF}" destId="{985C270B-8445-44BF-89D1-42A9C05717B1}" srcOrd="2" destOrd="0" presId="urn:microsoft.com/office/officeart/2024/3/layout/verticalVisualTextBlock1"/>
    <dgm:cxn modelId="{DBBF3387-74D5-41F2-ABBB-CB50043C5689}" type="presParOf" srcId="{985C270B-8445-44BF-89D1-42A9C05717B1}" destId="{FBAD0BE3-B611-4C00-8796-26AFCEED72E8}" srcOrd="0" destOrd="0" presId="urn:microsoft.com/office/officeart/2024/3/layout/verticalVisualTextBlock1"/>
    <dgm:cxn modelId="{F13DB7A4-4F24-4D64-B822-21E0D51B3255}" type="presParOf" srcId="{985C270B-8445-44BF-89D1-42A9C05717B1}" destId="{C6EBBA84-0AC3-41A5-82AB-0BC4B0C38132}" srcOrd="1" destOrd="0" presId="urn:microsoft.com/office/officeart/2024/3/layout/verticalVisualTextBlock1"/>
    <dgm:cxn modelId="{848965B1-8C87-45FE-A623-E9D9CE678AC9}" type="presParOf" srcId="{985C270B-8445-44BF-89D1-42A9C05717B1}" destId="{A60F1BC7-F86A-4859-B39B-806626594DFE}" srcOrd="2" destOrd="0" presId="urn:microsoft.com/office/officeart/2024/3/layout/verticalVisualTextBlock1"/>
    <dgm:cxn modelId="{745800FA-4117-4842-B93D-DF7C66370382}" type="presParOf" srcId="{26AD948B-CD0E-40AB-8965-88FE34B8CFDF}" destId="{9F11E94F-AD0A-4300-8357-D4265E62F08E}" srcOrd="3" destOrd="0" presId="urn:microsoft.com/office/officeart/2024/3/layout/verticalVisualTextBlock1"/>
    <dgm:cxn modelId="{6EDC8802-4C42-4764-A051-052588B55C12}" type="presParOf" srcId="{26AD948B-CD0E-40AB-8965-88FE34B8CFDF}" destId="{65EC8432-B596-4392-AFEE-51B2C8600CFB}" srcOrd="4" destOrd="0" presId="urn:microsoft.com/office/officeart/2024/3/layout/verticalVisualTextBlock1"/>
    <dgm:cxn modelId="{32EADB77-BAEE-43F6-8CB8-F71F084FBBFA}" type="presParOf" srcId="{65EC8432-B596-4392-AFEE-51B2C8600CFB}" destId="{F2F6C79C-BDAD-4638-8CF4-1FF09EC8758B}" srcOrd="0" destOrd="0" presId="urn:microsoft.com/office/officeart/2024/3/layout/verticalVisualTextBlock1"/>
    <dgm:cxn modelId="{D592416A-0C48-4444-B1C6-27420E1FCE03}" type="presParOf" srcId="{65EC8432-B596-4392-AFEE-51B2C8600CFB}" destId="{19AD72CC-0D2C-40D4-81B3-54C0C973FBDA}" srcOrd="1" destOrd="0" presId="urn:microsoft.com/office/officeart/2024/3/layout/verticalVisualTextBlock1"/>
    <dgm:cxn modelId="{7A6D8C95-F3F5-4427-B379-2CA4D869287E}" type="presParOf" srcId="{65EC8432-B596-4392-AFEE-51B2C8600CFB}" destId="{AA730540-186E-45EF-B2C4-7D8DD04FEEC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E47709-617E-40B8-A30A-29F4BE76B3EB}">
      <dsp:nvSpPr>
        <dsp:cNvPr id="0" name=""/>
        <dsp:cNvSpPr/>
      </dsp:nvSpPr>
      <dsp:spPr>
        <a:xfrm>
          <a:off x="0" y="0"/>
          <a:ext cx="1277835" cy="127783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7666" r="15835" b="2"/>
          <a:stretch/>
        </a:blipFill>
        <a:ln>
          <a:noFill/>
        </a:ln>
        <a:effectLst/>
      </dsp:spPr>
      <dsp:style>
        <a:lnRef idx="0">
          <a:scrgbClr r="0" g="0" b="0"/>
        </a:lnRef>
        <a:fillRef idx="3">
          <a:scrgbClr r="0" g="0" b="0"/>
        </a:fillRef>
        <a:effectRef idx="2">
          <a:scrgbClr r="0" g="0" b="0"/>
        </a:effectRef>
        <a:fontRef idx="minor">
          <a:schemeClr val="lt1"/>
        </a:fontRef>
      </dsp:style>
    </dsp:sp>
    <dsp:sp modelId="{68B0335E-5224-4874-8170-FFD6894E0101}">
      <dsp:nvSpPr>
        <dsp:cNvPr id="0" name=""/>
        <dsp:cNvSpPr/>
      </dsp:nvSpPr>
      <dsp:spPr>
        <a:xfrm>
          <a:off x="1457835" y="0"/>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Handling Missing Values</a:t>
          </a:r>
        </a:p>
      </dsp:txBody>
      <dsp:txXfrm>
        <a:off x="1457835" y="0"/>
        <a:ext cx="8448165" cy="331001"/>
      </dsp:txXfrm>
    </dsp:sp>
    <dsp:sp modelId="{F3689139-D8C7-458A-8245-B360E8CEE1A4}">
      <dsp:nvSpPr>
        <dsp:cNvPr id="0" name=""/>
        <dsp:cNvSpPr/>
      </dsp:nvSpPr>
      <dsp:spPr>
        <a:xfrm>
          <a:off x="1457835" y="331001"/>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Numerical gaps were resolved using median imputation, and categorical gaps with the most frequent category, ensuring data completeness.</a:t>
          </a:r>
        </a:p>
      </dsp:txBody>
      <dsp:txXfrm>
        <a:off x="1457835" y="331001"/>
        <a:ext cx="8448165" cy="946834"/>
      </dsp:txXfrm>
    </dsp:sp>
    <dsp:sp modelId="{7ED8C088-3310-419B-A728-F31D32F68301}">
      <dsp:nvSpPr>
        <dsp:cNvPr id="0" name=""/>
        <dsp:cNvSpPr/>
      </dsp:nvSpPr>
      <dsp:spPr>
        <a:xfrm>
          <a:off x="0" y="1380062"/>
          <a:ext cx="1277835" cy="127783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33251" b="2"/>
          <a:stretch/>
        </a:blipFill>
        <a:ln>
          <a:noFill/>
        </a:ln>
        <a:effectLst/>
      </dsp:spPr>
      <dsp:style>
        <a:lnRef idx="0">
          <a:scrgbClr r="0" g="0" b="0"/>
        </a:lnRef>
        <a:fillRef idx="3">
          <a:scrgbClr r="0" g="0" b="0"/>
        </a:fillRef>
        <a:effectRef idx="2">
          <a:scrgbClr r="0" g="0" b="0"/>
        </a:effectRef>
        <a:fontRef idx="minor">
          <a:schemeClr val="lt1"/>
        </a:fontRef>
      </dsp:style>
    </dsp:sp>
    <dsp:sp modelId="{D5F825DC-D2C6-4128-8A41-C019F520FE69}">
      <dsp:nvSpPr>
        <dsp:cNvPr id="0" name=""/>
        <dsp:cNvSpPr/>
      </dsp:nvSpPr>
      <dsp:spPr>
        <a:xfrm>
          <a:off x="1457835" y="1380062"/>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Feature Transformation</a:t>
          </a:r>
        </a:p>
      </dsp:txBody>
      <dsp:txXfrm>
        <a:off x="1457835" y="1380062"/>
        <a:ext cx="8448165" cy="331001"/>
      </dsp:txXfrm>
    </dsp:sp>
    <dsp:sp modelId="{968D48A4-A216-47A5-A587-6AD05D558BC7}">
      <dsp:nvSpPr>
        <dsp:cNvPr id="0" name=""/>
        <dsp:cNvSpPr/>
      </dsp:nvSpPr>
      <dsp:spPr>
        <a:xfrm>
          <a:off x="1457835" y="1711063"/>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Numerical features were standardized for uniformity, while categorical variables underwent one-hot encoding for model compatibility.</a:t>
          </a:r>
        </a:p>
      </dsp:txBody>
      <dsp:txXfrm>
        <a:off x="1457835" y="1711063"/>
        <a:ext cx="8448165" cy="946834"/>
      </dsp:txXfrm>
    </dsp:sp>
    <dsp:sp modelId="{7B70C3D4-B1EB-41EB-9197-01612C9DCBDC}">
      <dsp:nvSpPr>
        <dsp:cNvPr id="0" name=""/>
        <dsp:cNvSpPr/>
      </dsp:nvSpPr>
      <dsp:spPr>
        <a:xfrm>
          <a:off x="0" y="2760125"/>
          <a:ext cx="1277835" cy="127783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8166" r="19329" b="-7"/>
          <a:stretch/>
        </a:blipFill>
        <a:ln>
          <a:noFill/>
        </a:ln>
        <a:effectLst/>
      </dsp:spPr>
      <dsp:style>
        <a:lnRef idx="0">
          <a:scrgbClr r="0" g="0" b="0"/>
        </a:lnRef>
        <a:fillRef idx="3">
          <a:scrgbClr r="0" g="0" b="0"/>
        </a:fillRef>
        <a:effectRef idx="2">
          <a:scrgbClr r="0" g="0" b="0"/>
        </a:effectRef>
        <a:fontRef idx="minor">
          <a:schemeClr val="lt1"/>
        </a:fontRef>
      </dsp:style>
    </dsp:sp>
    <dsp:sp modelId="{3CB502D5-8363-41D2-8922-584DDF7BF852}">
      <dsp:nvSpPr>
        <dsp:cNvPr id="0" name=""/>
        <dsp:cNvSpPr/>
      </dsp:nvSpPr>
      <dsp:spPr>
        <a:xfrm>
          <a:off x="1457835" y="2760125"/>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Pipeline Workflow</a:t>
          </a:r>
        </a:p>
      </dsp:txBody>
      <dsp:txXfrm>
        <a:off x="1457835" y="2760125"/>
        <a:ext cx="8448165" cy="331001"/>
      </dsp:txXfrm>
    </dsp:sp>
    <dsp:sp modelId="{5F6F9E15-0B19-49A4-BEB7-BEE0AFC5E592}">
      <dsp:nvSpPr>
        <dsp:cNvPr id="0" name=""/>
        <dsp:cNvSpPr/>
      </dsp:nvSpPr>
      <dsp:spPr>
        <a:xfrm>
          <a:off x="1457835" y="3091126"/>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pipeline was used to orchestrate preprocessing steps, maintaining workflow consistency and preventing data leakage during modeling.</a:t>
          </a:r>
        </a:p>
      </dsp:txBody>
      <dsp:txXfrm>
        <a:off x="1457835" y="3091126"/>
        <a:ext cx="8448165" cy="9468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4D8E2-A35A-4A58-BEDF-9F929A2397D8}">
      <dsp:nvSpPr>
        <dsp:cNvPr id="0" name=""/>
        <dsp:cNvSpPr/>
      </dsp:nvSpPr>
      <dsp:spPr>
        <a:xfrm>
          <a:off x="0" y="0"/>
          <a:ext cx="1277835" cy="127783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478" r="19019" b="-5"/>
          <a:stretch/>
        </a:blipFill>
        <a:ln>
          <a:noFill/>
        </a:ln>
        <a:effectLst/>
      </dsp:spPr>
      <dsp:style>
        <a:lnRef idx="0">
          <a:scrgbClr r="0" g="0" b="0"/>
        </a:lnRef>
        <a:fillRef idx="3">
          <a:scrgbClr r="0" g="0" b="0"/>
        </a:fillRef>
        <a:effectRef idx="2">
          <a:scrgbClr r="0" g="0" b="0"/>
        </a:effectRef>
        <a:fontRef idx="minor">
          <a:schemeClr val="lt1"/>
        </a:fontRef>
      </dsp:style>
    </dsp:sp>
    <dsp:sp modelId="{17978BF1-0B51-4507-9AD0-915AFD96E5BD}">
      <dsp:nvSpPr>
        <dsp:cNvPr id="0" name=""/>
        <dsp:cNvSpPr/>
      </dsp:nvSpPr>
      <dsp:spPr>
        <a:xfrm>
          <a:off x="1457835" y="0"/>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Hyperparameter Tuning Process</a:t>
          </a:r>
        </a:p>
      </dsp:txBody>
      <dsp:txXfrm>
        <a:off x="1457835" y="0"/>
        <a:ext cx="8448165" cy="331001"/>
      </dsp:txXfrm>
    </dsp:sp>
    <dsp:sp modelId="{7CFBB418-86F3-424A-9F83-D74088EF45ED}">
      <dsp:nvSpPr>
        <dsp:cNvPr id="0" name=""/>
        <dsp:cNvSpPr/>
      </dsp:nvSpPr>
      <dsp:spPr>
        <a:xfrm>
          <a:off x="1457835" y="331001"/>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RandomizedSearchCV was used to explore different model parameters systematically, aiming for optimal settings.</a:t>
          </a:r>
        </a:p>
      </dsp:txBody>
      <dsp:txXfrm>
        <a:off x="1457835" y="331001"/>
        <a:ext cx="8448165" cy="946834"/>
      </dsp:txXfrm>
    </dsp:sp>
    <dsp:sp modelId="{BCF1C9BC-9E11-4470-90B1-13D15990AD73}">
      <dsp:nvSpPr>
        <dsp:cNvPr id="0" name=""/>
        <dsp:cNvSpPr/>
      </dsp:nvSpPr>
      <dsp:spPr>
        <a:xfrm>
          <a:off x="0" y="1380062"/>
          <a:ext cx="1277835" cy="127783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50746" b="-7"/>
          <a:stretch/>
        </a:blipFill>
        <a:ln>
          <a:noFill/>
        </a:ln>
        <a:effectLst/>
      </dsp:spPr>
      <dsp:style>
        <a:lnRef idx="0">
          <a:scrgbClr r="0" g="0" b="0"/>
        </a:lnRef>
        <a:fillRef idx="3">
          <a:scrgbClr r="0" g="0" b="0"/>
        </a:fillRef>
        <a:effectRef idx="2">
          <a:scrgbClr r="0" g="0" b="0"/>
        </a:effectRef>
        <a:fontRef idx="minor">
          <a:schemeClr val="lt1"/>
        </a:fontRef>
      </dsp:style>
    </dsp:sp>
    <dsp:sp modelId="{304D02D1-932A-4AF1-B0B6-78FC67107E13}">
      <dsp:nvSpPr>
        <dsp:cNvPr id="0" name=""/>
        <dsp:cNvSpPr/>
      </dsp:nvSpPr>
      <dsp:spPr>
        <a:xfrm>
          <a:off x="1457835" y="1380062"/>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ROC-AUC Metric Guidance</a:t>
          </a:r>
        </a:p>
      </dsp:txBody>
      <dsp:txXfrm>
        <a:off x="1457835" y="1380062"/>
        <a:ext cx="8448165" cy="331001"/>
      </dsp:txXfrm>
    </dsp:sp>
    <dsp:sp modelId="{2B94052C-B71C-471F-92B8-C5E27A41A63D}">
      <dsp:nvSpPr>
        <dsp:cNvPr id="0" name=""/>
        <dsp:cNvSpPr/>
      </dsp:nvSpPr>
      <dsp:spPr>
        <a:xfrm>
          <a:off x="1457835" y="1711063"/>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The ROC-AUC metric directed the search, enhancing the model’s ability to distinguish heart disease cases.</a:t>
          </a:r>
        </a:p>
      </dsp:txBody>
      <dsp:txXfrm>
        <a:off x="1457835" y="1711063"/>
        <a:ext cx="8448165" cy="946834"/>
      </dsp:txXfrm>
    </dsp:sp>
    <dsp:sp modelId="{3316F8B4-4BF7-4E73-9815-D69911DBFABD}">
      <dsp:nvSpPr>
        <dsp:cNvPr id="0" name=""/>
        <dsp:cNvSpPr/>
      </dsp:nvSpPr>
      <dsp:spPr>
        <a:xfrm>
          <a:off x="0" y="2760125"/>
          <a:ext cx="1277835" cy="127783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4253" r="-14" b="-13"/>
          <a:stretch/>
        </a:blipFill>
        <a:ln>
          <a:noFill/>
        </a:ln>
        <a:effectLst/>
      </dsp:spPr>
      <dsp:style>
        <a:lnRef idx="0">
          <a:scrgbClr r="0" g="0" b="0"/>
        </a:lnRef>
        <a:fillRef idx="3">
          <a:scrgbClr r="0" g="0" b="0"/>
        </a:fillRef>
        <a:effectRef idx="2">
          <a:scrgbClr r="0" g="0" b="0"/>
        </a:effectRef>
        <a:fontRef idx="minor">
          <a:schemeClr val="lt1"/>
        </a:fontRef>
      </dsp:style>
    </dsp:sp>
    <dsp:sp modelId="{4A79D8D3-B9E7-46B8-9A70-E2474155604D}">
      <dsp:nvSpPr>
        <dsp:cNvPr id="0" name=""/>
        <dsp:cNvSpPr/>
      </dsp:nvSpPr>
      <dsp:spPr>
        <a:xfrm>
          <a:off x="1457835" y="2760125"/>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Maximized Predictive Accuracy</a:t>
          </a:r>
        </a:p>
      </dsp:txBody>
      <dsp:txXfrm>
        <a:off x="1457835" y="2760125"/>
        <a:ext cx="8448165" cy="331001"/>
      </dsp:txXfrm>
    </dsp:sp>
    <dsp:sp modelId="{1ECF8C7B-A8FB-420E-BF03-33016BD3EC4B}">
      <dsp:nvSpPr>
        <dsp:cNvPr id="0" name=""/>
        <dsp:cNvSpPr/>
      </dsp:nvSpPr>
      <dsp:spPr>
        <a:xfrm>
          <a:off x="1457835" y="3091126"/>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Parameter selection aimed to maximize accuracy and effectiveness for reliable patient predictions.</a:t>
          </a:r>
        </a:p>
      </dsp:txBody>
      <dsp:txXfrm>
        <a:off x="1457835" y="3091126"/>
        <a:ext cx="8448165" cy="9468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4D9BA-AB72-4418-AA37-AA2762152FD1}">
      <dsp:nvSpPr>
        <dsp:cNvPr id="0" name=""/>
        <dsp:cNvSpPr/>
      </dsp:nvSpPr>
      <dsp:spPr>
        <a:xfrm>
          <a:off x="0" y="0"/>
          <a:ext cx="1277835" cy="127783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1938" r="11809" b="-5"/>
          <a:stretch/>
        </a:blipFill>
        <a:ln>
          <a:noFill/>
        </a:ln>
        <a:effectLst/>
      </dsp:spPr>
      <dsp:style>
        <a:lnRef idx="0">
          <a:scrgbClr r="0" g="0" b="0"/>
        </a:lnRef>
        <a:fillRef idx="3">
          <a:scrgbClr r="0" g="0" b="0"/>
        </a:fillRef>
        <a:effectRef idx="2">
          <a:scrgbClr r="0" g="0" b="0"/>
        </a:effectRef>
        <a:fontRef idx="minor">
          <a:schemeClr val="lt1"/>
        </a:fontRef>
      </dsp:style>
    </dsp:sp>
    <dsp:sp modelId="{8F5210CD-7893-472E-91B0-6DE17257A515}">
      <dsp:nvSpPr>
        <dsp:cNvPr id="0" name=""/>
        <dsp:cNvSpPr/>
      </dsp:nvSpPr>
      <dsp:spPr>
        <a:xfrm>
          <a:off x="1457835" y="0"/>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Machine Learning for Prediction</a:t>
          </a:r>
        </a:p>
      </dsp:txBody>
      <dsp:txXfrm>
        <a:off x="1457835" y="0"/>
        <a:ext cx="8448165" cy="331001"/>
      </dsp:txXfrm>
    </dsp:sp>
    <dsp:sp modelId="{9CACBD68-2902-45E8-ACC6-43B4521D3439}">
      <dsp:nvSpPr>
        <dsp:cNvPr id="0" name=""/>
        <dsp:cNvSpPr/>
      </dsp:nvSpPr>
      <dsp:spPr>
        <a:xfrm>
          <a:off x="1457835" y="331001"/>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Machine learning models can assess heart disease risk using routine patient data for improved prediction accuracy.</a:t>
          </a:r>
        </a:p>
      </dsp:txBody>
      <dsp:txXfrm>
        <a:off x="1457835" y="331001"/>
        <a:ext cx="8448165" cy="946834"/>
      </dsp:txXfrm>
    </dsp:sp>
    <dsp:sp modelId="{FBAD0BE3-B611-4C00-8796-26AFCEED72E8}">
      <dsp:nvSpPr>
        <dsp:cNvPr id="0" name=""/>
        <dsp:cNvSpPr/>
      </dsp:nvSpPr>
      <dsp:spPr>
        <a:xfrm>
          <a:off x="0" y="1380062"/>
          <a:ext cx="1277835" cy="127783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1044" r="26205" b="-1"/>
          <a:stretch/>
        </a:blipFill>
        <a:ln>
          <a:noFill/>
        </a:ln>
        <a:effectLst/>
      </dsp:spPr>
      <dsp:style>
        <a:lnRef idx="0">
          <a:scrgbClr r="0" g="0" b="0"/>
        </a:lnRef>
        <a:fillRef idx="3">
          <a:scrgbClr r="0" g="0" b="0"/>
        </a:fillRef>
        <a:effectRef idx="2">
          <a:scrgbClr r="0" g="0" b="0"/>
        </a:effectRef>
        <a:fontRef idx="minor">
          <a:schemeClr val="lt1"/>
        </a:fontRef>
      </dsp:style>
    </dsp:sp>
    <dsp:sp modelId="{C6EBBA84-0AC3-41A5-82AB-0BC4B0C38132}">
      <dsp:nvSpPr>
        <dsp:cNvPr id="0" name=""/>
        <dsp:cNvSpPr/>
      </dsp:nvSpPr>
      <dsp:spPr>
        <a:xfrm>
          <a:off x="1457835" y="1380062"/>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Model Optimization Strategies</a:t>
          </a:r>
        </a:p>
      </dsp:txBody>
      <dsp:txXfrm>
        <a:off x="1457835" y="1380062"/>
        <a:ext cx="8448165" cy="331001"/>
      </dsp:txXfrm>
    </dsp:sp>
    <dsp:sp modelId="{A60F1BC7-F86A-4859-B39B-806626594DFE}">
      <dsp:nvSpPr>
        <dsp:cNvPr id="0" name=""/>
        <dsp:cNvSpPr/>
      </dsp:nvSpPr>
      <dsp:spPr>
        <a:xfrm>
          <a:off x="1457835" y="1711063"/>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Robust preprocessing, model comparison, and hyperparameter tuning result in strong, reliable performance suited for healthcare.</a:t>
          </a:r>
        </a:p>
      </dsp:txBody>
      <dsp:txXfrm>
        <a:off x="1457835" y="1711063"/>
        <a:ext cx="8448165" cy="946834"/>
      </dsp:txXfrm>
    </dsp:sp>
    <dsp:sp modelId="{F2F6C79C-BDAD-4638-8CF4-1FF09EC8758B}">
      <dsp:nvSpPr>
        <dsp:cNvPr id="0" name=""/>
        <dsp:cNvSpPr/>
      </dsp:nvSpPr>
      <dsp:spPr>
        <a:xfrm>
          <a:off x="0" y="2760125"/>
          <a:ext cx="1277835" cy="127783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7633" r="16114" b="-5"/>
          <a:stretch/>
        </a:blipFill>
        <a:ln>
          <a:noFill/>
        </a:ln>
        <a:effectLst/>
      </dsp:spPr>
      <dsp:style>
        <a:lnRef idx="0">
          <a:scrgbClr r="0" g="0" b="0"/>
        </a:lnRef>
        <a:fillRef idx="3">
          <a:scrgbClr r="0" g="0" b="0"/>
        </a:fillRef>
        <a:effectRef idx="2">
          <a:scrgbClr r="0" g="0" b="0"/>
        </a:effectRef>
        <a:fontRef idx="minor">
          <a:schemeClr val="lt1"/>
        </a:fontRef>
      </dsp:style>
    </dsp:sp>
    <dsp:sp modelId="{19AD72CC-0D2C-40D4-81B3-54C0C973FBDA}">
      <dsp:nvSpPr>
        <dsp:cNvPr id="0" name=""/>
        <dsp:cNvSpPr/>
      </dsp:nvSpPr>
      <dsp:spPr>
        <a:xfrm>
          <a:off x="1457835" y="2760125"/>
          <a:ext cx="8448165" cy="33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Future Improvements and Integration</a:t>
          </a:r>
        </a:p>
      </dsp:txBody>
      <dsp:txXfrm>
        <a:off x="1457835" y="2760125"/>
        <a:ext cx="8448165" cy="331001"/>
      </dsp:txXfrm>
    </dsp:sp>
    <dsp:sp modelId="{AA730540-186E-45EF-B2C4-7D8DD04FEECC}">
      <dsp:nvSpPr>
        <dsp:cNvPr id="0" name=""/>
        <dsp:cNvSpPr/>
      </dsp:nvSpPr>
      <dsp:spPr>
        <a:xfrm>
          <a:off x="1457835" y="3091126"/>
          <a:ext cx="8448165" cy="946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Future work will add clinical variables, ensure external validation, and embed the model in clinical decision support systems.</a:t>
          </a:r>
        </a:p>
      </dsp:txBody>
      <dsp:txXfrm>
        <a:off x="1457835" y="3091126"/>
        <a:ext cx="8448165" cy="946834"/>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269FE-FF11-42A9-A781-8AB9E4B44BF6}"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CDD718-35AD-405E-9A2A-44D4F444192A}" type="slidenum">
              <a:rPr lang="en-US" smtClean="0"/>
              <a:t>‹#›</a:t>
            </a:fld>
            <a:endParaRPr lang="en-US"/>
          </a:p>
        </p:txBody>
      </p:sp>
    </p:spTree>
    <p:extLst>
      <p:ext uri="{BB962C8B-B14F-4D97-AF65-F5344CB8AC3E}">
        <p14:creationId xmlns:p14="http://schemas.microsoft.com/office/powerpoint/2010/main" val="1785368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AI-generated</a:t>
            </a:r>
          </a:p>
        </p:txBody>
      </p:sp>
      <p:sp>
        <p:nvSpPr>
          <p:cNvPr id="4" name="Slide Number Placeholder 3"/>
          <p:cNvSpPr>
            <a:spLocks noGrp="1"/>
          </p:cNvSpPr>
          <p:nvPr>
            <p:ph type="sldNum" sz="quarter" idx="5"/>
          </p:nvPr>
        </p:nvSpPr>
        <p:spPr/>
        <p:txBody>
          <a:bodyPr/>
          <a:lstStyle/>
          <a:p>
            <a:fld id="{7E39EE51-D60A-4141-9808-7CD82A137E59}" type="slidenum">
              <a:rPr lang="en-US" smtClean="0"/>
              <a:t>1</a:t>
            </a:fld>
            <a:endParaRPr lang="en-US"/>
          </a:p>
        </p:txBody>
      </p:sp>
    </p:spTree>
    <p:extLst>
      <p:ext uri="{BB962C8B-B14F-4D97-AF65-F5344CB8AC3E}">
        <p14:creationId xmlns:p14="http://schemas.microsoft.com/office/powerpoint/2010/main" val="2481871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Heart disease remains the leading cause of death globally, accounting for approximately 17.9 million deaths annually according to the WHO. It encompasses a range of conditions such as coronary artery disease, heart attacks, and heart failure. The economic burden is substantial, with billions in healthcare costs and lost productivity. Understanding its risk factors is critical for preventive measures and reducing mortality. 
 Image source: AI-generated</a:t>
            </a:r>
          </a:p>
        </p:txBody>
      </p:sp>
      <p:sp>
        <p:nvSpPr>
          <p:cNvPr id="4" name="Slide Number Placeholder 3"/>
          <p:cNvSpPr>
            <a:spLocks noGrp="1"/>
          </p:cNvSpPr>
          <p:nvPr>
            <p:ph type="sldNum" sz="quarter" idx="5"/>
          </p:nvPr>
        </p:nvSpPr>
        <p:spPr/>
        <p:txBody>
          <a:bodyPr/>
          <a:lstStyle/>
          <a:p>
            <a:fld id="{7E39EE51-D60A-4141-9808-7CD82A137E59}" type="slidenum">
              <a:rPr lang="en-US" smtClean="0"/>
              <a:t>2</a:t>
            </a:fld>
            <a:endParaRPr lang="en-US"/>
          </a:p>
        </p:txBody>
      </p:sp>
    </p:spTree>
    <p:extLst>
      <p:ext uri="{BB962C8B-B14F-4D97-AF65-F5344CB8AC3E}">
        <p14:creationId xmlns:p14="http://schemas.microsoft.com/office/powerpoint/2010/main" val="3119487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Image source: AI-generated</a:t>
            </a:r>
          </a:p>
        </p:txBody>
      </p:sp>
      <p:sp>
        <p:nvSpPr>
          <p:cNvPr id="4" name="Slide Number Placeholder 3"/>
          <p:cNvSpPr>
            <a:spLocks noGrp="1"/>
          </p:cNvSpPr>
          <p:nvPr>
            <p:ph type="sldNum" sz="quarter" idx="5"/>
          </p:nvPr>
        </p:nvSpPr>
        <p:spPr/>
        <p:txBody>
          <a:bodyPr/>
          <a:lstStyle/>
          <a:p>
            <a:fld id="{7E39EE51-D60A-4141-9808-7CD82A137E59}" type="slidenum">
              <a:rPr lang="en-US" smtClean="0"/>
              <a:t>3</a:t>
            </a:fld>
            <a:endParaRPr lang="en-US"/>
          </a:p>
        </p:txBody>
      </p:sp>
    </p:spTree>
    <p:extLst>
      <p:ext uri="{BB962C8B-B14F-4D97-AF65-F5344CB8AC3E}">
        <p14:creationId xmlns:p14="http://schemas.microsoft.com/office/powerpoint/2010/main" val="3797687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Microsoft 365 content library
The objective of this project is to develop and evaluate a machine learning–based classification model to predict the presence of heart disease using patient demographic and clinical attributes. This model aims to support healthcare professionals by identifying high-risk individuals and helping prioritize preventive care efforts for better outcomes.</a:t>
            </a:r>
          </a:p>
        </p:txBody>
      </p:sp>
      <p:sp>
        <p:nvSpPr>
          <p:cNvPr id="4" name="Slide Number Placeholder 3"/>
          <p:cNvSpPr>
            <a:spLocks noGrp="1"/>
          </p:cNvSpPr>
          <p:nvPr>
            <p:ph type="sldNum" sz="quarter" idx="5"/>
          </p:nvPr>
        </p:nvSpPr>
        <p:spPr/>
        <p:txBody>
          <a:bodyPr/>
          <a:lstStyle/>
          <a:p>
            <a:fld id="{ADCDD718-35AD-405E-9A2A-44D4F444192A}" type="slidenum">
              <a:rPr lang="en-US" smtClean="0"/>
              <a:t>4</a:t>
            </a:fld>
            <a:endParaRPr lang="en-US"/>
          </a:p>
        </p:txBody>
      </p:sp>
    </p:spTree>
    <p:extLst>
      <p:ext uri="{BB962C8B-B14F-4D97-AF65-F5344CB8AC3E}">
        <p14:creationId xmlns:p14="http://schemas.microsoft.com/office/powerpoint/2010/main" val="769230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Features and Variables Within the Dataset, Data Preprocessing and Cleaning Steps, Handling Missing or Imbalanced Data</a:t>
            </a:r>
          </a:p>
        </p:txBody>
      </p:sp>
      <p:sp>
        <p:nvSpPr>
          <p:cNvPr id="4" name="Slide Number Placeholder 3"/>
          <p:cNvSpPr>
            <a:spLocks noGrp="1"/>
          </p:cNvSpPr>
          <p:nvPr>
            <p:ph type="sldNum" sz="quarter" idx="5"/>
          </p:nvPr>
        </p:nvSpPr>
        <p:spPr/>
        <p:txBody>
          <a:bodyPr/>
          <a:lstStyle/>
          <a:p>
            <a:fld id="{7E39EE51-D60A-4141-9808-7CD82A137E59}" type="slidenum">
              <a:rPr lang="en-US" smtClean="0"/>
              <a:t>5</a:t>
            </a:fld>
            <a:endParaRPr lang="en-US"/>
          </a:p>
        </p:txBody>
      </p:sp>
    </p:spTree>
    <p:extLst>
      <p:ext uri="{BB962C8B-B14F-4D97-AF65-F5344CB8AC3E}">
        <p14:creationId xmlns:p14="http://schemas.microsoft.com/office/powerpoint/2010/main" val="2203949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typically includes demographic features (age, sex), clinical variables (blood pressure, cholesterol), diagnostic indicators (EKG results, chest pain type) and target labels (presence or absence of heart disease). Understanding the distribution and relationships among these variables is fundamental to model development. 
 Image source: AI-generated</a:t>
            </a:r>
          </a:p>
        </p:txBody>
      </p:sp>
      <p:sp>
        <p:nvSpPr>
          <p:cNvPr id="4" name="Slide Number Placeholder 3"/>
          <p:cNvSpPr>
            <a:spLocks noGrp="1"/>
          </p:cNvSpPr>
          <p:nvPr>
            <p:ph type="sldNum" sz="quarter" idx="5"/>
          </p:nvPr>
        </p:nvSpPr>
        <p:spPr/>
        <p:txBody>
          <a:bodyPr/>
          <a:lstStyle/>
          <a:p>
            <a:fld id="{7E39EE51-D60A-4141-9808-7CD82A137E59}" type="slidenum">
              <a:rPr lang="en-US" smtClean="0"/>
              <a:t>6</a:t>
            </a:fld>
            <a:endParaRPr lang="en-US"/>
          </a:p>
        </p:txBody>
      </p:sp>
    </p:spTree>
    <p:extLst>
      <p:ext uri="{BB962C8B-B14F-4D97-AF65-F5344CB8AC3E}">
        <p14:creationId xmlns:p14="http://schemas.microsoft.com/office/powerpoint/2010/main" val="1851899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Exploratory Data Analysis (EDA) was performed to grasp dataset structure and features. Bar charts revealed target variable distribution, while histograms and box plots highlighted numeric feature trends and outliers. Correlation heatmaps and stacked bar charts uncovered relationships among variables, guiding both preprocessing and model selection steps.</a:t>
            </a:r>
          </a:p>
        </p:txBody>
      </p:sp>
      <p:sp>
        <p:nvSpPr>
          <p:cNvPr id="4" name="Slide Number Placeholder 3"/>
          <p:cNvSpPr>
            <a:spLocks noGrp="1"/>
          </p:cNvSpPr>
          <p:nvPr>
            <p:ph type="sldNum" sz="quarter" idx="5"/>
          </p:nvPr>
        </p:nvSpPr>
        <p:spPr/>
        <p:txBody>
          <a:bodyPr/>
          <a:lstStyle/>
          <a:p>
            <a:fld id="{ADCDD718-35AD-405E-9A2A-44D4F444192A}" type="slidenum">
              <a:rPr lang="en-US" smtClean="0"/>
              <a:t>7</a:t>
            </a:fld>
            <a:endParaRPr lang="en-US"/>
          </a:p>
        </p:txBody>
      </p:sp>
    </p:spTree>
    <p:extLst>
      <p:ext uri="{BB962C8B-B14F-4D97-AF65-F5344CB8AC3E}">
        <p14:creationId xmlns:p14="http://schemas.microsoft.com/office/powerpoint/2010/main" val="581498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Missing numerical values were filled using median imputation, while categorical gaps were completed with the most frequent category. Numerical features were standardized for uniformity, and categorical variables were transformed through one-hot encoding. All these steps were orchestrated within a pipeline, ensuring a consistent workflow and preventing data leakage throughout the modeling process.</a:t>
            </a:r>
          </a:p>
        </p:txBody>
      </p:sp>
      <p:sp>
        <p:nvSpPr>
          <p:cNvPr id="4" name="Slide Number Placeholder 3"/>
          <p:cNvSpPr>
            <a:spLocks noGrp="1"/>
          </p:cNvSpPr>
          <p:nvPr>
            <p:ph type="sldNum" sz="quarter" idx="5"/>
          </p:nvPr>
        </p:nvSpPr>
        <p:spPr/>
        <p:txBody>
          <a:bodyPr/>
          <a:lstStyle/>
          <a:p>
            <a:fld id="{ADCDD718-35AD-405E-9A2A-44D4F444192A}" type="slidenum">
              <a:rPr lang="en-US" smtClean="0"/>
              <a:t>8</a:t>
            </a:fld>
            <a:endParaRPr lang="en-US"/>
          </a:p>
        </p:txBody>
      </p:sp>
    </p:spTree>
    <p:extLst>
      <p:ext uri="{BB962C8B-B14F-4D97-AF65-F5344CB8AC3E}">
        <p14:creationId xmlns:p14="http://schemas.microsoft.com/office/powerpoint/2010/main" val="690347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Selecting Appropriate Algorithms (E.g., Logistic Regression, Decision Trees), Training, Validation, and Testing Procedures, Evaluating Model Performance Using Accuracy, Sensitivity, and Specificity</a:t>
            </a:r>
          </a:p>
        </p:txBody>
      </p:sp>
      <p:sp>
        <p:nvSpPr>
          <p:cNvPr id="4" name="Slide Number Placeholder 3"/>
          <p:cNvSpPr>
            <a:spLocks noGrp="1"/>
          </p:cNvSpPr>
          <p:nvPr>
            <p:ph type="sldNum" sz="quarter" idx="5"/>
          </p:nvPr>
        </p:nvSpPr>
        <p:spPr/>
        <p:txBody>
          <a:bodyPr/>
          <a:lstStyle/>
          <a:p>
            <a:fld id="{7E39EE51-D60A-4141-9808-7CD82A137E59}" type="slidenum">
              <a:rPr lang="en-US" smtClean="0"/>
              <a:t>9</a:t>
            </a:fld>
            <a:endParaRPr lang="en-US"/>
          </a:p>
        </p:txBody>
      </p:sp>
    </p:spTree>
    <p:extLst>
      <p:ext uri="{BB962C8B-B14F-4D97-AF65-F5344CB8AC3E}">
        <p14:creationId xmlns:p14="http://schemas.microsoft.com/office/powerpoint/2010/main" val="4276596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Multiple machine learning models were trained, including Logistic Regression, SVC (RBF kernel), KNN, Random Forest, Gradient Boosting, and Histogram-Based Gradient Boosting. Stratified cross-validation ensured robust comparisons. Models were evaluated using accuracy, precision, recall, F1-score, and ROC-AUC, with ROC-AUC serving as the primary metric for performance assessment.</a:t>
            </a:r>
          </a:p>
        </p:txBody>
      </p:sp>
      <p:sp>
        <p:nvSpPr>
          <p:cNvPr id="4" name="Slide Number Placeholder 3"/>
          <p:cNvSpPr>
            <a:spLocks noGrp="1"/>
          </p:cNvSpPr>
          <p:nvPr>
            <p:ph type="sldNum" sz="quarter" idx="5"/>
          </p:nvPr>
        </p:nvSpPr>
        <p:spPr/>
        <p:txBody>
          <a:bodyPr/>
          <a:lstStyle/>
          <a:p>
            <a:fld id="{ADCDD718-35AD-405E-9A2A-44D4F444192A}" type="slidenum">
              <a:rPr lang="en-US" smtClean="0"/>
              <a:t>10</a:t>
            </a:fld>
            <a:endParaRPr lang="en-US"/>
          </a:p>
        </p:txBody>
      </p:sp>
    </p:spTree>
    <p:extLst>
      <p:ext uri="{BB962C8B-B14F-4D97-AF65-F5344CB8AC3E}">
        <p14:creationId xmlns:p14="http://schemas.microsoft.com/office/powerpoint/2010/main" val="468587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Hyperparameter tuning was conducted on the best model using RandomizedSearchCV. The ROC-AUC metric guided the search, ensuring enhanced discrimination between patients with and without heart disease. This process systematically explored parameter combinations to maximize the model’s predictive accuracy and overall effectiveness.</a:t>
            </a:r>
          </a:p>
        </p:txBody>
      </p:sp>
      <p:sp>
        <p:nvSpPr>
          <p:cNvPr id="4" name="Slide Number Placeholder 3"/>
          <p:cNvSpPr>
            <a:spLocks noGrp="1"/>
          </p:cNvSpPr>
          <p:nvPr>
            <p:ph type="sldNum" sz="quarter" idx="5"/>
          </p:nvPr>
        </p:nvSpPr>
        <p:spPr/>
        <p:txBody>
          <a:bodyPr/>
          <a:lstStyle/>
          <a:p>
            <a:fld id="{ADCDD718-35AD-405E-9A2A-44D4F444192A}" type="slidenum">
              <a:rPr lang="en-US" smtClean="0"/>
              <a:t>11</a:t>
            </a:fld>
            <a:endParaRPr lang="en-US"/>
          </a:p>
        </p:txBody>
      </p:sp>
    </p:spTree>
    <p:extLst>
      <p:ext uri="{BB962C8B-B14F-4D97-AF65-F5344CB8AC3E}">
        <p14:creationId xmlns:p14="http://schemas.microsoft.com/office/powerpoint/2010/main" val="676974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Threshold optimization is crucial in healthcare to minimize false negatives. The model's performance was evaluated at various probability thresholds, balancing recall and precision. Strategies included maximizing F1-score for balanced accuracy, using Youden’s J statistic to enhance sensitivity and specificity, and enforcing minimum recall constraints to ensure critical cases are identified.</a:t>
            </a:r>
          </a:p>
        </p:txBody>
      </p:sp>
      <p:sp>
        <p:nvSpPr>
          <p:cNvPr id="4" name="Slide Number Placeholder 3"/>
          <p:cNvSpPr>
            <a:spLocks noGrp="1"/>
          </p:cNvSpPr>
          <p:nvPr>
            <p:ph type="sldNum" sz="quarter" idx="5"/>
          </p:nvPr>
        </p:nvSpPr>
        <p:spPr/>
        <p:txBody>
          <a:bodyPr/>
          <a:lstStyle/>
          <a:p>
            <a:fld id="{ADCDD718-35AD-405E-9A2A-44D4F444192A}" type="slidenum">
              <a:rPr lang="en-US" smtClean="0"/>
              <a:t>12</a:t>
            </a:fld>
            <a:endParaRPr lang="en-US"/>
          </a:p>
        </p:txBody>
      </p:sp>
    </p:spTree>
    <p:extLst>
      <p:ext uri="{BB962C8B-B14F-4D97-AF65-F5344CB8AC3E}">
        <p14:creationId xmlns:p14="http://schemas.microsoft.com/office/powerpoint/2010/main" val="3500096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03E4D-4F7B-0733-A482-97BC18DB8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35CA8-EC40-E511-32B1-E9DA8A9BE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4209F-72CA-A588-B147-116C9360D9F1}"/>
              </a:ext>
            </a:extLst>
          </p:cNvPr>
          <p:cNvSpPr>
            <a:spLocks noGrp="1"/>
          </p:cNvSpPr>
          <p:nvPr>
            <p:ph type="body" idx="1"/>
          </p:nvPr>
        </p:nvSpPr>
        <p:spPr/>
        <p:txBody>
          <a:bodyPr/>
          <a:lstStyle/>
          <a:p>
            <a:r>
              <a:rPr lang="en-US"/>
              <a:t>Selecting Appropriate Algorithms (E.g., Logistic Regression, Decision Trees), Training, Validation, and Testing Procedures, Evaluating Model Performance Using Accuracy, Sensitivity, and Specificity</a:t>
            </a:r>
          </a:p>
        </p:txBody>
      </p:sp>
      <p:sp>
        <p:nvSpPr>
          <p:cNvPr id="4" name="Slide Number Placeholder 3">
            <a:extLst>
              <a:ext uri="{FF2B5EF4-FFF2-40B4-BE49-F238E27FC236}">
                <a16:creationId xmlns:a16="http://schemas.microsoft.com/office/drawing/2014/main" id="{50EC1C01-32D5-6A51-CB0B-E28D53E768CE}"/>
              </a:ext>
            </a:extLst>
          </p:cNvPr>
          <p:cNvSpPr>
            <a:spLocks noGrp="1"/>
          </p:cNvSpPr>
          <p:nvPr>
            <p:ph type="sldNum" sz="quarter" idx="5"/>
          </p:nvPr>
        </p:nvSpPr>
        <p:spPr/>
        <p:txBody>
          <a:bodyPr/>
          <a:lstStyle/>
          <a:p>
            <a:fld id="{7E39EE51-D60A-4141-9808-7CD82A137E59}" type="slidenum">
              <a:rPr lang="en-US" smtClean="0"/>
              <a:t>13</a:t>
            </a:fld>
            <a:endParaRPr lang="en-US"/>
          </a:p>
        </p:txBody>
      </p:sp>
    </p:spTree>
    <p:extLst>
      <p:ext uri="{BB962C8B-B14F-4D97-AF65-F5344CB8AC3E}">
        <p14:creationId xmlns:p14="http://schemas.microsoft.com/office/powerpoint/2010/main" val="250543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Among all evaluated models, the Support Vector Classifier with an RBF kernel delivered the highest ROC-AUC during cross-validation. It achieved balanced precision and recall, ensuring reliable predictions. Its strong F1-score highlights effective classification of both classes, outperforming tree-based and linear models in overall discrimination ability.</a:t>
            </a:r>
          </a:p>
        </p:txBody>
      </p:sp>
      <p:sp>
        <p:nvSpPr>
          <p:cNvPr id="4" name="Slide Number Placeholder 3"/>
          <p:cNvSpPr>
            <a:spLocks noGrp="1"/>
          </p:cNvSpPr>
          <p:nvPr>
            <p:ph type="sldNum" sz="quarter" idx="5"/>
          </p:nvPr>
        </p:nvSpPr>
        <p:spPr/>
        <p:txBody>
          <a:bodyPr/>
          <a:lstStyle/>
          <a:p>
            <a:fld id="{ADCDD718-35AD-405E-9A2A-44D4F444192A}" type="slidenum">
              <a:rPr lang="en-US" smtClean="0"/>
              <a:t>14</a:t>
            </a:fld>
            <a:endParaRPr lang="en-US"/>
          </a:p>
        </p:txBody>
      </p:sp>
    </p:spTree>
    <p:extLst>
      <p:ext uri="{BB962C8B-B14F-4D97-AF65-F5344CB8AC3E}">
        <p14:creationId xmlns:p14="http://schemas.microsoft.com/office/powerpoint/2010/main" val="1374984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The final SVC model, tuned for hyperparameters and thresholds, achieved notable improvements in recall while preserving acceptable precision—crucial for medical diagnostics. Key outcomes included a high ROC-AUC on test data, enhanced sensitivity in detecting heart disease cases, and a clear distinction between high-risk and low-risk patient groups.</a:t>
            </a:r>
          </a:p>
        </p:txBody>
      </p:sp>
      <p:sp>
        <p:nvSpPr>
          <p:cNvPr id="4" name="Slide Number Placeholder 3"/>
          <p:cNvSpPr>
            <a:spLocks noGrp="1"/>
          </p:cNvSpPr>
          <p:nvPr>
            <p:ph type="sldNum" sz="quarter" idx="5"/>
          </p:nvPr>
        </p:nvSpPr>
        <p:spPr/>
        <p:txBody>
          <a:bodyPr/>
          <a:lstStyle/>
          <a:p>
            <a:fld id="{ADCDD718-35AD-405E-9A2A-44D4F444192A}" type="slidenum">
              <a:rPr lang="en-US" smtClean="0"/>
              <a:t>15</a:t>
            </a:fld>
            <a:endParaRPr lang="en-US"/>
          </a:p>
        </p:txBody>
      </p:sp>
    </p:spTree>
    <p:extLst>
      <p:ext uri="{BB962C8B-B14F-4D97-AF65-F5344CB8AC3E}">
        <p14:creationId xmlns:p14="http://schemas.microsoft.com/office/powerpoint/2010/main" val="952973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Permutation importance analysis revealed the top clinical and demographic features influencing heart disease predictions. The most impactful factors align with established cardiovascular risk factors, validating the model’s findings. These insights enhance trust in the model and support its clinical relevance for effective healthcare decision-making.</a:t>
            </a:r>
          </a:p>
        </p:txBody>
      </p:sp>
      <p:sp>
        <p:nvSpPr>
          <p:cNvPr id="4" name="Slide Number Placeholder 3"/>
          <p:cNvSpPr>
            <a:spLocks noGrp="1"/>
          </p:cNvSpPr>
          <p:nvPr>
            <p:ph type="sldNum" sz="quarter" idx="5"/>
          </p:nvPr>
        </p:nvSpPr>
        <p:spPr/>
        <p:txBody>
          <a:bodyPr/>
          <a:lstStyle/>
          <a:p>
            <a:fld id="{ADCDD718-35AD-405E-9A2A-44D4F444192A}" type="slidenum">
              <a:rPr lang="en-US" smtClean="0"/>
              <a:t>16</a:t>
            </a:fld>
            <a:endParaRPr lang="en-US"/>
          </a:p>
        </p:txBody>
      </p:sp>
    </p:spTree>
    <p:extLst>
      <p:ext uri="{BB962C8B-B14F-4D97-AF65-F5344CB8AC3E}">
        <p14:creationId xmlns:p14="http://schemas.microsoft.com/office/powerpoint/2010/main" val="357255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Interpreting Model Predictions for Clinical Decision-Making, Strategies to Minimize Missed Diagnoses, Integrating Predictive Models Into Healthcare Workflows</a:t>
            </a:r>
          </a:p>
        </p:txBody>
      </p:sp>
      <p:sp>
        <p:nvSpPr>
          <p:cNvPr id="4" name="Slide Number Placeholder 3"/>
          <p:cNvSpPr>
            <a:spLocks noGrp="1"/>
          </p:cNvSpPr>
          <p:nvPr>
            <p:ph type="sldNum" sz="quarter" idx="5"/>
          </p:nvPr>
        </p:nvSpPr>
        <p:spPr/>
        <p:txBody>
          <a:bodyPr/>
          <a:lstStyle/>
          <a:p>
            <a:fld id="{7E39EE51-D60A-4141-9808-7CD82A137E59}" type="slidenum">
              <a:rPr lang="en-US" smtClean="0"/>
              <a:t>17</a:t>
            </a:fld>
            <a:endParaRPr lang="en-US"/>
          </a:p>
        </p:txBody>
      </p:sp>
    </p:spTree>
    <p:extLst>
      <p:ext uri="{BB962C8B-B14F-4D97-AF65-F5344CB8AC3E}">
        <p14:creationId xmlns:p14="http://schemas.microsoft.com/office/powerpoint/2010/main" val="2811049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The proposed model enables earlier identification of high-risk patients, which supports timely interventions. It improves allocation of preventive care resources, directing support where it is most needed. Additionally, the model reduces the likelihood of missed diagnoses and enhances clinical decision support, leading to better overall patient outcomes.</a:t>
            </a:r>
          </a:p>
        </p:txBody>
      </p:sp>
      <p:sp>
        <p:nvSpPr>
          <p:cNvPr id="4" name="Slide Number Placeholder 3"/>
          <p:cNvSpPr>
            <a:spLocks noGrp="1"/>
          </p:cNvSpPr>
          <p:nvPr>
            <p:ph type="sldNum" sz="quarter" idx="5"/>
          </p:nvPr>
        </p:nvSpPr>
        <p:spPr/>
        <p:txBody>
          <a:bodyPr/>
          <a:lstStyle/>
          <a:p>
            <a:fld id="{ADCDD718-35AD-405E-9A2A-44D4F444192A}" type="slidenum">
              <a:rPr lang="en-US" smtClean="0"/>
              <a:t>18</a:t>
            </a:fld>
            <a:endParaRPr lang="en-US"/>
          </a:p>
        </p:txBody>
      </p:sp>
    </p:spTree>
    <p:extLst>
      <p:ext uri="{BB962C8B-B14F-4D97-AF65-F5344CB8AC3E}">
        <p14:creationId xmlns:p14="http://schemas.microsoft.com/office/powerpoint/2010/main" val="1056158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Microsoft 365 content library
This project shows machine learning can predict heart disease risk with routine patient data. Through robust preprocessing, model comparison, and hyperparameter tuning, the model achieves strong performance tailored to healthcare needs. Future work includes adding clinical variables, external validation, and integrating the model into clinical decision support systems.</a:t>
            </a:r>
          </a:p>
        </p:txBody>
      </p:sp>
      <p:sp>
        <p:nvSpPr>
          <p:cNvPr id="4" name="Slide Number Placeholder 3"/>
          <p:cNvSpPr>
            <a:spLocks noGrp="1"/>
          </p:cNvSpPr>
          <p:nvPr>
            <p:ph type="sldNum" sz="quarter" idx="5"/>
          </p:nvPr>
        </p:nvSpPr>
        <p:spPr/>
        <p:txBody>
          <a:bodyPr/>
          <a:lstStyle/>
          <a:p>
            <a:fld id="{ADCDD718-35AD-405E-9A2A-44D4F444192A}" type="slidenum">
              <a:rPr lang="en-US" smtClean="0"/>
              <a:t>19</a:t>
            </a:fld>
            <a:endParaRPr lang="en-US"/>
          </a:p>
        </p:txBody>
      </p:sp>
    </p:spTree>
    <p:extLst>
      <p:ext uri="{BB962C8B-B14F-4D97-AF65-F5344CB8AC3E}">
        <p14:creationId xmlns:p14="http://schemas.microsoft.com/office/powerpoint/2010/main" val="3119663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Ensuring Fairness and Transparency in Predictions, Patient Privacy and Data Security, Ongoing Model Improvement and Adaptation to Evolving Clinical Needs</a:t>
            </a:r>
          </a:p>
        </p:txBody>
      </p:sp>
      <p:sp>
        <p:nvSpPr>
          <p:cNvPr id="4" name="Slide Number Placeholder 3"/>
          <p:cNvSpPr>
            <a:spLocks noGrp="1"/>
          </p:cNvSpPr>
          <p:nvPr>
            <p:ph type="sldNum" sz="quarter" idx="5"/>
          </p:nvPr>
        </p:nvSpPr>
        <p:spPr/>
        <p:txBody>
          <a:bodyPr/>
          <a:lstStyle/>
          <a:p>
            <a:fld id="{7E39EE51-D60A-4141-9808-7CD82A137E59}" type="slidenum">
              <a:rPr lang="en-US" smtClean="0"/>
              <a:t>20</a:t>
            </a:fld>
            <a:endParaRPr lang="en-US"/>
          </a:p>
        </p:txBody>
      </p:sp>
    </p:spTree>
    <p:extLst>
      <p:ext uri="{BB962C8B-B14F-4D97-AF65-F5344CB8AC3E}">
        <p14:creationId xmlns:p14="http://schemas.microsoft.com/office/powerpoint/2010/main" val="863968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Handling sensitive health data requires compliance with regulations such as HIPAA and GDPR. Data anonymization, encryption, and access controls reduce risks. Ethical considerations mandate protecting patient privacy while enabling data utility for predictive modeling. 
 Image source: AI-generated</a:t>
            </a:r>
          </a:p>
        </p:txBody>
      </p:sp>
      <p:sp>
        <p:nvSpPr>
          <p:cNvPr id="4" name="Slide Number Placeholder 3"/>
          <p:cNvSpPr>
            <a:spLocks noGrp="1"/>
          </p:cNvSpPr>
          <p:nvPr>
            <p:ph type="sldNum" sz="quarter" idx="5"/>
          </p:nvPr>
        </p:nvSpPr>
        <p:spPr/>
        <p:txBody>
          <a:bodyPr/>
          <a:lstStyle/>
          <a:p>
            <a:fld id="{7E39EE51-D60A-4141-9808-7CD82A137E59}" type="slidenum">
              <a:rPr lang="en-US" smtClean="0"/>
              <a:t>21</a:t>
            </a:fld>
            <a:endParaRPr lang="en-US"/>
          </a:p>
        </p:txBody>
      </p:sp>
    </p:spTree>
    <p:extLst>
      <p:ext uri="{BB962C8B-B14F-4D97-AF65-F5344CB8AC3E}">
        <p14:creationId xmlns:p14="http://schemas.microsoft.com/office/powerpoint/2010/main" val="9503902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in training data can cause unequal predictions across demographic groups, potentially worsening health disparities. Transparent algorithms and fairness audits are vital. Transparency also builds clinician and patient trust, essential for ethical AI deployment in healthcare.</a:t>
            </a:r>
          </a:p>
        </p:txBody>
      </p:sp>
      <p:sp>
        <p:nvSpPr>
          <p:cNvPr id="4" name="Slide Number Placeholder 3"/>
          <p:cNvSpPr>
            <a:spLocks noGrp="1"/>
          </p:cNvSpPr>
          <p:nvPr>
            <p:ph type="sldNum" sz="quarter" idx="5"/>
          </p:nvPr>
        </p:nvSpPr>
        <p:spPr/>
        <p:txBody>
          <a:bodyPr/>
          <a:lstStyle/>
          <a:p>
            <a:fld id="{7E39EE51-D60A-4141-9808-7CD82A137E59}" type="slidenum">
              <a:rPr lang="en-US" smtClean="0"/>
              <a:t>22</a:t>
            </a:fld>
            <a:endParaRPr lang="en-US"/>
          </a:p>
        </p:txBody>
      </p:sp>
    </p:spTree>
    <p:extLst>
      <p:ext uri="{BB962C8B-B14F-4D97-AF65-F5344CB8AC3E}">
        <p14:creationId xmlns:p14="http://schemas.microsoft.com/office/powerpoint/2010/main" val="37113976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highlighted the critical role of patient demographic and clinical data in accurately predicting heart disease risk using supervised machine learning. By carefully preprocessing data, selecting robust algorithms, and integrating ethical considerations, we can improve early detection and patient outcomes. Ongoing enhancements will ensure models remain effective and trustworthy in clinical practice.</a:t>
            </a:r>
          </a:p>
        </p:txBody>
      </p:sp>
      <p:sp>
        <p:nvSpPr>
          <p:cNvPr id="4" name="Slide Number Placeholder 3"/>
          <p:cNvSpPr>
            <a:spLocks noGrp="1"/>
          </p:cNvSpPr>
          <p:nvPr>
            <p:ph type="sldNum" sz="quarter" idx="5"/>
          </p:nvPr>
        </p:nvSpPr>
        <p:spPr/>
        <p:txBody>
          <a:bodyPr/>
          <a:lstStyle/>
          <a:p>
            <a:fld id="{7E39EE51-D60A-4141-9808-7CD82A137E59}" type="slidenum">
              <a:rPr lang="en-US" smtClean="0"/>
              <a:t>23</a:t>
            </a:fld>
            <a:endParaRPr lang="en-US"/>
          </a:p>
        </p:txBody>
      </p:sp>
    </p:spTree>
    <p:extLst>
      <p:ext uri="{BB962C8B-B14F-4D97-AF65-F5344CB8AC3E}">
        <p14:creationId xmlns:p14="http://schemas.microsoft.com/office/powerpoint/2010/main" val="41082031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sz="1000"/>
            </a:lvl1pPr>
          </a:lstStyle>
          <a:p>
            <a:endParaRPr lang="en-US" sz="1000"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lvl1pPr>
              <a:defRPr sz="1000"/>
            </a:lvl1pPr>
          </a:lstStyle>
          <a:p>
            <a:fld id="{2953A48D-8978-4B7F-8BA5-7DDC44F9988C}" type="datetime1">
              <a:rPr lang="en-US" smtClean="0"/>
              <a:t>1/30/2026</a:t>
            </a:fld>
            <a:endParaRPr lang="en-US" sz="1000"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sz="1000"/>
            </a:lvl1pPr>
          </a:lstStyle>
          <a:p>
            <a:fld id="{AEAA3239-9EA4-4A65-A281-97F994456D9F}" type="slidenum">
              <a:rPr lang="en-US" smtClean="0"/>
              <a:pPr/>
              <a:t>‹#›</a:t>
            </a:fld>
            <a:endParaRPr lang="en-US" sz="1000" dirty="0"/>
          </a:p>
        </p:txBody>
      </p:sp>
      <p:cxnSp>
        <p:nvCxnSpPr>
          <p:cNvPr id="4" name="Straight Connector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70277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676A767-B18A-4D25-AB71-95C362FFA6CA}"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331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a:lstStyle/>
          <a:p>
            <a:fld id="{8529DE94-2476-477B-981E-08C53D89AC9B}" type="datetime1">
              <a:rPr lang="en-US" smtClean="0"/>
              <a:t>1/30/2026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64407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tx1"/>
                </a:solidFill>
                <a:effectLst/>
              </a:defRPr>
            </a:lvl1pPr>
          </a:lstStyle>
          <a:p>
            <a:fld id="{EC51F7A3-E7CB-4889-B172-A123C630DC51}"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12" name="Straight Connector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394989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lvl1pPr>
              <a:defRPr>
                <a:solidFill>
                  <a:schemeClr val="tx1"/>
                </a:solidFill>
                <a:effectLst/>
              </a:defRPr>
            </a:lvl1pPr>
          </a:lstStyle>
          <a:p>
            <a:fld id="{7D8177C5-BD9A-4D23-83AF-F5B841ADF3F2}"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9" name="Straight Connector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18715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5F493D0-2A08-42DB-964D-2E1108D4CB76}"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90893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57C23FB3-0824-43FF-8EA1-707169FC13FA}"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42365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D26C4EF4-1425-499B-9B0A-3303E07CFD10}"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3803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A9FD4B53-E1EA-4DC9-BEB9-493B5BDE9305}"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558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F4D7CA4D-0419-44B1-A572-E2F0F89C5403}"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22143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3E86A8F3-65F3-4EB9-869C-76CEE4BDD77C}" type="datetime1">
              <a:rPr lang="en-US" smtClean="0"/>
              <a:t>1/30/2026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60552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anchor="ctr">
            <a:normAutofit/>
          </a:bodyPr>
          <a:lstStyle>
            <a:lvl1pPr>
              <a:defRPr sz="36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a:lstStyle/>
          <a:p>
            <a:fld id="{8B41A39F-C131-47B8-AEC1-526A80C18BBA}" type="datetime1">
              <a:rPr lang="en-US" smtClean="0"/>
              <a:t>1/30/2026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095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anchor="b">
            <a:normAutofit/>
          </a:bodyPr>
          <a:lstStyle>
            <a:lvl1pPr>
              <a:defRPr sz="36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a:lstStyle/>
          <a:p>
            <a:fld id="{A877CDC7-E2DA-405F-BDB4-4ED43CAA16E6}" type="datetime1">
              <a:rPr lang="en-US" smtClean="0"/>
              <a:t>1/30/2026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5456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anchor="b"/>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25ECE14C-6B0B-4298-B34D-766A34529CDF}"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1460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D76CF820-C7DB-421D-8FD6-C430A9B1C2AC}"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367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F0E63EA5-332D-4604-BD2D-34B00B234EDE}"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37578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anchor="b">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05145CA3-1D95-48B1-8239-73BFDAEAE6AF}"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4064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1B80F9BF-B0F8-4A9E-9210-E35AD48EB15E}"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174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a:lstStyle>
            <a:lvl1pPr>
              <a:defRPr>
                <a:solidFill>
                  <a:schemeClr val="tx1"/>
                </a:solidFill>
                <a:effectLst/>
              </a:defRPr>
            </a:lvl1pPr>
          </a:lstStyle>
          <a:p>
            <a:fld id="{7030F05D-1D3B-4C2E-9FFA-DE29ED956270}"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6716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anchor="t"/>
          <a:lstStyle/>
          <a:p>
            <a:r>
              <a:rPr lang="en-US" dirty="0"/>
              <a:t>Click to edit Master title style</a:t>
            </a:r>
          </a:p>
        </p:txBody>
      </p:sp>
      <p:sp>
        <p:nvSpPr>
          <p:cNvPr id="11" name="Content Placeholder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a:lstStyle>
            <a:lvl1pPr>
              <a:defRPr>
                <a:solidFill>
                  <a:schemeClr val="tx1"/>
                </a:solidFill>
                <a:effectLst/>
              </a:defRPr>
            </a:lvl1pPr>
          </a:lstStyle>
          <a:p>
            <a:fld id="{1B2FE6D2-B81D-4429-A41B-DCED2913EA16}"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9572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A986E4C-26E7-40BC-8DDD-DE3A2F7C8B9D}"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2910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a:lstStyle/>
          <a:p>
            <a:fld id="{F14D5DAB-1E00-43FC-9445-DAAD2ACAC73A}" type="datetime1">
              <a:rPr lang="en-US" smtClean="0"/>
              <a:t>1/30/2026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0245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anchor="t">
            <a:normAutofit/>
          </a:bodyPr>
          <a:lstStyle>
            <a:lvl1pPr>
              <a:defRPr sz="3600"/>
            </a:lvl1pPr>
          </a:lstStyle>
          <a:p>
            <a:r>
              <a:rPr lang="en-US" dirty="0"/>
              <a:t>Click to edit Master title style</a:t>
            </a:r>
          </a:p>
        </p:txBody>
      </p:sp>
      <p:sp>
        <p:nvSpPr>
          <p:cNvPr id="7" name="Content Placeholder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a:lstStyle/>
          <a:p>
            <a:fld id="{4989F924-B50F-4860-B10F-D52036B96E39}" type="datetime1">
              <a:rPr lang="en-US" smtClean="0"/>
              <a:t>1/30/2026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88310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anchor="t">
            <a:normAutofit/>
          </a:bodyPr>
          <a:lstStyle>
            <a:lvl1pPr>
              <a:defRPr sz="3600"/>
            </a:lvl1pPr>
          </a:lstStyle>
          <a:p>
            <a:r>
              <a:rPr lang="en-US" dirty="0"/>
              <a:t>Click to edit Master title style</a:t>
            </a:r>
          </a:p>
        </p:txBody>
      </p:sp>
      <p:sp>
        <p:nvSpPr>
          <p:cNvPr id="13" name="Picture Placeholder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a:lstStyle>
            <a:lvl1pPr>
              <a:defRPr>
                <a:solidFill>
                  <a:schemeClr val="tx1"/>
                </a:solidFill>
                <a:effectLst/>
              </a:defRPr>
            </a:lvl1pPr>
          </a:lstStyle>
          <a:p>
            <a:fld id="{4D02379D-477C-47F0-9322-3E7981CF2222}"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12246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anchor="t">
            <a:normAutofit/>
          </a:bodyPr>
          <a:lstStyle>
            <a:lvl1pPr>
              <a:defRPr sz="36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a:lstStyle/>
          <a:p>
            <a:fld id="{30FBF84D-747E-4A2D-B74C-0D1ADB9D978A}"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lvl1pPr>
              <a:defRPr>
                <a:solidFill>
                  <a:schemeClr val="accent1"/>
                </a:solidFill>
                <a:effectLst/>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04899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12F17FE-50B5-4F97-A5FE-D47BC058140D}"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139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a:lstStyle/>
          <a:p>
            <a:fld id="{398629FA-33AC-4B91-9F50-6A34C73DB4A5}"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0986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anchor="ct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C54EB15-C6E9-4FB2-A00E-83F3272DC203}"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02491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a:lstStyle/>
          <a:p>
            <a:fld id="{F35C560A-6694-4C54-932B-EBD007D80457}" type="datetime1">
              <a:rPr lang="en-US" smtClean="0"/>
              <a:t>1/30/2026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96416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a:lstStyle/>
          <a:p>
            <a:fld id="{101DF975-D0C4-475F-9F7C-B84D5C6D229B}" type="datetime1">
              <a:rPr lang="en-US" smtClean="0"/>
              <a:t>1/30/2026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29665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FD9AFD03-FE9C-40DF-B862-03968B25C24F}" type="datetime1">
              <a:rPr lang="en-US" smtClean="0"/>
              <a:t>1/30/2026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539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2FD384AD-C61A-48D6-93CC-8F2E0CDBE1F5}" type="datetime1">
              <a:rPr lang="en-US" smtClean="0"/>
              <a:t>1/30/2026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2187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anchor="t"/>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614BD192-03A5-4A45-AA3A-3048777F9DA1}" type="datetime1">
              <a:rPr lang="en-US" smtClean="0"/>
              <a:t>1/30/2026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8161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a:lstStyle/>
          <a:p>
            <a:fld id="{688BF943-8E28-4DFB-B0DE-F00AF9279F8D}" type="datetime1">
              <a:rPr lang="en-US" smtClean="0"/>
              <a:t>1/30/2026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12206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14FE1444-BD57-4488-BC66-780B65504E47}" type="datetime1">
              <a:rPr lang="en-US" smtClean="0"/>
              <a:t>1/30/2026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7253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C7D6AC0-AFBC-4BF8-914C-3A003B9A62FD}"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65950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a:lstStyle/>
          <a:p>
            <a:fld id="{2DA2328B-B1E6-45A4-86CF-8A83B4DA9E96}"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6183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anchor="b">
            <a:normAutofit/>
          </a:bodyPr>
          <a:lstStyle>
            <a:lvl1pPr algn="ctr">
              <a:lnSpc>
                <a:spcPct val="110000"/>
              </a:lnSpc>
              <a:defRPr sz="2600" b="1" i="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B38E9D8-4FC1-4DAE-99E4-835FCD288395}" type="datetime1">
              <a:rPr lang="en-US" smtClean="0"/>
              <a:t>1/30/2026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51585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anchor="b"/>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40BAEB1E-5971-4FE0-8556-E58B94C51D44}" type="datetime1">
              <a:rPr lang="en-US" smtClean="0"/>
              <a:t>1/30/2026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82822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anchor="ctr"/>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p>
            <a:fld id="{39DFF5D4-4547-4361-B250-BFE60A41E1A4}" type="datetime1">
              <a:rPr lang="en-US" smtClean="0"/>
              <a:t>1/30/2026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01072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4499B2AA-EA1F-4808-8C25-C8FD26324E26}" type="datetime1">
              <a:rPr lang="en-US" smtClean="0"/>
              <a:t>1/30/2026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a:lstStyle>
            <a:lvl1pPr>
              <a:lnSpc>
                <a:spcPct val="110000"/>
              </a:lnSpc>
              <a:defRPr sz="2800"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133909042"/>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7F8C9FE2-6DE5-4BD7-B30C-85A8ECDF0918}" type="datetime1">
              <a:rPr lang="en-US" smtClean="0"/>
              <a:t>1/30/2026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12219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p>
            <a:fld id="{00D39FB3-A85A-4123-936A-B01B34283303}" type="datetime1">
              <a:rPr lang="en-US" smtClean="0"/>
              <a:t>1/30/2026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55833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a:lstStyle/>
          <a:p>
            <a:fld id="{A70944E6-539A-4BC8-B250-092F2CE95E90}" type="datetime1">
              <a:rPr lang="en-US" smtClean="0"/>
              <a:t>1/30/2026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5161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30B6F89-4209-4DBA-AE92-A89C4CA08C29}" type="datetime1">
              <a:rPr lang="en-US" smtClean="0"/>
              <a:t>1/30/2026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844148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anchor="b">
            <a:normAutofit/>
          </a:bodyPr>
          <a:lstStyle>
            <a:lvl1pP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9C85BD29-F703-441C-BA70-A68EA51BEFAB}" type="datetime1">
              <a:rPr lang="en-US" smtClean="0"/>
              <a:t>1/30/2026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22664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anchor="ctr">
            <a:normAutofit/>
          </a:bodyPr>
          <a:lstStyle>
            <a:lvl1pPr algn="r">
              <a:lnSpc>
                <a:spcPct val="120000"/>
              </a:lnSpc>
              <a:defRPr sz="2000" b="1" i="0" spc="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8F5B9CFA-6593-4507-A356-FB73387E9819}" type="datetime1">
              <a:rPr lang="en-US" smtClean="0"/>
              <a:t>1/30/2026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42884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anchor="b">
            <a:normAutofit/>
          </a:bodyPr>
          <a:lstStyle>
            <a:lvl1pPr algn="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6DF2A675-1020-4672-8497-CDB1190FE408}" type="datetime1">
              <a:rPr lang="en-US" smtClean="0"/>
              <a:t>1/30/2026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61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anchor="b">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5B21EF61-A901-4AB4-9C45-C45E4D36F49E}"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1275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anchor="b">
            <a:noAutofit/>
          </a:bodyPr>
          <a:lstStyle>
            <a:lvl1pPr>
              <a:defRPr sz="72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E99C0E38-0B6C-4F02-AE7F-390E700470CD}" type="datetime1">
              <a:rPr lang="en-US" smtClean="0"/>
              <a:t>1/30/2026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353765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833FF731-0671-4E16-83B5-1527EB111BED}" type="datetime1">
              <a:rPr lang="en-US" smtClean="0"/>
              <a:t>1/30/2026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78708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a:lstStyle/>
          <a:p>
            <a:fld id="{0522869C-8080-4F99-8FAC-1725E6C242DF}" type="datetime1">
              <a:rPr lang="en-US" smtClean="0"/>
              <a:t>1/30/2026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9039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a:lstStyle/>
          <a:p>
            <a:fld id="{8DF9FB6F-4F0B-43F9-AF69-3B0CAC3B888F}" type="datetime1">
              <a:rPr lang="en-US" smtClean="0"/>
              <a:t>1/30/2026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78056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a:lstStyle/>
          <a:p>
            <a:fld id="{00E5B50F-7E5E-430D-954F-DEC2717D2CC8}" type="datetime1">
              <a:rPr lang="en-US" smtClean="0"/>
              <a:t>1/30/2026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9131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a:lstStyle/>
          <a:p>
            <a:fld id="{F5570C49-D89B-4A85-81F2-2955DCD49ED2}" type="datetime1">
              <a:rPr lang="en-US" smtClean="0"/>
              <a:t>1/30/2026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09177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a:lstStyle/>
          <a:p>
            <a:fld id="{E6CFD80B-F9FB-4989-A4EB-DBB19E6671FD}" type="datetime1">
              <a:rPr lang="en-US" smtClean="0"/>
              <a:t>1/30/2026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81259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fld id="{8FD589F1-8A4C-4250-9180-4AE033388C26}" type="datetime1">
              <a:rPr lang="en-US" smtClean="0"/>
              <a:t>1/30/2026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9428435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5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5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2.svg"/></Relationships>
</file>

<file path=ppt/slides/_rels/slide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31.sv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1.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51.xml"/><Relationship Id="rId4" Type="http://schemas.openxmlformats.org/officeDocument/2006/relationships/image" Target="../media/image31.svg"/></Relationships>
</file>

<file path=ppt/slides/_rels/slide1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51.xml"/><Relationship Id="rId4" Type="http://schemas.openxmlformats.org/officeDocument/2006/relationships/image" Target="../media/image31.svg"/></Relationships>
</file>

<file path=ppt/slides/_rels/slide1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51.xml"/><Relationship Id="rId4" Type="http://schemas.openxmlformats.org/officeDocument/2006/relationships/image" Target="../media/image31.svg"/></Relationships>
</file>

<file path=ppt/slides/_rels/slide1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51.xml"/><Relationship Id="rId4" Type="http://schemas.openxmlformats.org/officeDocument/2006/relationships/image" Target="../media/image31.sv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51.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22.sv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51.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BBB20C2-C335-4AA8-9865-2E86EB03B5F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8" name="Content Placeholder 7" descr="A modern, high-resolution image of a healthcare professional analyzing digital patient data on a transparent screen, with subtle visual elements representing data analytics and heart health such as a stylized heart and data points, set in a premium, technology-driven medical environment with a clean, professional aesthetic, composition allowing centered title overlay, no visible or implied text letters or words anywhere in the image">
            <a:extLst>
              <a:ext uri="{FF2B5EF4-FFF2-40B4-BE49-F238E27FC236}">
                <a16:creationId xmlns:a16="http://schemas.microsoft.com/office/drawing/2014/main" id="{8A126750-0A17-4F5D-B1DE-F7BC3CAE56BC}"/>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Slide Number Placeholder 5">
            <a:extLst>
              <a:ext uri="{FF2B5EF4-FFF2-40B4-BE49-F238E27FC236}">
                <a16:creationId xmlns:a16="http://schemas.microsoft.com/office/drawing/2014/main" id="{40EF8995-267C-9B76-9095-02317C83C578}"/>
              </a:ext>
            </a:extLst>
          </p:cNvPr>
          <p:cNvSpPr>
            <a:spLocks noGrp="1"/>
          </p:cNvSpPr>
          <p:nvPr>
            <p:ph type="sldNum" sz="quarter" idx="12"/>
          </p:nvPr>
        </p:nvSpPr>
        <p:spPr/>
        <p:txBody>
          <a:bodyPr/>
          <a:lstStyle/>
          <a:p>
            <a:fld id="{AEAA3239-9EA4-4A65-A281-97F994456D9F}" type="slidenum">
              <a:rPr lang="en-US" smtClean="0"/>
              <a:t>1</a:t>
            </a:fld>
            <a:endParaRPr lang="en-US" dirty="0"/>
          </a:p>
        </p:txBody>
      </p:sp>
      <p:sp>
        <p:nvSpPr>
          <p:cNvPr id="9" name="TextBox 8">
            <a:extLst>
              <a:ext uri="{FF2B5EF4-FFF2-40B4-BE49-F238E27FC236}">
                <a16:creationId xmlns:a16="http://schemas.microsoft.com/office/drawing/2014/main" id="{75068A21-3672-46A9-BBD9-D75F373DD3E1}"/>
              </a:ext>
            </a:extLst>
          </p:cNvPr>
          <p:cNvSpPr txBox="1"/>
          <p:nvPr/>
        </p:nvSpPr>
        <p:spPr>
          <a:xfrm>
            <a:off x="619125" y="924966"/>
            <a:ext cx="4391025" cy="2011412"/>
          </a:xfrm>
          <a:prstGeom prst="rect">
            <a:avLst/>
          </a:prstGeom>
          <a:noFill/>
        </p:spPr>
        <p:txBody>
          <a:bodyPr wrap="square" rtlCol="0">
            <a:normAutofit fontScale="85000" lnSpcReduction="10000"/>
          </a:bodyPr>
          <a:lstStyle/>
          <a:p>
            <a:pPr marL="0" algn="l">
              <a:buNone/>
            </a:pPr>
            <a:r>
              <a:rPr lang="en-US" sz="4800">
                <a:solidFill>
                  <a:srgbClr val="000000"/>
                </a:solidFill>
                <a:effectLst/>
                <a:latin typeface="Mongolian Baiti" panose="03000500000000000000" pitchFamily="66" charset="0"/>
              </a:rPr>
              <a:t>Predicting Heart Disease Risk Using Machine Learning</a:t>
            </a:r>
            <a:endParaRPr lang="en-US" dirty="0"/>
          </a:p>
        </p:txBody>
      </p:sp>
      <p:sp>
        <p:nvSpPr>
          <p:cNvPr id="10" name="TextBox 9">
            <a:extLst>
              <a:ext uri="{FF2B5EF4-FFF2-40B4-BE49-F238E27FC236}">
                <a16:creationId xmlns:a16="http://schemas.microsoft.com/office/drawing/2014/main" id="{386DD1DB-FD65-4A95-863B-365A0E791EAE}"/>
              </a:ext>
            </a:extLst>
          </p:cNvPr>
          <p:cNvSpPr txBox="1"/>
          <p:nvPr/>
        </p:nvSpPr>
        <p:spPr>
          <a:xfrm>
            <a:off x="619125" y="5529262"/>
            <a:ext cx="4391025" cy="594121"/>
          </a:xfrm>
          <a:prstGeom prst="rect">
            <a:avLst/>
          </a:prstGeom>
          <a:noFill/>
        </p:spPr>
        <p:txBody>
          <a:bodyPr wrap="square" rtlCol="0">
            <a:normAutofit lnSpcReduction="10000"/>
          </a:bodyPr>
          <a:lstStyle/>
          <a:p>
            <a:pPr marL="0" algn="l">
              <a:buNone/>
            </a:pPr>
            <a:r>
              <a:rPr sz="1800" b="0" dirty="0">
                <a:solidFill>
                  <a:srgbClr val="DDA152"/>
                </a:solidFill>
                <a:effectLst/>
                <a:latin typeface="Avenir"/>
              </a:rPr>
              <a:t>Leveraging demographic and clinical data for accuracy</a:t>
            </a:r>
            <a:r>
              <a:rPr dirty="0">
                <a:effectLst/>
              </a:rPr>
              <a:t> </a:t>
            </a:r>
            <a:endParaRPr lang="en-US" dirty="0"/>
          </a:p>
        </p:txBody>
      </p:sp>
    </p:spTree>
    <p:extLst>
      <p:ext uri="{BB962C8B-B14F-4D97-AF65-F5344CB8AC3E}">
        <p14:creationId xmlns:p14="http://schemas.microsoft.com/office/powerpoint/2010/main" val="3463690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8DBAC64-7720-4052-8185-3C3DDD7C0AD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8" name="Content Placeholder 7" descr="A detailed medical illustration of a human heart, showing major arteries and chambers, with subtle overlays of red to indicate areas commonly affected by heart disease. The background should be clean and clinical, evoking a modern healthcare setting. No visible or implied text, letters, or words should appear anywhere in the image. The composition should allow for clear focus on the heart anatomy and convey the seriousness of cardiovascular conditions">
            <a:extLst>
              <a:ext uri="{FF2B5EF4-FFF2-40B4-BE49-F238E27FC236}">
                <a16:creationId xmlns:a16="http://schemas.microsoft.com/office/drawing/2014/main" id="{5A65B48C-F438-4CE9-BC13-998DEC4CE8AF}"/>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Slide Number Placeholder 5">
            <a:extLst>
              <a:ext uri="{FF2B5EF4-FFF2-40B4-BE49-F238E27FC236}">
                <a16:creationId xmlns:a16="http://schemas.microsoft.com/office/drawing/2014/main" id="{C55E47AC-5244-DA67-C7D2-B9F9153D23A0}"/>
              </a:ext>
            </a:extLst>
          </p:cNvPr>
          <p:cNvSpPr>
            <a:spLocks noGrp="1"/>
          </p:cNvSpPr>
          <p:nvPr>
            <p:ph type="sldNum" sz="quarter" idx="12"/>
          </p:nvPr>
        </p:nvSpPr>
        <p:spPr/>
        <p:txBody>
          <a:bodyPr/>
          <a:lstStyle/>
          <a:p>
            <a:fld id="{AEAA3239-9EA4-4A65-A281-97F994456D9F}" type="slidenum">
              <a:rPr lang="en-US" smtClean="0"/>
              <a:t>2</a:t>
            </a:fld>
            <a:endParaRPr lang="en-US" dirty="0"/>
          </a:p>
        </p:txBody>
      </p:sp>
      <p:sp>
        <p:nvSpPr>
          <p:cNvPr id="9" name="TextBox 8">
            <a:extLst>
              <a:ext uri="{FF2B5EF4-FFF2-40B4-BE49-F238E27FC236}">
                <a16:creationId xmlns:a16="http://schemas.microsoft.com/office/drawing/2014/main" id="{D8B9C4C6-733E-4F84-9E66-6D71B2BDCFD4}"/>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Heart Disease: Global Impact</a:t>
            </a:r>
            <a:r>
              <a:rPr>
                <a:effectLst/>
              </a:rPr>
              <a:t> </a:t>
            </a:r>
            <a:endParaRPr lang="en-US"/>
          </a:p>
        </p:txBody>
      </p:sp>
      <p:sp>
        <p:nvSpPr>
          <p:cNvPr id="10" name="TextBox 9">
            <a:extLst>
              <a:ext uri="{FF2B5EF4-FFF2-40B4-BE49-F238E27FC236}">
                <a16:creationId xmlns:a16="http://schemas.microsoft.com/office/drawing/2014/main" id="{1DC9FBBC-2A15-4B20-ACE9-D918C8BE5304}"/>
              </a:ext>
            </a:extLst>
          </p:cNvPr>
          <p:cNvSpPr txBox="1"/>
          <p:nvPr/>
        </p:nvSpPr>
        <p:spPr>
          <a:xfrm>
            <a:off x="619125" y="1929705"/>
            <a:ext cx="4391025" cy="3829050"/>
          </a:xfrm>
          <a:prstGeom prst="rect">
            <a:avLst/>
          </a:prstGeom>
          <a:noFill/>
        </p:spPr>
        <p:txBody>
          <a:bodyPr wrap="square" rtlCol="0">
            <a:normAutofit lnSpcReduction="10000"/>
          </a:bodyPr>
          <a:lstStyle/>
          <a:p>
            <a:pPr marL="0" algn="l">
              <a:buNone/>
            </a:pPr>
            <a:r>
              <a:rPr sz="1500" b="1">
                <a:solidFill>
                  <a:srgbClr val="DDA152"/>
                </a:solidFill>
                <a:effectLst/>
                <a:latin typeface="Avenir"/>
              </a:rPr>
              <a:t>Scale of the Problem</a:t>
            </a:r>
            <a:r>
              <a:rPr>
                <a:effectLst/>
              </a:rPr>
              <a:t> </a:t>
            </a:r>
          </a:p>
          <a:p>
            <a:pPr marL="0" algn="l">
              <a:spcBef>
                <a:spcPts val="750"/>
              </a:spcBef>
              <a:buNone/>
            </a:pPr>
            <a:r>
              <a:rPr sz="1500" b="0">
                <a:solidFill>
                  <a:srgbClr val="000000"/>
                </a:solidFill>
                <a:effectLst/>
                <a:latin typeface="Avenir"/>
              </a:rPr>
              <a:t>Leading global cause of death: ~17.9 million annually (WHO).</a:t>
            </a:r>
            <a:r>
              <a:rPr>
                <a:effectLst/>
              </a:rPr>
              <a:t> </a:t>
            </a:r>
          </a:p>
          <a:p>
            <a:pPr marL="0" algn="l">
              <a:spcBef>
                <a:spcPts val="1050"/>
              </a:spcBef>
              <a:buNone/>
            </a:pPr>
            <a:r>
              <a:rPr sz="1500" b="1">
                <a:solidFill>
                  <a:srgbClr val="DDA152"/>
                </a:solidFill>
                <a:effectLst/>
                <a:latin typeface="Avenir"/>
              </a:rPr>
              <a:t>What It Includes</a:t>
            </a:r>
            <a:r>
              <a:rPr>
                <a:effectLst/>
              </a:rPr>
              <a:t> </a:t>
            </a:r>
          </a:p>
          <a:p>
            <a:pPr marL="0" algn="l">
              <a:spcBef>
                <a:spcPts val="750"/>
              </a:spcBef>
              <a:buNone/>
            </a:pPr>
            <a:r>
              <a:rPr sz="1500" b="0">
                <a:solidFill>
                  <a:srgbClr val="000000"/>
                </a:solidFill>
                <a:effectLst/>
                <a:latin typeface="Avenir"/>
              </a:rPr>
              <a:t>Coronary artery disease, heart attacks (MI), and heart failure.</a:t>
            </a:r>
            <a:r>
              <a:rPr>
                <a:effectLst/>
              </a:rPr>
              <a:t> </a:t>
            </a:r>
          </a:p>
          <a:p>
            <a:pPr marL="0" algn="l">
              <a:spcBef>
                <a:spcPts val="1050"/>
              </a:spcBef>
              <a:buNone/>
            </a:pPr>
            <a:r>
              <a:rPr sz="1500" b="1">
                <a:solidFill>
                  <a:srgbClr val="DDA152"/>
                </a:solidFill>
                <a:effectLst/>
                <a:latin typeface="Avenir"/>
              </a:rPr>
              <a:t>Economic Burden</a:t>
            </a:r>
            <a:r>
              <a:rPr>
                <a:effectLst/>
              </a:rPr>
              <a:t> </a:t>
            </a:r>
          </a:p>
          <a:p>
            <a:pPr marL="0" algn="l">
              <a:spcBef>
                <a:spcPts val="750"/>
              </a:spcBef>
              <a:buNone/>
            </a:pPr>
            <a:r>
              <a:rPr sz="1500" b="0">
                <a:solidFill>
                  <a:srgbClr val="000000"/>
                </a:solidFill>
                <a:effectLst/>
                <a:latin typeface="Avenir"/>
              </a:rPr>
              <a:t>Billions in healthcare costs and lost productivity worldwide.</a:t>
            </a:r>
            <a:r>
              <a:rPr>
                <a:effectLst/>
              </a:rPr>
              <a:t> </a:t>
            </a:r>
          </a:p>
          <a:p>
            <a:pPr marL="0" algn="l">
              <a:spcBef>
                <a:spcPts val="1050"/>
              </a:spcBef>
              <a:buNone/>
            </a:pPr>
            <a:r>
              <a:rPr sz="1500" b="1">
                <a:solidFill>
                  <a:srgbClr val="DDA152"/>
                </a:solidFill>
                <a:effectLst/>
                <a:latin typeface="Avenir"/>
              </a:rPr>
              <a:t>Why Risk Factors Matter</a:t>
            </a:r>
            <a:r>
              <a:rPr>
                <a:effectLst/>
              </a:rPr>
              <a:t> </a:t>
            </a:r>
          </a:p>
          <a:p>
            <a:pPr marL="0" algn="l">
              <a:spcBef>
                <a:spcPts val="750"/>
              </a:spcBef>
              <a:buNone/>
            </a:pPr>
            <a:r>
              <a:rPr sz="1500" b="0">
                <a:solidFill>
                  <a:srgbClr val="000000"/>
                </a:solidFill>
                <a:effectLst/>
                <a:latin typeface="Avenir"/>
              </a:rPr>
              <a:t>Targeting risks enables prevention and reduces mortality.</a:t>
            </a:r>
            <a:r>
              <a:rPr>
                <a:effectLst/>
              </a:rPr>
              <a:t> </a:t>
            </a:r>
            <a:endParaRPr lang="en-US"/>
          </a:p>
        </p:txBody>
      </p:sp>
    </p:spTree>
    <p:extLst>
      <p:ext uri="{BB962C8B-B14F-4D97-AF65-F5344CB8AC3E}">
        <p14:creationId xmlns:p14="http://schemas.microsoft.com/office/powerpoint/2010/main" val="1801553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C08F344-79AE-48F9-9167-1FB974F889F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8" name="Content Placeholder 7" descr="A modern, clean healthcare environment showing a diverse group of medical professionals collaborating around digital health data displays, with subtle visual references to heart health and predictive analytics. The composition should allow for clear overlay of agenda text, maintaining a professional and premium aesthetic. No visible or implied text, letters, or words should appear anywhere in the image">
            <a:extLst>
              <a:ext uri="{FF2B5EF4-FFF2-40B4-BE49-F238E27FC236}">
                <a16:creationId xmlns:a16="http://schemas.microsoft.com/office/drawing/2014/main" id="{DDB2C3A5-BC8B-47C2-94DA-D962AA1D7AC1}"/>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6" name="Slide Number Placeholder 5">
            <a:extLst>
              <a:ext uri="{FF2B5EF4-FFF2-40B4-BE49-F238E27FC236}">
                <a16:creationId xmlns:a16="http://schemas.microsoft.com/office/drawing/2014/main" id="{EBD9BF63-4CC6-CA5A-4995-0595ABC5B19F}"/>
              </a:ext>
            </a:extLst>
          </p:cNvPr>
          <p:cNvSpPr>
            <a:spLocks noGrp="1"/>
          </p:cNvSpPr>
          <p:nvPr>
            <p:ph type="sldNum" sz="quarter" idx="12"/>
          </p:nvPr>
        </p:nvSpPr>
        <p:spPr/>
        <p:txBody>
          <a:bodyPr/>
          <a:lstStyle/>
          <a:p>
            <a:fld id="{AEAA3239-9EA4-4A65-A281-97F994456D9F}" type="slidenum">
              <a:rPr lang="en-US" smtClean="0"/>
              <a:t>3</a:t>
            </a:fld>
            <a:endParaRPr lang="en-US" dirty="0"/>
          </a:p>
        </p:txBody>
      </p:sp>
      <p:sp>
        <p:nvSpPr>
          <p:cNvPr id="9" name="TextBox 8">
            <a:extLst>
              <a:ext uri="{FF2B5EF4-FFF2-40B4-BE49-F238E27FC236}">
                <a16:creationId xmlns:a16="http://schemas.microsoft.com/office/drawing/2014/main" id="{6A8B9F90-9249-4DAB-89E0-689B6D200C90}"/>
              </a:ext>
            </a:extLst>
          </p:cNvPr>
          <p:cNvSpPr txBox="1"/>
          <p:nvPr/>
        </p:nvSpPr>
        <p:spPr>
          <a:xfrm>
            <a:off x="5343525" y="1343025"/>
            <a:ext cx="6477000" cy="609600"/>
          </a:xfrm>
          <a:prstGeom prst="rect">
            <a:avLst/>
          </a:prstGeom>
          <a:noFill/>
        </p:spPr>
        <p:txBody>
          <a:bodyPr wrap="square" rtlCol="0">
            <a:normAutofit fontScale="85000" lnSpcReduction="20000"/>
          </a:bodyPr>
          <a:lstStyle/>
          <a:p>
            <a:pPr marL="0" algn="l">
              <a:buNone/>
            </a:pPr>
            <a:r>
              <a:rPr lang="en-US" sz="4800" dirty="0">
                <a:solidFill>
                  <a:srgbClr val="DDA152"/>
                </a:solidFill>
                <a:effectLst/>
                <a:latin typeface="Mongolian Baiti" panose="03000500000000000000" pitchFamily="66" charset="0"/>
              </a:rPr>
              <a:t>Business </a:t>
            </a:r>
            <a:r>
              <a:rPr lang="en-US" sz="4800" b="1" dirty="0">
                <a:solidFill>
                  <a:srgbClr val="DDA152"/>
                </a:solidFill>
                <a:effectLst/>
                <a:latin typeface="Mongolian Baiti" panose="03000500000000000000" pitchFamily="66" charset="0"/>
              </a:rPr>
              <a:t>Problem</a:t>
            </a:r>
            <a:r>
              <a:rPr lang="en-US" sz="4800" dirty="0">
                <a:solidFill>
                  <a:srgbClr val="DDA152"/>
                </a:solidFill>
                <a:effectLst/>
                <a:latin typeface="Mongolian Baiti" panose="03000500000000000000" pitchFamily="66" charset="0"/>
              </a:rPr>
              <a:t> Statement</a:t>
            </a:r>
            <a:r>
              <a:rPr dirty="0">
                <a:effectLst/>
              </a:rPr>
              <a:t> </a:t>
            </a:r>
            <a:endParaRPr lang="en-US" dirty="0"/>
          </a:p>
        </p:txBody>
      </p:sp>
      <p:sp>
        <p:nvSpPr>
          <p:cNvPr id="10" name="TextBox 9">
            <a:extLst>
              <a:ext uri="{FF2B5EF4-FFF2-40B4-BE49-F238E27FC236}">
                <a16:creationId xmlns:a16="http://schemas.microsoft.com/office/drawing/2014/main" id="{4F61E509-5981-484F-AE7D-A6595ADBAEA7}"/>
              </a:ext>
            </a:extLst>
          </p:cNvPr>
          <p:cNvSpPr txBox="1"/>
          <p:nvPr/>
        </p:nvSpPr>
        <p:spPr>
          <a:xfrm>
            <a:off x="5343525" y="2333625"/>
            <a:ext cx="6477000" cy="2433339"/>
          </a:xfrm>
          <a:prstGeom prst="rect">
            <a:avLst/>
          </a:prstGeom>
          <a:noFill/>
        </p:spPr>
        <p:txBody>
          <a:bodyPr wrap="square" rtlCol="0">
            <a:normAutofit lnSpcReduction="10000"/>
          </a:bodyPr>
          <a:lstStyle/>
          <a:p>
            <a:r>
              <a:rPr lang="en-US" sz="2400" dirty="0">
                <a:solidFill>
                  <a:srgbClr val="000000"/>
                </a:solidFill>
                <a:effectLst/>
                <a:latin typeface="Avenir Next LT Pro" panose="020B0504020202020204" pitchFamily="34" charset="0"/>
              </a:rPr>
              <a:t>Healthcare professionals require a dependable and efficient approach to detect patients at elevated risk of heart disease by utilizing regularly gathered patient information, aiming to reduce missed diagnoses and promote timely intervention measures.</a:t>
            </a:r>
            <a:endParaRPr lang="en-US" dirty="0"/>
          </a:p>
        </p:txBody>
      </p:sp>
    </p:spTree>
    <p:extLst>
      <p:ext uri="{BB962C8B-B14F-4D97-AF65-F5344CB8AC3E}">
        <p14:creationId xmlns:p14="http://schemas.microsoft.com/office/powerpoint/2010/main" val="281659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264C-39C6-C135-7541-61B97BF5EB82}"/>
              </a:ext>
            </a:extLst>
          </p:cNvPr>
          <p:cNvSpPr>
            <a:spLocks noGrp="1"/>
          </p:cNvSpPr>
          <p:nvPr>
            <p:ph type="title"/>
          </p:nvPr>
        </p:nvSpPr>
        <p:spPr>
          <a:xfrm>
            <a:off x="6492241" y="685800"/>
            <a:ext cx="4546423" cy="914400"/>
          </a:xfrm>
        </p:spPr>
        <p:txBody>
          <a:bodyPr anchor="t">
            <a:normAutofit/>
          </a:bodyPr>
          <a:lstStyle/>
          <a:p>
            <a:r>
              <a:rPr lang="en-US" sz="3300"/>
              <a:t>Project Objective Overview</a:t>
            </a:r>
          </a:p>
        </p:txBody>
      </p:sp>
      <p:pic>
        <p:nvPicPr>
          <p:cNvPr id="7" name="Content Placeholder 6" descr="Heart Health: Keep doing the presentation with virtual laptop in hand: Virtual reality and virtual 3D will soon be indispensable for practical presentations.">
            <a:extLst>
              <a:ext uri="{FF2B5EF4-FFF2-40B4-BE49-F238E27FC236}">
                <a16:creationId xmlns:a16="http://schemas.microsoft.com/office/drawing/2014/main" id="{76F9A50E-C17A-4F52-90B4-AA46C060713F}"/>
              </a:ext>
            </a:extLst>
          </p:cNvPr>
          <p:cNvPicPr>
            <a:picLocks noGrp="1" noChangeAspect="1"/>
          </p:cNvPicPr>
          <p:nvPr>
            <p:ph type="pic" sz="quarter" idx="15"/>
          </p:nvPr>
        </p:nvPicPr>
        <p:blipFill>
          <a:blip r:embed="rId3"/>
          <a:srcRect l="6203" r="5604" b="4"/>
          <a:stretch>
            <a:fillRect/>
          </a:stretch>
        </p:blipFill>
        <p:spPr>
          <a:xfrm>
            <a:off x="1153336" y="685800"/>
            <a:ext cx="4637225" cy="5257800"/>
          </a:xfrm>
        </p:spPr>
      </p:pic>
      <p:sp>
        <p:nvSpPr>
          <p:cNvPr id="4" name="Content Placeholder 3">
            <a:extLst>
              <a:ext uri="{FF2B5EF4-FFF2-40B4-BE49-F238E27FC236}">
                <a16:creationId xmlns:a16="http://schemas.microsoft.com/office/drawing/2014/main" id="{D58B2EDF-5381-756A-123E-D5D2AFDD868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241" y="1828300"/>
            <a:ext cx="4556759" cy="4115300"/>
          </a:xfrm>
        </p:spPr>
        <p:txBody>
          <a:bodyPr>
            <a:normAutofit/>
          </a:bodyPr>
          <a:lstStyle/>
          <a:p>
            <a:pPr marL="0" indent="0">
              <a:lnSpc>
                <a:spcPct val="110000"/>
              </a:lnSpc>
              <a:spcBef>
                <a:spcPts val="2500"/>
              </a:spcBef>
              <a:spcAft>
                <a:spcPts val="600"/>
              </a:spcAft>
              <a:buFont typeface="Arial" panose="020B0604020202020204" pitchFamily="34" charset="0"/>
              <a:buNone/>
            </a:pPr>
            <a:r>
              <a:rPr lang="en-US" b="1"/>
              <a:t>Heart Disease Prediction</a:t>
            </a:r>
          </a:p>
          <a:p>
            <a:pPr marL="0" lvl="1" indent="0">
              <a:lnSpc>
                <a:spcPct val="110000"/>
              </a:lnSpc>
              <a:spcAft>
                <a:spcPts val="600"/>
              </a:spcAft>
              <a:buFont typeface="Arial" panose="020B0604020202020204" pitchFamily="34" charset="0"/>
              <a:buNone/>
            </a:pPr>
            <a:r>
              <a:t>The project focuses on building a model that predicts heart disease using patient demographics and clinical data.</a:t>
            </a:r>
            <a:endParaRPr lang="en-US"/>
          </a:p>
          <a:p>
            <a:pPr marL="0" indent="0">
              <a:lnSpc>
                <a:spcPct val="110000"/>
              </a:lnSpc>
              <a:spcBef>
                <a:spcPts val="2500"/>
              </a:spcBef>
              <a:spcAft>
                <a:spcPts val="600"/>
              </a:spcAft>
              <a:buFont typeface="Arial" panose="020B0604020202020204" pitchFamily="34" charset="0"/>
              <a:buNone/>
            </a:pPr>
            <a:r>
              <a:rPr lang="en-US" b="1"/>
              <a:t>Supporting Healthcare Professionals</a:t>
            </a:r>
          </a:p>
          <a:p>
            <a:pPr marL="0" lvl="1" indent="0">
              <a:lnSpc>
                <a:spcPct val="110000"/>
              </a:lnSpc>
              <a:spcAft>
                <a:spcPts val="600"/>
              </a:spcAft>
              <a:buFont typeface="Arial" panose="020B0604020202020204" pitchFamily="34" charset="0"/>
              <a:buNone/>
            </a:pPr>
            <a:r>
              <a:t>The model is designed to help healthcare professionals identify high-risk individuals and improve preventive care strategies.</a:t>
            </a:r>
            <a:endParaRPr lang="en-US"/>
          </a:p>
          <a:p>
            <a:pPr marL="0" indent="0">
              <a:lnSpc>
                <a:spcPct val="110000"/>
              </a:lnSpc>
              <a:spcBef>
                <a:spcPts val="2500"/>
              </a:spcBef>
              <a:spcAft>
                <a:spcPts val="600"/>
              </a:spcAft>
              <a:buFont typeface="Arial" panose="020B0604020202020204" pitchFamily="34" charset="0"/>
              <a:buNone/>
            </a:pPr>
            <a:r>
              <a:rPr lang="en-US" b="1"/>
              <a:t>Improving Patient Outcomes</a:t>
            </a:r>
          </a:p>
          <a:p>
            <a:pPr marL="0" lvl="1" indent="0">
              <a:lnSpc>
                <a:spcPct val="110000"/>
              </a:lnSpc>
              <a:spcAft>
                <a:spcPts val="600"/>
              </a:spcAft>
              <a:buFont typeface="Arial" panose="020B0604020202020204" pitchFamily="34" charset="0"/>
              <a:buNone/>
            </a:pPr>
            <a:r>
              <a:t>By enabling early detection, the model helps prioritize preventive care, leading to better health outcomes for patients.</a:t>
            </a:r>
            <a:endParaRPr lang="en-US"/>
          </a:p>
        </p:txBody>
      </p:sp>
      <p:sp>
        <p:nvSpPr>
          <p:cNvPr id="12" name="Footer Placeholder 4">
            <a:extLst>
              <a:ext uri="{FF2B5EF4-FFF2-40B4-BE49-F238E27FC236}">
                <a16:creationId xmlns:a16="http://schemas.microsoft.com/office/drawing/2014/main" id="{12BD5A9D-502A-4FA2-3B19-A122B0B8D6AD}"/>
              </a:ext>
            </a:extLst>
          </p:cNvPr>
          <p:cNvSpPr>
            <a:spLocks noGrp="1"/>
          </p:cNvSpPr>
          <p:nvPr>
            <p:ph type="ftr" sz="quarter" idx="11"/>
          </p:nvPr>
        </p:nvSpPr>
        <p:spPr>
          <a:xfrm>
            <a:off x="152401" y="6404316"/>
            <a:ext cx="5943600" cy="453684"/>
          </a:xfrm>
        </p:spPr>
        <p:txBody>
          <a:bodyPr/>
          <a:lstStyle/>
          <a:p>
            <a:endParaRPr lang="en-US" dirty="0"/>
          </a:p>
        </p:txBody>
      </p:sp>
      <p:sp>
        <p:nvSpPr>
          <p:cNvPr id="6" name="Slide Number Placeholder 5">
            <a:extLst>
              <a:ext uri="{FF2B5EF4-FFF2-40B4-BE49-F238E27FC236}">
                <a16:creationId xmlns:a16="http://schemas.microsoft.com/office/drawing/2014/main" id="{8E6719B5-A1DE-74CD-2A7E-59E9862F83AC}"/>
              </a:ext>
            </a:extLst>
          </p:cNvPr>
          <p:cNvSpPr>
            <a:spLocks noGrp="1"/>
          </p:cNvSpPr>
          <p:nvPr>
            <p:ph type="sldNum" sz="quarter" idx="12"/>
          </p:nvPr>
        </p:nvSpPr>
        <p:spPr>
          <a:xfrm>
            <a:off x="11049000" y="6404316"/>
            <a:ext cx="990600" cy="453684"/>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97067158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534E5C6-D596-4556-A8CC-EC53FA51D59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6B6900C-2446-4C0A-1EB3-0FBD0AF41E68}"/>
              </a:ext>
            </a:extLst>
          </p:cNvPr>
          <p:cNvSpPr>
            <a:spLocks noGrp="1"/>
          </p:cNvSpPr>
          <p:nvPr>
            <p:ph sz="quarter" idx="16"/>
          </p:nvPr>
        </p:nvSpPr>
        <p:spPr>
          <a:xfrm>
            <a:off x="828675" y="2400300"/>
            <a:ext cx="10534650" cy="3629025"/>
          </a:xfrm>
        </p:spPr>
        <p:txBody>
          <a:bodyPr>
            <a:normAutofit fontScale="92500"/>
          </a:bodyPr>
          <a:lstStyle/>
          <a:p>
            <a:pPr marL="0" marR="0" indent="0" algn="l" fontAlgn="b">
              <a:buNone/>
            </a:pPr>
            <a:r>
              <a:rPr sz="8250" dirty="0">
                <a:solidFill>
                  <a:srgbClr val="000000"/>
                </a:solidFill>
                <a:effectLst/>
                <a:latin typeface="Mongolian Baiti" panose="03000500000000000000" pitchFamily="66" charset="0"/>
              </a:rPr>
              <a:t>Exploring the Heart</a:t>
            </a:r>
            <a:r>
              <a:rPr lang="en-US" sz="8250" dirty="0">
                <a:solidFill>
                  <a:srgbClr val="000000"/>
                </a:solidFill>
                <a:latin typeface="Mongolian Baiti" panose="03000500000000000000" pitchFamily="66" charset="0"/>
              </a:rPr>
              <a:t> </a:t>
            </a:r>
            <a:r>
              <a:rPr sz="8250" dirty="0">
                <a:solidFill>
                  <a:srgbClr val="000000"/>
                </a:solidFill>
                <a:effectLst/>
                <a:latin typeface="Mongolian Baiti" panose="03000500000000000000" pitchFamily="66" charset="0"/>
              </a:rPr>
              <a:t>Disease</a:t>
            </a:r>
            <a:r>
              <a:rPr lang="en-US" sz="8250" dirty="0">
                <a:solidFill>
                  <a:srgbClr val="000000"/>
                </a:solidFill>
                <a:effectLst/>
                <a:latin typeface="Mongolian Baiti" panose="03000500000000000000" pitchFamily="66" charset="0"/>
              </a:rPr>
              <a:t> </a:t>
            </a:r>
            <a:r>
              <a:rPr sz="8250" dirty="0">
                <a:solidFill>
                  <a:srgbClr val="000000"/>
                </a:solidFill>
                <a:effectLst/>
                <a:latin typeface="Mongolian Baiti" panose="03000500000000000000" pitchFamily="66" charset="0"/>
              </a:rPr>
              <a:t>Prediction Dataset</a:t>
            </a:r>
            <a:r>
              <a:rPr dirty="0">
                <a:effectLst/>
              </a:rPr>
              <a:t> </a:t>
            </a:r>
            <a:endParaRPr lang="en-US" dirty="0"/>
          </a:p>
        </p:txBody>
      </p:sp>
      <p:sp>
        <p:nvSpPr>
          <p:cNvPr id="6" name="Slide Number Placeholder 5">
            <a:extLst>
              <a:ext uri="{FF2B5EF4-FFF2-40B4-BE49-F238E27FC236}">
                <a16:creationId xmlns:a16="http://schemas.microsoft.com/office/drawing/2014/main" id="{9E8B4BAB-9139-75F9-51BF-C78709997796}"/>
              </a:ext>
            </a:extLst>
          </p:cNvPr>
          <p:cNvSpPr>
            <a:spLocks noGrp="1"/>
          </p:cNvSpPr>
          <p:nvPr>
            <p:ph type="sldNum" sz="quarter" idx="12"/>
          </p:nvPr>
        </p:nvSpPr>
        <p:spPr/>
        <p:txBody>
          <a:bodyPr/>
          <a:lstStyle/>
          <a:p>
            <a:fld id="{AEAA3239-9EA4-4A65-A281-97F994456D9F}" type="slidenum">
              <a:rPr lang="en-US" smtClean="0"/>
              <a:t>5</a:t>
            </a:fld>
            <a:endParaRPr lang="en-US" dirty="0"/>
          </a:p>
        </p:txBody>
      </p:sp>
    </p:spTree>
    <p:extLst>
      <p:ext uri="{BB962C8B-B14F-4D97-AF65-F5344CB8AC3E}">
        <p14:creationId xmlns:p14="http://schemas.microsoft.com/office/powerpoint/2010/main" val="3085299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ECBF96E-50C7-46B9-AD3E-066443E73C3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8" name="Content Placeholder 7" descr="A detailed, visually engaging heatmap showing the correlation between key variables in a heart disease dataset, with color gradients highlighting strong and weak relationships among features such as age, blood pressure, cholesterol, and lifestyle factors. The image should focus on the visual pattern of the heatmap, with clear axes and color-coded cells, but no visible or implied text, labels, numbers, or words anywhere in the image. The composition should emphasize the complexity and interconnectedness of the data, supporting a modern, analytical aesthetic">
            <a:extLst>
              <a:ext uri="{FF2B5EF4-FFF2-40B4-BE49-F238E27FC236}">
                <a16:creationId xmlns:a16="http://schemas.microsoft.com/office/drawing/2014/main" id="{008FF91F-AAE9-4630-89C3-28ECC628019F}"/>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165306" y="619125"/>
            <a:ext cx="3407419" cy="5638800"/>
          </a:xfrm>
          <a:prstGeom prst="rect">
            <a:avLst/>
          </a:prstGeom>
        </p:spPr>
      </p:pic>
      <p:sp>
        <p:nvSpPr>
          <p:cNvPr id="6" name="Slide Number Placeholder 5">
            <a:extLst>
              <a:ext uri="{FF2B5EF4-FFF2-40B4-BE49-F238E27FC236}">
                <a16:creationId xmlns:a16="http://schemas.microsoft.com/office/drawing/2014/main" id="{A8BBE755-EFEA-099F-4BCE-EBB53B6D6117}"/>
              </a:ext>
            </a:extLst>
          </p:cNvPr>
          <p:cNvSpPr>
            <a:spLocks noGrp="1"/>
          </p:cNvSpPr>
          <p:nvPr>
            <p:ph type="sldNum" sz="quarter" idx="12"/>
          </p:nvPr>
        </p:nvSpPr>
        <p:spPr/>
        <p:txBody>
          <a:bodyPr/>
          <a:lstStyle/>
          <a:p>
            <a:fld id="{AEAA3239-9EA4-4A65-A281-97F994456D9F}" type="slidenum">
              <a:rPr lang="en-US" smtClean="0"/>
              <a:t>6</a:t>
            </a:fld>
            <a:endParaRPr lang="en-US" dirty="0"/>
          </a:p>
        </p:txBody>
      </p:sp>
      <p:sp>
        <p:nvSpPr>
          <p:cNvPr id="9" name="TextBox 8">
            <a:extLst>
              <a:ext uri="{FF2B5EF4-FFF2-40B4-BE49-F238E27FC236}">
                <a16:creationId xmlns:a16="http://schemas.microsoft.com/office/drawing/2014/main" id="{A9EE305A-BF5C-41B3-820D-0AB40E052A8B}"/>
              </a:ext>
            </a:extLst>
          </p:cNvPr>
          <p:cNvSpPr txBox="1"/>
          <p:nvPr/>
        </p:nvSpPr>
        <p:spPr>
          <a:xfrm>
            <a:off x="619125" y="1038225"/>
            <a:ext cx="6936581"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Key Features and Variables</a:t>
            </a:r>
            <a:r>
              <a:rPr>
                <a:effectLst/>
              </a:rPr>
              <a:t> </a:t>
            </a:r>
            <a:endParaRPr lang="en-US"/>
          </a:p>
        </p:txBody>
      </p:sp>
      <p:sp>
        <p:nvSpPr>
          <p:cNvPr id="10" name="TextBox 9">
            <a:extLst>
              <a:ext uri="{FF2B5EF4-FFF2-40B4-BE49-F238E27FC236}">
                <a16:creationId xmlns:a16="http://schemas.microsoft.com/office/drawing/2014/main" id="{3E965727-F1EB-49DA-AC88-B8DF4EB02CC3}"/>
              </a:ext>
            </a:extLst>
          </p:cNvPr>
          <p:cNvSpPr txBox="1"/>
          <p:nvPr/>
        </p:nvSpPr>
        <p:spPr>
          <a:xfrm>
            <a:off x="619125" y="1541115"/>
            <a:ext cx="6936581" cy="3953470"/>
          </a:xfrm>
          <a:prstGeom prst="rect">
            <a:avLst/>
          </a:prstGeom>
          <a:noFill/>
        </p:spPr>
        <p:txBody>
          <a:bodyPr wrap="square" rtlCol="0">
            <a:normAutofit/>
          </a:bodyPr>
          <a:lstStyle/>
          <a:p>
            <a:pPr marL="0" marR="0" algn="l">
              <a:spcBef>
                <a:spcPts val="2700"/>
              </a:spcBef>
              <a:buNone/>
            </a:pPr>
            <a:r>
              <a:rPr sz="1350" b="1" dirty="0">
                <a:solidFill>
                  <a:srgbClr val="000000"/>
                </a:solidFill>
                <a:effectLst/>
                <a:latin typeface="Avenir"/>
              </a:rPr>
              <a:t>1. Demographics</a:t>
            </a:r>
            <a:r>
              <a:rPr dirty="0">
                <a:effectLst/>
              </a:rPr>
              <a:t> </a:t>
            </a:r>
          </a:p>
          <a:p>
            <a:pPr marL="0" marR="0" algn="l">
              <a:spcBef>
                <a:spcPts val="450"/>
              </a:spcBef>
              <a:buNone/>
            </a:pPr>
            <a:r>
              <a:rPr sz="1350" b="0" dirty="0">
                <a:solidFill>
                  <a:srgbClr val="000000"/>
                </a:solidFill>
                <a:effectLst/>
                <a:latin typeface="Avenir"/>
              </a:rPr>
              <a:t>Age and sex provide baseline context for risk stratification and help anchor model calibration across population segments.</a:t>
            </a:r>
            <a:r>
              <a:rPr dirty="0">
                <a:effectLst/>
              </a:rPr>
              <a:t> </a:t>
            </a:r>
          </a:p>
          <a:p>
            <a:pPr marL="0" marR="0" algn="l">
              <a:spcBef>
                <a:spcPts val="1500"/>
              </a:spcBef>
              <a:buNone/>
            </a:pPr>
            <a:r>
              <a:rPr sz="1350" b="1" dirty="0">
                <a:solidFill>
                  <a:srgbClr val="000000"/>
                </a:solidFill>
                <a:effectLst/>
                <a:latin typeface="Avenir"/>
              </a:rPr>
              <a:t>2. Clinical Measures</a:t>
            </a:r>
            <a:r>
              <a:rPr dirty="0">
                <a:effectLst/>
              </a:rPr>
              <a:t> </a:t>
            </a:r>
          </a:p>
          <a:p>
            <a:pPr marL="0" marR="0" algn="l">
              <a:spcBef>
                <a:spcPts val="450"/>
              </a:spcBef>
              <a:buNone/>
            </a:pPr>
            <a:r>
              <a:rPr sz="1350" b="0" dirty="0">
                <a:solidFill>
                  <a:srgbClr val="000000"/>
                </a:solidFill>
                <a:effectLst/>
                <a:latin typeface="Avenir"/>
              </a:rPr>
              <a:t>Blood pressure and cholesterol capture core cardiovascular status and often show strong relationships with the target.</a:t>
            </a:r>
            <a:r>
              <a:rPr dirty="0">
                <a:effectLst/>
              </a:rPr>
              <a:t> </a:t>
            </a:r>
          </a:p>
          <a:p>
            <a:pPr marL="0" marR="0" algn="l">
              <a:spcBef>
                <a:spcPts val="1500"/>
              </a:spcBef>
              <a:buNone/>
            </a:pPr>
            <a:r>
              <a:rPr sz="1350" b="1" dirty="0">
                <a:solidFill>
                  <a:srgbClr val="000000"/>
                </a:solidFill>
                <a:effectLst/>
                <a:latin typeface="Avenir"/>
              </a:rPr>
              <a:t>3. </a:t>
            </a:r>
            <a:r>
              <a:rPr lang="en-US" sz="1350" b="1" dirty="0">
                <a:solidFill>
                  <a:srgbClr val="000000"/>
                </a:solidFill>
                <a:effectLst/>
                <a:latin typeface="Avenir"/>
              </a:rPr>
              <a:t>Diagnostic Indicators</a:t>
            </a:r>
            <a:endParaRPr dirty="0">
              <a:effectLst/>
            </a:endParaRPr>
          </a:p>
          <a:p>
            <a:pPr marL="0" marR="0" algn="l">
              <a:spcBef>
                <a:spcPts val="450"/>
              </a:spcBef>
              <a:buNone/>
            </a:pPr>
            <a:r>
              <a:rPr lang="en-US" sz="1350" b="0" dirty="0">
                <a:solidFill>
                  <a:srgbClr val="000000"/>
                </a:solidFill>
                <a:effectLst/>
                <a:latin typeface="Avenir"/>
              </a:rPr>
              <a:t>Indicators for heart disease include chest pain, shortness of breath, and fatigue coupled with ECG/EKG to measure electrical activity</a:t>
            </a:r>
            <a:endParaRPr dirty="0">
              <a:effectLst/>
            </a:endParaRPr>
          </a:p>
          <a:p>
            <a:pPr marL="0" marR="0" algn="l">
              <a:spcBef>
                <a:spcPts val="1500"/>
              </a:spcBef>
              <a:buNone/>
            </a:pPr>
            <a:r>
              <a:rPr sz="1350" b="1" dirty="0">
                <a:solidFill>
                  <a:srgbClr val="000000"/>
                </a:solidFill>
                <a:effectLst/>
                <a:latin typeface="Avenir"/>
              </a:rPr>
              <a:t>4. Target Labels</a:t>
            </a:r>
            <a:r>
              <a:rPr dirty="0">
                <a:effectLst/>
              </a:rPr>
              <a:t> </a:t>
            </a:r>
          </a:p>
          <a:p>
            <a:pPr marL="0" marR="0" algn="l">
              <a:spcBef>
                <a:spcPts val="450"/>
              </a:spcBef>
              <a:buNone/>
            </a:pPr>
            <a:r>
              <a:rPr sz="1350" b="0" dirty="0">
                <a:solidFill>
                  <a:srgbClr val="000000"/>
                </a:solidFill>
                <a:effectLst/>
                <a:latin typeface="Avenir"/>
              </a:rPr>
              <a:t>Presence or absence of heart disease guides evaluation; understanding feature relationships supports robust model development.</a:t>
            </a:r>
            <a:r>
              <a:rPr dirty="0">
                <a:effectLst/>
              </a:rPr>
              <a:t> </a:t>
            </a:r>
            <a:endParaRPr lang="en-US" dirty="0"/>
          </a:p>
        </p:txBody>
      </p:sp>
    </p:spTree>
    <p:extLst>
      <p:ext uri="{BB962C8B-B14F-4D97-AF65-F5344CB8AC3E}">
        <p14:creationId xmlns:p14="http://schemas.microsoft.com/office/powerpoint/2010/main" val="2821447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BE31-BD57-1304-0CB3-51DDD94BE7B6}"/>
              </a:ext>
            </a:extLst>
          </p:cNvPr>
          <p:cNvSpPr>
            <a:spLocks noGrp="1"/>
          </p:cNvSpPr>
          <p:nvPr>
            <p:ph type="title"/>
          </p:nvPr>
        </p:nvSpPr>
        <p:spPr>
          <a:xfrm>
            <a:off x="7417489" y="685799"/>
            <a:ext cx="3620525" cy="927545"/>
          </a:xfrm>
        </p:spPr>
        <p:txBody>
          <a:bodyPr anchor="t">
            <a:normAutofit/>
          </a:bodyPr>
          <a:lstStyle/>
          <a:p>
            <a:r>
              <a:rPr lang="en-US" sz="3300"/>
              <a:t>Understanding Data with EDA</a:t>
            </a:r>
          </a:p>
        </p:txBody>
      </p:sp>
      <p:pic>
        <p:nvPicPr>
          <p:cNvPr id="7" name="Content Placeholder 6" descr="Magnifying glass showing decling performance">
            <a:extLst>
              <a:ext uri="{FF2B5EF4-FFF2-40B4-BE49-F238E27FC236}">
                <a16:creationId xmlns:a16="http://schemas.microsoft.com/office/drawing/2014/main" id="{0EFDBBFB-9A0E-4632-910A-66A0BB842E8C}"/>
              </a:ext>
            </a:extLst>
          </p:cNvPr>
          <p:cNvPicPr>
            <a:picLocks noGrp="1" noChangeAspect="1"/>
          </p:cNvPicPr>
          <p:nvPr>
            <p:ph type="pic" sz="quarter" idx="13"/>
          </p:nvPr>
        </p:nvPicPr>
        <p:blipFill>
          <a:blip r:embed="rId3"/>
          <a:srcRect l="6223" r="23157" b="-1"/>
          <a:stretch>
            <a:fillRect/>
          </a:stretch>
        </p:blipFill>
        <p:spPr>
          <a:xfrm>
            <a:off x="1143000" y="685800"/>
            <a:ext cx="5562600" cy="5257800"/>
          </a:xfrm>
        </p:spPr>
      </p:pic>
      <p:sp>
        <p:nvSpPr>
          <p:cNvPr id="4" name="Content Placeholder 3">
            <a:extLst>
              <a:ext uri="{FF2B5EF4-FFF2-40B4-BE49-F238E27FC236}">
                <a16:creationId xmlns:a16="http://schemas.microsoft.com/office/drawing/2014/main" id="{6C5CD90E-346D-2D2F-95B5-71C313A9DD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17617" y="1828299"/>
            <a:ext cx="3620524" cy="4115301"/>
          </a:xfrm>
        </p:spPr>
        <p:txBody>
          <a:bodyPr>
            <a:normAutofit/>
          </a:bodyPr>
          <a:lstStyle/>
          <a:p>
            <a:pPr marL="0" indent="0">
              <a:spcBef>
                <a:spcPts val="2500"/>
              </a:spcBef>
              <a:spcAft>
                <a:spcPts val="600"/>
              </a:spcAft>
              <a:buFont typeface="Arial" panose="020B0604020202020204" pitchFamily="34" charset="0"/>
              <a:buNone/>
            </a:pPr>
            <a:r>
              <a:rPr lang="en-US" sz="1300" b="1"/>
              <a:t>Dataset Structure Analysis</a:t>
            </a:r>
          </a:p>
          <a:p>
            <a:pPr marL="0" lvl="1" indent="0">
              <a:spcAft>
                <a:spcPts val="600"/>
              </a:spcAft>
              <a:buFont typeface="Arial" panose="020B0604020202020204" pitchFamily="34" charset="0"/>
              <a:buNone/>
            </a:pPr>
            <a:r>
              <a:rPr lang="en-US" sz="1300"/>
              <a:t>EDA helped understand the dataset structure and main features, providing a foundation for further analysis.</a:t>
            </a:r>
          </a:p>
          <a:p>
            <a:pPr marL="0" indent="0">
              <a:spcBef>
                <a:spcPts val="2500"/>
              </a:spcBef>
              <a:spcAft>
                <a:spcPts val="600"/>
              </a:spcAft>
              <a:buFont typeface="Arial" panose="020B0604020202020204" pitchFamily="34" charset="0"/>
              <a:buNone/>
            </a:pPr>
            <a:r>
              <a:rPr lang="en-US" sz="1300" b="1"/>
              <a:t>Visualizing Data Trends</a:t>
            </a:r>
          </a:p>
          <a:p>
            <a:pPr marL="0" lvl="1" indent="0">
              <a:spcAft>
                <a:spcPts val="600"/>
              </a:spcAft>
              <a:buFont typeface="Arial" panose="020B0604020202020204" pitchFamily="34" charset="0"/>
              <a:buNone/>
            </a:pPr>
            <a:r>
              <a:rPr lang="en-US" sz="1300"/>
              <a:t>Bar charts, histograms, and box plots revealed distribution patterns, numeric trends, and highlighted outliers in the data.</a:t>
            </a:r>
          </a:p>
          <a:p>
            <a:pPr marL="0" indent="0">
              <a:spcBef>
                <a:spcPts val="2500"/>
              </a:spcBef>
              <a:spcAft>
                <a:spcPts val="600"/>
              </a:spcAft>
              <a:buFont typeface="Arial" panose="020B0604020202020204" pitchFamily="34" charset="0"/>
              <a:buNone/>
            </a:pPr>
            <a:r>
              <a:rPr lang="en-US" sz="1300" b="1"/>
              <a:t>Uncovering Variable Relationships</a:t>
            </a:r>
          </a:p>
          <a:p>
            <a:pPr marL="0" lvl="1" indent="0">
              <a:spcAft>
                <a:spcPts val="600"/>
              </a:spcAft>
              <a:buFont typeface="Arial" panose="020B0604020202020204" pitchFamily="34" charset="0"/>
              <a:buNone/>
            </a:pPr>
            <a:r>
              <a:rPr lang="en-US" sz="1300"/>
              <a:t>Correlation heatmaps and stacked bar charts revealed relationships among variables, aiding preprocessing and model selection.</a:t>
            </a:r>
          </a:p>
        </p:txBody>
      </p:sp>
      <p:sp>
        <p:nvSpPr>
          <p:cNvPr id="12" name="Footer Placeholder 4">
            <a:extLst>
              <a:ext uri="{FF2B5EF4-FFF2-40B4-BE49-F238E27FC236}">
                <a16:creationId xmlns:a16="http://schemas.microsoft.com/office/drawing/2014/main" id="{B8882AA4-7A9C-3132-6B62-12962E8D8E7E}"/>
              </a:ext>
            </a:extLst>
          </p:cNvPr>
          <p:cNvSpPr>
            <a:spLocks noGrp="1"/>
          </p:cNvSpPr>
          <p:nvPr>
            <p:ph type="ftr" sz="quarter" idx="16"/>
          </p:nvPr>
        </p:nvSpPr>
        <p:spPr>
          <a:xfrm>
            <a:off x="152401" y="6400800"/>
            <a:ext cx="5943599" cy="457200"/>
          </a:xfrm>
        </p:spPr>
        <p:txBody>
          <a:bodyPr/>
          <a:lstStyle/>
          <a:p>
            <a:endParaRPr lang="en-US"/>
          </a:p>
        </p:txBody>
      </p:sp>
      <p:sp>
        <p:nvSpPr>
          <p:cNvPr id="6" name="Slide Number Placeholder 5">
            <a:extLst>
              <a:ext uri="{FF2B5EF4-FFF2-40B4-BE49-F238E27FC236}">
                <a16:creationId xmlns:a16="http://schemas.microsoft.com/office/drawing/2014/main" id="{EF469E2B-608A-A4DD-0785-F64D3003CC7A}"/>
              </a:ext>
            </a:extLst>
          </p:cNvPr>
          <p:cNvSpPr>
            <a:spLocks noGrp="1"/>
          </p:cNvSpPr>
          <p:nvPr>
            <p:ph type="sldNum" sz="quarter" idx="17"/>
          </p:nvPr>
        </p:nvSpPr>
        <p:spPr>
          <a:xfrm>
            <a:off x="11038014" y="6400800"/>
            <a:ext cx="1001586" cy="457200"/>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Tree>
    <p:extLst>
      <p:ext uri="{BB962C8B-B14F-4D97-AF65-F5344CB8AC3E}">
        <p14:creationId xmlns:p14="http://schemas.microsoft.com/office/powerpoint/2010/main" val="299643740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5EBE6-C4C5-6C93-1782-971F2E844E2C}"/>
              </a:ext>
            </a:extLst>
          </p:cNvPr>
          <p:cNvSpPr>
            <a:spLocks noGrp="1"/>
          </p:cNvSpPr>
          <p:nvPr>
            <p:ph type="title"/>
          </p:nvPr>
        </p:nvSpPr>
        <p:spPr>
          <a:xfrm>
            <a:off x="1143001" y="698501"/>
            <a:ext cx="9906000" cy="1018531"/>
          </a:xfrm>
        </p:spPr>
        <p:txBody>
          <a:bodyPr anchor="t">
            <a:normAutofit/>
          </a:bodyPr>
          <a:lstStyle/>
          <a:p>
            <a:r>
              <a:rPr lang="en-US"/>
              <a:t>Essential Data Preprocessing Steps</a:t>
            </a:r>
          </a:p>
        </p:txBody>
      </p:sp>
      <p:sp>
        <p:nvSpPr>
          <p:cNvPr id="11" name="Footer Placeholder 3">
            <a:extLst>
              <a:ext uri="{FF2B5EF4-FFF2-40B4-BE49-F238E27FC236}">
                <a16:creationId xmlns:a16="http://schemas.microsoft.com/office/drawing/2014/main" id="{8329E1C7-0476-5CBB-3507-B83190A7A062}"/>
              </a:ext>
            </a:extLst>
          </p:cNvPr>
          <p:cNvSpPr>
            <a:spLocks noGrp="1"/>
          </p:cNvSpPr>
          <p:nvPr>
            <p:ph type="ftr" sz="quarter" idx="11"/>
          </p:nvPr>
        </p:nvSpPr>
        <p:spPr>
          <a:xfrm>
            <a:off x="152400" y="6400800"/>
            <a:ext cx="5943599" cy="457200"/>
          </a:xfrm>
        </p:spPr>
        <p:txBody>
          <a:bodyPr/>
          <a:lstStyle/>
          <a:p>
            <a:endParaRPr lang="en-US"/>
          </a:p>
        </p:txBody>
      </p:sp>
      <p:sp>
        <p:nvSpPr>
          <p:cNvPr id="5" name="Slide Number Placeholder 4">
            <a:extLst>
              <a:ext uri="{FF2B5EF4-FFF2-40B4-BE49-F238E27FC236}">
                <a16:creationId xmlns:a16="http://schemas.microsoft.com/office/drawing/2014/main" id="{FBE0F312-8AA6-7534-D6B5-54542A4DABD1}"/>
              </a:ext>
            </a:extLst>
          </p:cNvPr>
          <p:cNvSpPr>
            <a:spLocks noGrp="1"/>
          </p:cNvSpPr>
          <p:nvPr>
            <p:ph type="sldNum" sz="quarter" idx="12"/>
          </p:nvPr>
        </p:nvSpPr>
        <p:spPr>
          <a:xfrm>
            <a:off x="11049000" y="6400800"/>
            <a:ext cx="990599" cy="457200"/>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graphicFrame>
        <p:nvGraphicFramePr>
          <p:cNvPr id="6" name="Content Placeholder 6">
            <a:extLst>
              <a:ext uri="{FF2B5EF4-FFF2-40B4-BE49-F238E27FC236}">
                <a16:creationId xmlns:a16="http://schemas.microsoft.com/office/drawing/2014/main" id="{584612BA-DCD0-4687-92C4-D740D2566233}"/>
              </a:ext>
            </a:extLst>
          </p:cNvPr>
          <p:cNvGraphicFramePr>
            <a:graphicFrameLocks noGrp="1"/>
          </p:cNvGraphicFramePr>
          <p:nvPr>
            <p:ph idx="1"/>
            <p:extLst>
              <p:ext uri="{D42A27DB-BD31-4B8C-83A1-F6EECF244321}">
                <p14:modId xmlns:p14="http://schemas.microsoft.com/office/powerpoint/2010/main" val="13981397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142999" y="1905008"/>
          <a:ext cx="9906001" cy="403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698511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0F41AF1-6108-4AD9-A76F-434B7E9FCE5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CFF99FBB-543A-FDD4-3F83-7A9653C63237}"/>
              </a:ext>
            </a:extLst>
          </p:cNvPr>
          <p:cNvSpPr>
            <a:spLocks noGrp="1"/>
          </p:cNvSpPr>
          <p:nvPr>
            <p:ph sz="quarter" idx="16"/>
          </p:nvPr>
        </p:nvSpPr>
        <p:spPr>
          <a:xfrm>
            <a:off x="828675" y="3609975"/>
            <a:ext cx="10534650" cy="2419350"/>
          </a:xfrm>
        </p:spPr>
        <p:txBody>
          <a:bodyPr>
            <a:normAutofit fontScale="77500" lnSpcReduction="20000"/>
          </a:bodyPr>
          <a:lstStyle/>
          <a:p>
            <a:pPr marL="0" marR="0" indent="0" algn="l" fontAlgn="b">
              <a:buNone/>
            </a:pPr>
            <a:r>
              <a:rPr lang="en-US" sz="8250" dirty="0">
                <a:solidFill>
                  <a:srgbClr val="000000"/>
                </a:solidFill>
                <a:effectLst/>
                <a:latin typeface="Mongolian Baiti" panose="03000500000000000000" pitchFamily="66" charset="0"/>
              </a:rPr>
              <a:t>Developing a </a:t>
            </a:r>
            <a:r>
              <a:rPr sz="8250" dirty="0">
                <a:solidFill>
                  <a:srgbClr val="000000"/>
                </a:solidFill>
                <a:effectLst/>
                <a:latin typeface="Mongolian Baiti" panose="03000500000000000000" pitchFamily="66" charset="0"/>
              </a:rPr>
              <a:t>Supervised ML for Heart Disease Prediction</a:t>
            </a:r>
            <a:r>
              <a:rPr dirty="0">
                <a:effectLst/>
              </a:rPr>
              <a:t> </a:t>
            </a:r>
            <a:endParaRPr lang="en-US" dirty="0"/>
          </a:p>
        </p:txBody>
      </p:sp>
      <p:sp>
        <p:nvSpPr>
          <p:cNvPr id="6" name="Slide Number Placeholder 5">
            <a:extLst>
              <a:ext uri="{FF2B5EF4-FFF2-40B4-BE49-F238E27FC236}">
                <a16:creationId xmlns:a16="http://schemas.microsoft.com/office/drawing/2014/main" id="{7CA9ECB2-AC1E-CE2F-59A0-DDF53E78A0ED}"/>
              </a:ext>
            </a:extLst>
          </p:cNvPr>
          <p:cNvSpPr>
            <a:spLocks noGrp="1"/>
          </p:cNvSpPr>
          <p:nvPr>
            <p:ph type="sldNum" sz="quarter" idx="12"/>
          </p:nvPr>
        </p:nvSpPr>
        <p:spPr/>
        <p:txBody>
          <a:bodyPr/>
          <a:lstStyle/>
          <a:p>
            <a:fld id="{AEAA3239-9EA4-4A65-A281-97F994456D9F}" type="slidenum">
              <a:rPr lang="en-US" smtClean="0"/>
              <a:t>9</a:t>
            </a:fld>
            <a:endParaRPr lang="en-US" dirty="0"/>
          </a:p>
        </p:txBody>
      </p:sp>
    </p:spTree>
    <p:extLst>
      <p:ext uri="{BB962C8B-B14F-4D97-AF65-F5344CB8AC3E}">
        <p14:creationId xmlns:p14="http://schemas.microsoft.com/office/powerpoint/2010/main" val="3700446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0897-6277-EAC0-5CDA-E4E599B3AC88}"/>
              </a:ext>
            </a:extLst>
          </p:cNvPr>
          <p:cNvSpPr>
            <a:spLocks noGrp="1"/>
          </p:cNvSpPr>
          <p:nvPr>
            <p:ph type="title"/>
          </p:nvPr>
        </p:nvSpPr>
        <p:spPr>
          <a:xfrm>
            <a:off x="7417489" y="685799"/>
            <a:ext cx="3620525" cy="927545"/>
          </a:xfrm>
        </p:spPr>
        <p:txBody>
          <a:bodyPr anchor="t">
            <a:normAutofit/>
          </a:bodyPr>
          <a:lstStyle/>
          <a:p>
            <a:r>
              <a:rPr lang="en-US" sz="3100"/>
              <a:t>Model Development Overview</a:t>
            </a:r>
          </a:p>
        </p:txBody>
      </p:sp>
      <p:pic>
        <p:nvPicPr>
          <p:cNvPr id="7" name="Content Placeholder 6" descr="Woman showing Earth and network hologram by using the user interface technology.">
            <a:extLst>
              <a:ext uri="{FF2B5EF4-FFF2-40B4-BE49-F238E27FC236}">
                <a16:creationId xmlns:a16="http://schemas.microsoft.com/office/drawing/2014/main" id="{2CAD8A5E-645A-4A11-8673-D46E2C602DF4}"/>
              </a:ext>
            </a:extLst>
          </p:cNvPr>
          <p:cNvPicPr>
            <a:picLocks noGrp="1" noChangeAspect="1"/>
          </p:cNvPicPr>
          <p:nvPr>
            <p:ph type="pic" sz="quarter" idx="13"/>
          </p:nvPr>
        </p:nvPicPr>
        <p:blipFill>
          <a:blip r:embed="rId3"/>
          <a:srcRect l="25915" r="14574"/>
          <a:stretch>
            <a:fillRect/>
          </a:stretch>
        </p:blipFill>
        <p:spPr>
          <a:xfrm>
            <a:off x="1143000" y="685800"/>
            <a:ext cx="5562600" cy="5257800"/>
          </a:xfrm>
        </p:spPr>
      </p:pic>
      <p:sp>
        <p:nvSpPr>
          <p:cNvPr id="4" name="Content Placeholder 3">
            <a:extLst>
              <a:ext uri="{FF2B5EF4-FFF2-40B4-BE49-F238E27FC236}">
                <a16:creationId xmlns:a16="http://schemas.microsoft.com/office/drawing/2014/main" id="{82465CF8-3033-2DEE-B4A7-DDAD2F8AFFF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17617" y="1828299"/>
            <a:ext cx="3620524" cy="4115301"/>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200" b="1"/>
              <a:t>Multiple Model Training</a:t>
            </a:r>
          </a:p>
          <a:p>
            <a:pPr marL="0" lvl="1" indent="0">
              <a:lnSpc>
                <a:spcPct val="110000"/>
              </a:lnSpc>
              <a:spcAft>
                <a:spcPts val="600"/>
              </a:spcAft>
              <a:buFont typeface="Arial" panose="020B0604020202020204" pitchFamily="34" charset="0"/>
              <a:buNone/>
            </a:pPr>
            <a:r>
              <a:rPr lang="en-US" sz="1200"/>
              <a:t>Several machine learning models were trained, including Logistic Regression, SVC, KNN, Random Forest, and Gradient Boosting, to compare performance.</a:t>
            </a:r>
          </a:p>
          <a:p>
            <a:pPr marL="0" indent="0">
              <a:lnSpc>
                <a:spcPct val="110000"/>
              </a:lnSpc>
              <a:spcBef>
                <a:spcPts val="2500"/>
              </a:spcBef>
              <a:spcAft>
                <a:spcPts val="600"/>
              </a:spcAft>
              <a:buFont typeface="Arial" panose="020B0604020202020204" pitchFamily="34" charset="0"/>
              <a:buNone/>
            </a:pPr>
            <a:r>
              <a:rPr lang="en-US" sz="1200" b="1"/>
              <a:t>Stratified Cross-Validation</a:t>
            </a:r>
          </a:p>
          <a:p>
            <a:pPr marL="0" lvl="1" indent="0">
              <a:lnSpc>
                <a:spcPct val="110000"/>
              </a:lnSpc>
              <a:spcAft>
                <a:spcPts val="600"/>
              </a:spcAft>
              <a:buFont typeface="Arial" panose="020B0604020202020204" pitchFamily="34" charset="0"/>
              <a:buNone/>
            </a:pPr>
            <a:r>
              <a:rPr lang="en-US" sz="1200"/>
              <a:t>Stratified cross-validation was used to ensure robust and fair comparison among models, preventing data imbalance bias.</a:t>
            </a:r>
          </a:p>
          <a:p>
            <a:pPr marL="0" indent="0">
              <a:lnSpc>
                <a:spcPct val="110000"/>
              </a:lnSpc>
              <a:spcBef>
                <a:spcPts val="2500"/>
              </a:spcBef>
              <a:spcAft>
                <a:spcPts val="600"/>
              </a:spcAft>
              <a:buFont typeface="Arial" panose="020B0604020202020204" pitchFamily="34" charset="0"/>
              <a:buNone/>
            </a:pPr>
            <a:r>
              <a:rPr lang="en-US" sz="1200" b="1"/>
              <a:t>Comprehensive Metric Evaluation</a:t>
            </a:r>
          </a:p>
          <a:p>
            <a:pPr marL="0" lvl="1" indent="0">
              <a:lnSpc>
                <a:spcPct val="110000"/>
              </a:lnSpc>
              <a:spcAft>
                <a:spcPts val="600"/>
              </a:spcAft>
              <a:buFont typeface="Arial" panose="020B0604020202020204" pitchFamily="34" charset="0"/>
              <a:buNone/>
            </a:pPr>
            <a:r>
              <a:rPr lang="en-US" sz="1200"/>
              <a:t>Model performance was evaluated using accuracy, precision, recall, F1-score, and ROC-AUC, with ROC-AUC as the primary metric.</a:t>
            </a:r>
          </a:p>
        </p:txBody>
      </p:sp>
      <p:sp>
        <p:nvSpPr>
          <p:cNvPr id="12" name="Footer Placeholder 4">
            <a:extLst>
              <a:ext uri="{FF2B5EF4-FFF2-40B4-BE49-F238E27FC236}">
                <a16:creationId xmlns:a16="http://schemas.microsoft.com/office/drawing/2014/main" id="{DD55792A-5D5A-CCD5-C6A2-1D755EC7C7EB}"/>
              </a:ext>
            </a:extLst>
          </p:cNvPr>
          <p:cNvSpPr>
            <a:spLocks noGrp="1"/>
          </p:cNvSpPr>
          <p:nvPr>
            <p:ph type="ftr" sz="quarter" idx="16"/>
          </p:nvPr>
        </p:nvSpPr>
        <p:spPr>
          <a:xfrm>
            <a:off x="152401" y="6400800"/>
            <a:ext cx="5943599" cy="457200"/>
          </a:xfrm>
        </p:spPr>
        <p:txBody>
          <a:bodyPr/>
          <a:lstStyle/>
          <a:p>
            <a:endParaRPr lang="en-US"/>
          </a:p>
        </p:txBody>
      </p:sp>
      <p:sp>
        <p:nvSpPr>
          <p:cNvPr id="6" name="Slide Number Placeholder 5">
            <a:extLst>
              <a:ext uri="{FF2B5EF4-FFF2-40B4-BE49-F238E27FC236}">
                <a16:creationId xmlns:a16="http://schemas.microsoft.com/office/drawing/2014/main" id="{DC6B20C4-E46D-A75F-E05D-E3B95FC18060}"/>
              </a:ext>
            </a:extLst>
          </p:cNvPr>
          <p:cNvSpPr>
            <a:spLocks noGrp="1"/>
          </p:cNvSpPr>
          <p:nvPr>
            <p:ph type="sldNum" sz="quarter" idx="17"/>
          </p:nvPr>
        </p:nvSpPr>
        <p:spPr>
          <a:xfrm>
            <a:off x="11038014" y="6400800"/>
            <a:ext cx="1001586" cy="457200"/>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Tree>
    <p:extLst>
      <p:ext uri="{BB962C8B-B14F-4D97-AF65-F5344CB8AC3E}">
        <p14:creationId xmlns:p14="http://schemas.microsoft.com/office/powerpoint/2010/main" val="94546060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41E25-A8CF-6A89-7DAF-5978ACFA06D8}"/>
              </a:ext>
            </a:extLst>
          </p:cNvPr>
          <p:cNvSpPr>
            <a:spLocks noGrp="1"/>
          </p:cNvSpPr>
          <p:nvPr>
            <p:ph type="title"/>
          </p:nvPr>
        </p:nvSpPr>
        <p:spPr>
          <a:xfrm>
            <a:off x="1143001" y="698501"/>
            <a:ext cx="9906000" cy="1018531"/>
          </a:xfrm>
        </p:spPr>
        <p:txBody>
          <a:bodyPr anchor="t">
            <a:normAutofit/>
          </a:bodyPr>
          <a:lstStyle/>
          <a:p>
            <a:r>
              <a:rPr lang="en-US"/>
              <a:t>Optimizing Model Performance</a:t>
            </a:r>
          </a:p>
        </p:txBody>
      </p:sp>
      <p:sp>
        <p:nvSpPr>
          <p:cNvPr id="11" name="Footer Placeholder 3">
            <a:extLst>
              <a:ext uri="{FF2B5EF4-FFF2-40B4-BE49-F238E27FC236}">
                <a16:creationId xmlns:a16="http://schemas.microsoft.com/office/drawing/2014/main" id="{B3352771-2079-379A-A83A-F1F2DF092400}"/>
              </a:ext>
            </a:extLst>
          </p:cNvPr>
          <p:cNvSpPr>
            <a:spLocks noGrp="1"/>
          </p:cNvSpPr>
          <p:nvPr>
            <p:ph type="ftr" sz="quarter" idx="11"/>
          </p:nvPr>
        </p:nvSpPr>
        <p:spPr>
          <a:xfrm>
            <a:off x="152400" y="6400800"/>
            <a:ext cx="5943599" cy="457200"/>
          </a:xfrm>
        </p:spPr>
        <p:txBody>
          <a:bodyPr/>
          <a:lstStyle/>
          <a:p>
            <a:endParaRPr lang="en-US"/>
          </a:p>
        </p:txBody>
      </p:sp>
      <p:sp>
        <p:nvSpPr>
          <p:cNvPr id="5" name="Slide Number Placeholder 4">
            <a:extLst>
              <a:ext uri="{FF2B5EF4-FFF2-40B4-BE49-F238E27FC236}">
                <a16:creationId xmlns:a16="http://schemas.microsoft.com/office/drawing/2014/main" id="{A8AEC453-5A1E-8270-D998-818D11F0F89D}"/>
              </a:ext>
            </a:extLst>
          </p:cNvPr>
          <p:cNvSpPr>
            <a:spLocks noGrp="1"/>
          </p:cNvSpPr>
          <p:nvPr>
            <p:ph type="sldNum" sz="quarter" idx="12"/>
          </p:nvPr>
        </p:nvSpPr>
        <p:spPr>
          <a:xfrm>
            <a:off x="11049000" y="6400800"/>
            <a:ext cx="990599" cy="457200"/>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graphicFrame>
        <p:nvGraphicFramePr>
          <p:cNvPr id="6" name="Content Placeholder 6">
            <a:extLst>
              <a:ext uri="{FF2B5EF4-FFF2-40B4-BE49-F238E27FC236}">
                <a16:creationId xmlns:a16="http://schemas.microsoft.com/office/drawing/2014/main" id="{4E18E4C5-7F4C-4C2F-9478-FE4C9F2F79DC}"/>
              </a:ext>
            </a:extLst>
          </p:cNvPr>
          <p:cNvGraphicFramePr>
            <a:graphicFrameLocks noGrp="1"/>
          </p:cNvGraphicFramePr>
          <p:nvPr>
            <p:ph idx="1"/>
            <p:extLst>
              <p:ext uri="{D42A27DB-BD31-4B8C-83A1-F6EECF244321}">
                <p14:modId xmlns:p14="http://schemas.microsoft.com/office/powerpoint/2010/main" val="407424009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142999" y="1905008"/>
          <a:ext cx="9906001" cy="403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56178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D991C-E0C9-FBDC-640D-B74DC6DA07C4}"/>
              </a:ext>
            </a:extLst>
          </p:cNvPr>
          <p:cNvSpPr>
            <a:spLocks noGrp="1"/>
          </p:cNvSpPr>
          <p:nvPr>
            <p:ph type="title"/>
          </p:nvPr>
        </p:nvSpPr>
        <p:spPr>
          <a:xfrm>
            <a:off x="1143001" y="720467"/>
            <a:ext cx="3517146" cy="1628481"/>
          </a:xfrm>
        </p:spPr>
        <p:txBody>
          <a:bodyPr anchor="t">
            <a:normAutofit/>
          </a:bodyPr>
          <a:lstStyle/>
          <a:p>
            <a:r>
              <a:rPr lang="en-US"/>
              <a:t>Optimizing Decision Thresholds</a:t>
            </a:r>
          </a:p>
        </p:txBody>
      </p:sp>
      <p:pic>
        <p:nvPicPr>
          <p:cNvPr id="7" name="Content Placeholder 6" descr="Coronavirus pandemic covid-19 vaccine bottle calculator stethoscope doctor office chart background">
            <a:extLst>
              <a:ext uri="{FF2B5EF4-FFF2-40B4-BE49-F238E27FC236}">
                <a16:creationId xmlns:a16="http://schemas.microsoft.com/office/drawing/2014/main" id="{945B92DD-BF7B-4C76-A7C3-76E2A954F719}"/>
              </a:ext>
            </a:extLst>
          </p:cNvPr>
          <p:cNvPicPr>
            <a:picLocks noGrp="1" noChangeAspect="1"/>
          </p:cNvPicPr>
          <p:nvPr>
            <p:ph type="pic" sz="quarter" idx="13"/>
          </p:nvPr>
        </p:nvPicPr>
        <p:blipFill>
          <a:blip r:embed="rId3"/>
          <a:srcRect l="32375" r="2584" b="2"/>
          <a:stretch>
            <a:fillRect/>
          </a:stretch>
        </p:blipFill>
        <p:spPr>
          <a:xfrm>
            <a:off x="1143001" y="2563904"/>
            <a:ext cx="3517146" cy="3379695"/>
          </a:xfrm>
        </p:spPr>
      </p:pic>
      <p:sp>
        <p:nvSpPr>
          <p:cNvPr id="4" name="Content Placeholder 3">
            <a:extLst>
              <a:ext uri="{FF2B5EF4-FFF2-40B4-BE49-F238E27FC236}">
                <a16:creationId xmlns:a16="http://schemas.microsoft.com/office/drawing/2014/main" id="{42F86EBD-4F2D-A609-C2D0-4BDCFC32642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72162" y="685801"/>
            <a:ext cx="5676838" cy="5257800"/>
          </a:xfrm>
        </p:spPr>
        <p:txBody>
          <a:bodyPr>
            <a:normAutofit/>
          </a:bodyPr>
          <a:lstStyle/>
          <a:p>
            <a:pPr marL="0" indent="0">
              <a:spcBef>
                <a:spcPts val="2500"/>
              </a:spcBef>
              <a:spcAft>
                <a:spcPts val="600"/>
              </a:spcAft>
              <a:buFont typeface="Arial" panose="020B0604020202020204" pitchFamily="34" charset="0"/>
              <a:buNone/>
            </a:pPr>
            <a:r>
              <a:rPr lang="en-US" b="1"/>
              <a:t>Balancing Recall and Precision</a:t>
            </a:r>
          </a:p>
          <a:p>
            <a:pPr marL="0" lvl="1" indent="0">
              <a:spcAft>
                <a:spcPts val="600"/>
              </a:spcAft>
              <a:buFont typeface="Arial" panose="020B0604020202020204" pitchFamily="34" charset="0"/>
              <a:buNone/>
            </a:pPr>
            <a:r>
              <a:t>Evaluating model performance at multiple thresholds helps balance recall and precision, critical for effective healthcare decisions.</a:t>
            </a:r>
            <a:endParaRPr lang="en-US"/>
          </a:p>
          <a:p>
            <a:pPr marL="0" indent="0">
              <a:spcBef>
                <a:spcPts val="2500"/>
              </a:spcBef>
              <a:spcAft>
                <a:spcPts val="600"/>
              </a:spcAft>
              <a:buFont typeface="Arial" panose="020B0604020202020204" pitchFamily="34" charset="0"/>
              <a:buNone/>
            </a:pPr>
            <a:r>
              <a:rPr lang="en-US" b="1"/>
              <a:t>Maximizing F1-Score</a:t>
            </a:r>
          </a:p>
          <a:p>
            <a:pPr marL="0" lvl="1" indent="0">
              <a:spcAft>
                <a:spcPts val="600"/>
              </a:spcAft>
              <a:buFont typeface="Arial" panose="020B0604020202020204" pitchFamily="34" charset="0"/>
              <a:buNone/>
            </a:pPr>
            <a:r>
              <a:t>Optimizing the threshold using F1-score provides balanced accuracy, reducing both false positives and false negatives.</a:t>
            </a:r>
            <a:endParaRPr lang="en-US"/>
          </a:p>
          <a:p>
            <a:pPr marL="0" indent="0">
              <a:spcBef>
                <a:spcPts val="2500"/>
              </a:spcBef>
              <a:spcAft>
                <a:spcPts val="600"/>
              </a:spcAft>
              <a:buFont typeface="Arial" panose="020B0604020202020204" pitchFamily="34" charset="0"/>
              <a:buNone/>
            </a:pPr>
            <a:r>
              <a:rPr lang="en-US" b="1"/>
              <a:t>Enhancing Sensitivity and Specificity</a:t>
            </a:r>
          </a:p>
          <a:p>
            <a:pPr marL="0" lvl="1" indent="0">
              <a:spcAft>
                <a:spcPts val="600"/>
              </a:spcAft>
              <a:buFont typeface="Arial" panose="020B0604020202020204" pitchFamily="34" charset="0"/>
              <a:buNone/>
            </a:pPr>
            <a:r>
              <a:t>Applying Youden’s J statistic enhances both sensitivity and specificity, improving identification of critical healthcare cases.</a:t>
            </a:r>
            <a:endParaRPr lang="en-US"/>
          </a:p>
          <a:p>
            <a:pPr marL="0" indent="0">
              <a:spcBef>
                <a:spcPts val="2500"/>
              </a:spcBef>
              <a:spcAft>
                <a:spcPts val="600"/>
              </a:spcAft>
              <a:buFont typeface="Arial" panose="020B0604020202020204" pitchFamily="34" charset="0"/>
              <a:buNone/>
            </a:pPr>
            <a:r>
              <a:rPr lang="en-US" b="1"/>
              <a:t>Ensuring Minimum Recall</a:t>
            </a:r>
          </a:p>
          <a:p>
            <a:pPr marL="0" lvl="1" indent="0">
              <a:spcAft>
                <a:spcPts val="600"/>
              </a:spcAft>
              <a:buFont typeface="Arial" panose="020B0604020202020204" pitchFamily="34" charset="0"/>
              <a:buNone/>
            </a:pPr>
            <a:r>
              <a:t>Setting minimum recall constraints ensures that crucial cases are detected, reducing the risk of false negatives.</a:t>
            </a:r>
            <a:endParaRPr lang="en-US"/>
          </a:p>
        </p:txBody>
      </p:sp>
      <p:sp>
        <p:nvSpPr>
          <p:cNvPr id="12" name="Footer Placeholder 4">
            <a:extLst>
              <a:ext uri="{FF2B5EF4-FFF2-40B4-BE49-F238E27FC236}">
                <a16:creationId xmlns:a16="http://schemas.microsoft.com/office/drawing/2014/main" id="{5E525780-6996-9D71-0306-435101D60966}"/>
              </a:ext>
            </a:extLst>
          </p:cNvPr>
          <p:cNvSpPr>
            <a:spLocks noGrp="1"/>
          </p:cNvSpPr>
          <p:nvPr>
            <p:ph type="ftr" sz="quarter" idx="11"/>
          </p:nvPr>
        </p:nvSpPr>
        <p:spPr>
          <a:xfrm>
            <a:off x="152400" y="6400800"/>
            <a:ext cx="5943599" cy="457200"/>
          </a:xfrm>
        </p:spPr>
        <p:txBody>
          <a:bodyPr/>
          <a:lstStyle/>
          <a:p>
            <a:endParaRPr lang="en-US"/>
          </a:p>
        </p:txBody>
      </p:sp>
      <p:sp>
        <p:nvSpPr>
          <p:cNvPr id="6" name="Slide Number Placeholder 5">
            <a:extLst>
              <a:ext uri="{FF2B5EF4-FFF2-40B4-BE49-F238E27FC236}">
                <a16:creationId xmlns:a16="http://schemas.microsoft.com/office/drawing/2014/main" id="{9D42919E-F629-E6DC-1354-629F71CE134D}"/>
              </a:ext>
            </a:extLst>
          </p:cNvPr>
          <p:cNvSpPr>
            <a:spLocks noGrp="1"/>
          </p:cNvSpPr>
          <p:nvPr>
            <p:ph type="sldNum" sz="quarter" idx="12"/>
          </p:nvPr>
        </p:nvSpPr>
        <p:spPr>
          <a:xfrm>
            <a:off x="11049000" y="6400800"/>
            <a:ext cx="990599" cy="457200"/>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Tree>
    <p:extLst>
      <p:ext uri="{BB962C8B-B14F-4D97-AF65-F5344CB8AC3E}">
        <p14:creationId xmlns:p14="http://schemas.microsoft.com/office/powerpoint/2010/main" val="9045596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38EBD-E09A-3F84-4547-3DBD5AFB4339}"/>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7500618-55E2-2502-6543-877A79B39A5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971707B-AC4A-57AF-2135-F224C761EE54}"/>
              </a:ext>
            </a:extLst>
          </p:cNvPr>
          <p:cNvSpPr>
            <a:spLocks noGrp="1"/>
          </p:cNvSpPr>
          <p:nvPr>
            <p:ph sz="quarter" idx="16"/>
          </p:nvPr>
        </p:nvSpPr>
        <p:spPr>
          <a:xfrm>
            <a:off x="828675" y="3609975"/>
            <a:ext cx="10534650" cy="2419350"/>
          </a:xfrm>
        </p:spPr>
        <p:txBody>
          <a:bodyPr>
            <a:normAutofit fontScale="85000" lnSpcReduction="10000"/>
          </a:bodyPr>
          <a:lstStyle/>
          <a:p>
            <a:pPr marL="0" marR="0" indent="0" algn="l" fontAlgn="b">
              <a:buNone/>
            </a:pPr>
            <a:r>
              <a:rPr lang="en-US" sz="8250" dirty="0">
                <a:solidFill>
                  <a:srgbClr val="000000"/>
                </a:solidFill>
                <a:effectLst/>
                <a:latin typeface="Mongolian Baiti" panose="03000500000000000000" pitchFamily="66" charset="0"/>
              </a:rPr>
              <a:t>Results for </a:t>
            </a:r>
            <a:r>
              <a:rPr sz="8250" dirty="0">
                <a:solidFill>
                  <a:srgbClr val="000000"/>
                </a:solidFill>
                <a:effectLst/>
                <a:latin typeface="Mongolian Baiti" panose="03000500000000000000" pitchFamily="66" charset="0"/>
              </a:rPr>
              <a:t>Supervised ML for Heart Disease Prediction</a:t>
            </a:r>
            <a:r>
              <a:rPr dirty="0">
                <a:effectLst/>
              </a:rPr>
              <a:t> </a:t>
            </a:r>
            <a:endParaRPr lang="en-US" dirty="0"/>
          </a:p>
        </p:txBody>
      </p:sp>
      <p:sp>
        <p:nvSpPr>
          <p:cNvPr id="6" name="Slide Number Placeholder 5">
            <a:extLst>
              <a:ext uri="{FF2B5EF4-FFF2-40B4-BE49-F238E27FC236}">
                <a16:creationId xmlns:a16="http://schemas.microsoft.com/office/drawing/2014/main" id="{6D766F47-94F3-1BC2-84B1-803068DB2E0F}"/>
              </a:ext>
            </a:extLst>
          </p:cNvPr>
          <p:cNvSpPr>
            <a:spLocks noGrp="1"/>
          </p:cNvSpPr>
          <p:nvPr>
            <p:ph type="sldNum" sz="quarter" idx="12"/>
          </p:nvPr>
        </p:nvSpPr>
        <p:spPr/>
        <p:txBody>
          <a:bodyPr/>
          <a:lstStyle/>
          <a:p>
            <a:fld id="{AEAA3239-9EA4-4A65-A281-97F994456D9F}" type="slidenum">
              <a:rPr lang="en-US" smtClean="0"/>
              <a:t>13</a:t>
            </a:fld>
            <a:endParaRPr lang="en-US" dirty="0"/>
          </a:p>
        </p:txBody>
      </p:sp>
    </p:spTree>
    <p:extLst>
      <p:ext uri="{BB962C8B-B14F-4D97-AF65-F5344CB8AC3E}">
        <p14:creationId xmlns:p14="http://schemas.microsoft.com/office/powerpoint/2010/main" val="1813832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F21D3-34FB-C51C-FCC5-89EBD15C288A}"/>
              </a:ext>
            </a:extLst>
          </p:cNvPr>
          <p:cNvSpPr>
            <a:spLocks noGrp="1"/>
          </p:cNvSpPr>
          <p:nvPr>
            <p:ph type="title"/>
          </p:nvPr>
        </p:nvSpPr>
        <p:spPr>
          <a:xfrm>
            <a:off x="6492241" y="685800"/>
            <a:ext cx="4546423" cy="914400"/>
          </a:xfrm>
        </p:spPr>
        <p:txBody>
          <a:bodyPr anchor="t">
            <a:normAutofit/>
          </a:bodyPr>
          <a:lstStyle/>
          <a:p>
            <a:r>
              <a:rPr lang="en-US" sz="3300"/>
              <a:t>Support Vector Classifier Excels</a:t>
            </a:r>
          </a:p>
        </p:txBody>
      </p:sp>
      <p:pic>
        <p:nvPicPr>
          <p:cNvPr id="7" name="Content Placeholder 6" descr="illlustration of a balancing variables.">
            <a:extLst>
              <a:ext uri="{FF2B5EF4-FFF2-40B4-BE49-F238E27FC236}">
                <a16:creationId xmlns:a16="http://schemas.microsoft.com/office/drawing/2014/main" id="{23F99B68-90AC-40FB-83EA-2B94469A4FE6}"/>
              </a:ext>
            </a:extLst>
          </p:cNvPr>
          <p:cNvPicPr>
            <a:picLocks noGrp="1" noChangeAspect="1"/>
          </p:cNvPicPr>
          <p:nvPr>
            <p:ph type="pic" sz="quarter" idx="15"/>
          </p:nvPr>
        </p:nvPicPr>
        <p:blipFill>
          <a:blip r:embed="rId3"/>
          <a:srcRect l="15221" r="26128" b="-1"/>
          <a:stretch>
            <a:fillRect/>
          </a:stretch>
        </p:blipFill>
        <p:spPr>
          <a:xfrm>
            <a:off x="1153336" y="685800"/>
            <a:ext cx="4637225" cy="5257800"/>
          </a:xfrm>
        </p:spPr>
      </p:pic>
      <p:sp>
        <p:nvSpPr>
          <p:cNvPr id="4" name="Content Placeholder 3">
            <a:extLst>
              <a:ext uri="{FF2B5EF4-FFF2-40B4-BE49-F238E27FC236}">
                <a16:creationId xmlns:a16="http://schemas.microsoft.com/office/drawing/2014/main" id="{B73F7A62-8013-A1D3-0839-EB688DDC6D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241" y="1828300"/>
            <a:ext cx="4556759" cy="4115300"/>
          </a:xfrm>
        </p:spPr>
        <p:txBody>
          <a:bodyPr>
            <a:normAutofit/>
          </a:bodyPr>
          <a:lstStyle/>
          <a:p>
            <a:pPr marL="0" indent="0">
              <a:lnSpc>
                <a:spcPct val="110000"/>
              </a:lnSpc>
              <a:spcBef>
                <a:spcPts val="2500"/>
              </a:spcBef>
              <a:spcAft>
                <a:spcPts val="600"/>
              </a:spcAft>
              <a:buFont typeface="Arial" panose="020B0604020202020204" pitchFamily="34" charset="0"/>
              <a:buNone/>
            </a:pPr>
            <a:r>
              <a:rPr lang="en-US" b="1"/>
              <a:t>Highest ROC-AUC Performance</a:t>
            </a:r>
          </a:p>
          <a:p>
            <a:pPr marL="0" lvl="1" indent="0">
              <a:lnSpc>
                <a:spcPct val="110000"/>
              </a:lnSpc>
              <a:spcAft>
                <a:spcPts val="600"/>
              </a:spcAft>
              <a:buFont typeface="Arial" panose="020B0604020202020204" pitchFamily="34" charset="0"/>
              <a:buNone/>
            </a:pPr>
            <a:r>
              <a:t>The Support Vector Classifier with RBF kernel achieved the highest ROC-AUC, indicating superior model discrimination during cross-validation.</a:t>
            </a:r>
            <a:endParaRPr lang="en-US"/>
          </a:p>
          <a:p>
            <a:pPr marL="0" indent="0">
              <a:lnSpc>
                <a:spcPct val="110000"/>
              </a:lnSpc>
              <a:spcBef>
                <a:spcPts val="2500"/>
              </a:spcBef>
              <a:spcAft>
                <a:spcPts val="600"/>
              </a:spcAft>
              <a:buFont typeface="Arial" panose="020B0604020202020204" pitchFamily="34" charset="0"/>
              <a:buNone/>
            </a:pPr>
            <a:r>
              <a:rPr lang="en-US" b="1"/>
              <a:t>Balanced Precision and Recall</a:t>
            </a:r>
          </a:p>
          <a:p>
            <a:pPr marL="0" lvl="1" indent="0">
              <a:lnSpc>
                <a:spcPct val="110000"/>
              </a:lnSpc>
              <a:spcAft>
                <a:spcPts val="600"/>
              </a:spcAft>
              <a:buFont typeface="Arial" panose="020B0604020202020204" pitchFamily="34" charset="0"/>
              <a:buNone/>
            </a:pPr>
            <a:r>
              <a:t>This model maintains a strong balance between precision and recall, ensuring consistent and reliable predictions across both classes.</a:t>
            </a:r>
            <a:endParaRPr lang="en-US"/>
          </a:p>
          <a:p>
            <a:pPr marL="0" indent="0">
              <a:lnSpc>
                <a:spcPct val="110000"/>
              </a:lnSpc>
              <a:spcBef>
                <a:spcPts val="2500"/>
              </a:spcBef>
              <a:spcAft>
                <a:spcPts val="600"/>
              </a:spcAft>
              <a:buFont typeface="Arial" panose="020B0604020202020204" pitchFamily="34" charset="0"/>
              <a:buNone/>
            </a:pPr>
            <a:r>
              <a:rPr lang="en-US" b="1"/>
              <a:t>Outperforms Other Models</a:t>
            </a:r>
          </a:p>
          <a:p>
            <a:pPr marL="0" lvl="1" indent="0">
              <a:lnSpc>
                <a:spcPct val="110000"/>
              </a:lnSpc>
              <a:spcAft>
                <a:spcPts val="600"/>
              </a:spcAft>
              <a:buFont typeface="Arial" panose="020B0604020202020204" pitchFamily="34" charset="0"/>
              <a:buNone/>
            </a:pPr>
            <a:r>
              <a:t>With a high F1-score, the Support Vector Classifier surpasses tree-based and linear models in overall classification ability.</a:t>
            </a:r>
            <a:endParaRPr lang="en-US"/>
          </a:p>
        </p:txBody>
      </p:sp>
      <p:sp>
        <p:nvSpPr>
          <p:cNvPr id="12" name="Footer Placeholder 4">
            <a:extLst>
              <a:ext uri="{FF2B5EF4-FFF2-40B4-BE49-F238E27FC236}">
                <a16:creationId xmlns:a16="http://schemas.microsoft.com/office/drawing/2014/main" id="{7F4AFEC9-5C68-86F0-7241-08F489B649FE}"/>
              </a:ext>
            </a:extLst>
          </p:cNvPr>
          <p:cNvSpPr>
            <a:spLocks noGrp="1"/>
          </p:cNvSpPr>
          <p:nvPr>
            <p:ph type="ftr" sz="quarter" idx="11"/>
          </p:nvPr>
        </p:nvSpPr>
        <p:spPr>
          <a:xfrm>
            <a:off x="152401" y="6404316"/>
            <a:ext cx="5943600" cy="453684"/>
          </a:xfrm>
        </p:spPr>
        <p:txBody>
          <a:bodyPr/>
          <a:lstStyle/>
          <a:p>
            <a:endParaRPr lang="en-US"/>
          </a:p>
        </p:txBody>
      </p:sp>
      <p:sp>
        <p:nvSpPr>
          <p:cNvPr id="6" name="Slide Number Placeholder 5">
            <a:extLst>
              <a:ext uri="{FF2B5EF4-FFF2-40B4-BE49-F238E27FC236}">
                <a16:creationId xmlns:a16="http://schemas.microsoft.com/office/drawing/2014/main" id="{F9DC730B-02CD-2209-BF0E-A006EC7C6B6E}"/>
              </a:ext>
            </a:extLst>
          </p:cNvPr>
          <p:cNvSpPr>
            <a:spLocks noGrp="1"/>
          </p:cNvSpPr>
          <p:nvPr>
            <p:ph type="sldNum" sz="quarter" idx="12"/>
          </p:nvPr>
        </p:nvSpPr>
        <p:spPr>
          <a:xfrm>
            <a:off x="11049000" y="6404316"/>
            <a:ext cx="990600" cy="453684"/>
          </a:xfrm>
        </p:spPr>
        <p:txBody>
          <a:bodyPr anchor="ctr">
            <a:normAutofit/>
          </a:bodyPr>
          <a:lstStyle/>
          <a:p>
            <a:pPr>
              <a:spcAft>
                <a:spcPts val="600"/>
              </a:spcAft>
            </a:pPr>
            <a:fld id="{AEAA3239-9EA4-4A65-A281-97F994456D9F}" type="slidenum">
              <a:rPr lang="en-US" smtClean="0"/>
              <a:pPr>
                <a:spcAft>
                  <a:spcPts val="600"/>
                </a:spcAft>
              </a:pPr>
              <a:t>14</a:t>
            </a:fld>
            <a:endParaRPr lang="en-US"/>
          </a:p>
        </p:txBody>
      </p:sp>
    </p:spTree>
    <p:extLst>
      <p:ext uri="{BB962C8B-B14F-4D97-AF65-F5344CB8AC3E}">
        <p14:creationId xmlns:p14="http://schemas.microsoft.com/office/powerpoint/2010/main" val="386787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ED553-0886-6524-9442-470095899CD5}"/>
              </a:ext>
            </a:extLst>
          </p:cNvPr>
          <p:cNvSpPr>
            <a:spLocks noGrp="1"/>
          </p:cNvSpPr>
          <p:nvPr>
            <p:ph type="title"/>
          </p:nvPr>
        </p:nvSpPr>
        <p:spPr>
          <a:xfrm>
            <a:off x="1143000" y="681036"/>
            <a:ext cx="9906000" cy="999861"/>
          </a:xfrm>
        </p:spPr>
        <p:txBody>
          <a:bodyPr anchor="t">
            <a:normAutofit/>
          </a:bodyPr>
          <a:lstStyle/>
          <a:p>
            <a:r>
              <a:rPr lang="en-US"/>
              <a:t>Optimized Model Insights</a:t>
            </a:r>
          </a:p>
        </p:txBody>
      </p:sp>
      <p:pic>
        <p:nvPicPr>
          <p:cNvPr id="7" name="Content Placeholder 6" descr="Abundance of medical icons in geometric figures">
            <a:extLst>
              <a:ext uri="{FF2B5EF4-FFF2-40B4-BE49-F238E27FC236}">
                <a16:creationId xmlns:a16="http://schemas.microsoft.com/office/drawing/2014/main" id="{B055E829-7DDA-4153-B486-A04980140900}"/>
              </a:ext>
            </a:extLst>
          </p:cNvPr>
          <p:cNvPicPr>
            <a:picLocks noGrp="1" noChangeAspect="1"/>
          </p:cNvPicPr>
          <p:nvPr>
            <p:ph sz="quarter" idx="15"/>
          </p:nvPr>
        </p:nvPicPr>
        <p:blipFill>
          <a:blip r:embed="rId3"/>
          <a:stretch>
            <a:fillRect/>
          </a:stretch>
        </p:blipFill>
        <p:spPr>
          <a:xfrm>
            <a:off x="1142999" y="2418948"/>
            <a:ext cx="4544695" cy="2931328"/>
          </a:xfrm>
        </p:spPr>
      </p:pic>
      <p:sp>
        <p:nvSpPr>
          <p:cNvPr id="4" name="Content Placeholder 3">
            <a:extLst>
              <a:ext uri="{FF2B5EF4-FFF2-40B4-BE49-F238E27FC236}">
                <a16:creationId xmlns:a16="http://schemas.microsoft.com/office/drawing/2014/main" id="{FF9B8269-EEF1-F168-02BC-A7993C47DD0C}"/>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04305" y="1825625"/>
            <a:ext cx="4544695" cy="4117975"/>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100" b="1"/>
              <a:t>Improved Recall and Precision</a:t>
            </a:r>
          </a:p>
          <a:p>
            <a:pPr marL="0" lvl="1" indent="0">
              <a:lnSpc>
                <a:spcPct val="110000"/>
              </a:lnSpc>
              <a:spcAft>
                <a:spcPts val="600"/>
              </a:spcAft>
              <a:buFont typeface="Arial" panose="020B0604020202020204" pitchFamily="34" charset="0"/>
              <a:buNone/>
            </a:pPr>
            <a:r>
              <a:rPr lang="en-US" sz="1100"/>
              <a:t>The optimized model achieved higher recall rates while maintaining acceptable precision, essential for accurate medical diagnostics.</a:t>
            </a:r>
          </a:p>
          <a:p>
            <a:pPr marL="0" indent="0">
              <a:lnSpc>
                <a:spcPct val="110000"/>
              </a:lnSpc>
              <a:spcBef>
                <a:spcPts val="2500"/>
              </a:spcBef>
              <a:spcAft>
                <a:spcPts val="600"/>
              </a:spcAft>
              <a:buFont typeface="Arial" panose="020B0604020202020204" pitchFamily="34" charset="0"/>
              <a:buNone/>
            </a:pPr>
            <a:r>
              <a:rPr lang="en-US" sz="1100" b="1"/>
              <a:t>High Test ROC-AUC</a:t>
            </a:r>
          </a:p>
          <a:p>
            <a:pPr marL="0" lvl="1" indent="0">
              <a:lnSpc>
                <a:spcPct val="110000"/>
              </a:lnSpc>
              <a:spcAft>
                <a:spcPts val="600"/>
              </a:spcAft>
              <a:buFont typeface="Arial" panose="020B0604020202020204" pitchFamily="34" charset="0"/>
              <a:buNone/>
            </a:pPr>
            <a:r>
              <a:rPr lang="en-US" sz="1100"/>
              <a:t>The model demonstrated a high ROC-AUC on test data, indicating robust predictive performance in identifying true positive cases.</a:t>
            </a:r>
          </a:p>
          <a:p>
            <a:pPr marL="0" indent="0">
              <a:lnSpc>
                <a:spcPct val="110000"/>
              </a:lnSpc>
              <a:spcBef>
                <a:spcPts val="2500"/>
              </a:spcBef>
              <a:spcAft>
                <a:spcPts val="600"/>
              </a:spcAft>
              <a:buFont typeface="Arial" panose="020B0604020202020204" pitchFamily="34" charset="0"/>
              <a:buNone/>
            </a:pPr>
            <a:r>
              <a:rPr lang="en-US" sz="1100" b="1"/>
              <a:t>Enhanced Sensitivity for Heart Disease</a:t>
            </a:r>
          </a:p>
          <a:p>
            <a:pPr marL="0" lvl="1" indent="0">
              <a:lnSpc>
                <a:spcPct val="110000"/>
              </a:lnSpc>
              <a:spcAft>
                <a:spcPts val="600"/>
              </a:spcAft>
              <a:buFont typeface="Arial" panose="020B0604020202020204" pitchFamily="34" charset="0"/>
              <a:buNone/>
            </a:pPr>
            <a:r>
              <a:rPr lang="en-US" sz="1100"/>
              <a:t>The model showed greater sensitivity in detecting heart disease, improving early identification and supporting better patient outcomes.</a:t>
            </a:r>
          </a:p>
          <a:p>
            <a:pPr marL="0" indent="0">
              <a:lnSpc>
                <a:spcPct val="110000"/>
              </a:lnSpc>
              <a:spcBef>
                <a:spcPts val="2500"/>
              </a:spcBef>
              <a:spcAft>
                <a:spcPts val="600"/>
              </a:spcAft>
              <a:buFont typeface="Arial" panose="020B0604020202020204" pitchFamily="34" charset="0"/>
              <a:buNone/>
            </a:pPr>
            <a:r>
              <a:rPr lang="en-US" sz="1100" b="1"/>
              <a:t>Patient Risk Stratification</a:t>
            </a:r>
          </a:p>
          <a:p>
            <a:pPr marL="0" lvl="1" indent="0">
              <a:lnSpc>
                <a:spcPct val="110000"/>
              </a:lnSpc>
              <a:spcAft>
                <a:spcPts val="600"/>
              </a:spcAft>
              <a:buFont typeface="Arial" panose="020B0604020202020204" pitchFamily="34" charset="0"/>
              <a:buNone/>
            </a:pPr>
            <a:r>
              <a:rPr lang="en-US" sz="1100"/>
              <a:t>The model clearly separated high-risk and low-risk patient groups, aiding clinical decision-making and personalized care.</a:t>
            </a:r>
          </a:p>
        </p:txBody>
      </p:sp>
      <p:sp>
        <p:nvSpPr>
          <p:cNvPr id="12" name="Footer Placeholder 4">
            <a:extLst>
              <a:ext uri="{FF2B5EF4-FFF2-40B4-BE49-F238E27FC236}">
                <a16:creationId xmlns:a16="http://schemas.microsoft.com/office/drawing/2014/main" id="{2D203803-F16F-7AAF-FBDC-A26430DF42CA}"/>
              </a:ext>
            </a:extLst>
          </p:cNvPr>
          <p:cNvSpPr>
            <a:spLocks noGrp="1"/>
          </p:cNvSpPr>
          <p:nvPr>
            <p:ph type="ftr" sz="quarter" idx="11"/>
          </p:nvPr>
        </p:nvSpPr>
        <p:spPr>
          <a:xfrm>
            <a:off x="152400" y="6400800"/>
            <a:ext cx="5943599" cy="457200"/>
          </a:xfrm>
        </p:spPr>
        <p:txBody>
          <a:bodyPr/>
          <a:lstStyle/>
          <a:p>
            <a:endParaRPr lang="en-US"/>
          </a:p>
        </p:txBody>
      </p:sp>
      <p:sp>
        <p:nvSpPr>
          <p:cNvPr id="6" name="Slide Number Placeholder 5">
            <a:extLst>
              <a:ext uri="{FF2B5EF4-FFF2-40B4-BE49-F238E27FC236}">
                <a16:creationId xmlns:a16="http://schemas.microsoft.com/office/drawing/2014/main" id="{C9C4DC9E-2576-8018-24EA-39EB5AF58627}"/>
              </a:ext>
            </a:extLst>
          </p:cNvPr>
          <p:cNvSpPr>
            <a:spLocks noGrp="1"/>
          </p:cNvSpPr>
          <p:nvPr>
            <p:ph type="sldNum" sz="quarter" idx="12"/>
          </p:nvPr>
        </p:nvSpPr>
        <p:spPr>
          <a:xfrm>
            <a:off x="11049000" y="6400800"/>
            <a:ext cx="990599" cy="457200"/>
          </a:xfrm>
        </p:spPr>
        <p:txBody>
          <a:bodyPr anchor="ctr">
            <a:normAutofit/>
          </a:bodyPr>
          <a:lstStyle/>
          <a:p>
            <a:pPr>
              <a:spcAft>
                <a:spcPts val="600"/>
              </a:spcAft>
            </a:pPr>
            <a:fld id="{AEAA3239-9EA4-4A65-A281-97F994456D9F}" type="slidenum">
              <a:rPr lang="en-US" smtClean="0"/>
              <a:pPr>
                <a:spcAft>
                  <a:spcPts val="600"/>
                </a:spcAft>
              </a:pPr>
              <a:t>15</a:t>
            </a:fld>
            <a:endParaRPr lang="en-US"/>
          </a:p>
        </p:txBody>
      </p:sp>
    </p:spTree>
    <p:extLst>
      <p:ext uri="{BB962C8B-B14F-4D97-AF65-F5344CB8AC3E}">
        <p14:creationId xmlns:p14="http://schemas.microsoft.com/office/powerpoint/2010/main" val="401729179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CB9A-BDBF-E49F-1087-B4C6B39EF3E8}"/>
              </a:ext>
            </a:extLst>
          </p:cNvPr>
          <p:cNvSpPr>
            <a:spLocks noGrp="1"/>
          </p:cNvSpPr>
          <p:nvPr>
            <p:ph type="title"/>
          </p:nvPr>
        </p:nvSpPr>
        <p:spPr>
          <a:xfrm>
            <a:off x="1143000" y="685800"/>
            <a:ext cx="9906000" cy="941832"/>
          </a:xfrm>
        </p:spPr>
        <p:txBody>
          <a:bodyPr anchor="t">
            <a:normAutofit/>
          </a:bodyPr>
          <a:lstStyle/>
          <a:p>
            <a:r>
              <a:rPr lang="en-US"/>
              <a:t>Understanding Model Insights</a:t>
            </a:r>
          </a:p>
        </p:txBody>
      </p:sp>
      <p:pic>
        <p:nvPicPr>
          <p:cNvPr id="7" name="Content Placeholder 6" descr="Medical doctor using  touching ecg heartbeat chart">
            <a:extLst>
              <a:ext uri="{FF2B5EF4-FFF2-40B4-BE49-F238E27FC236}">
                <a16:creationId xmlns:a16="http://schemas.microsoft.com/office/drawing/2014/main" id="{F6CB4D2C-ED2D-435D-9FF3-EF257AFA33FB}"/>
              </a:ext>
            </a:extLst>
          </p:cNvPr>
          <p:cNvPicPr>
            <a:picLocks noGrp="1" noChangeAspect="1"/>
          </p:cNvPicPr>
          <p:nvPr>
            <p:ph type="pic" sz="quarter" idx="13"/>
          </p:nvPr>
        </p:nvPicPr>
        <p:blipFill>
          <a:blip r:embed="rId3"/>
          <a:srcRect l="8368" r="39561" b="-1"/>
          <a:stretch>
            <a:fillRect/>
          </a:stretch>
        </p:blipFill>
        <p:spPr>
          <a:xfrm>
            <a:off x="1143000" y="1855838"/>
            <a:ext cx="4678055" cy="4087762"/>
          </a:xfrm>
        </p:spPr>
      </p:pic>
      <p:sp>
        <p:nvSpPr>
          <p:cNvPr id="4" name="Content Placeholder 3">
            <a:extLst>
              <a:ext uri="{FF2B5EF4-FFF2-40B4-BE49-F238E27FC236}">
                <a16:creationId xmlns:a16="http://schemas.microsoft.com/office/drawing/2014/main" id="{226E27A0-BFF2-531F-8B01-9308E961674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69855" y="1855839"/>
            <a:ext cx="4479145" cy="4087762"/>
          </a:xfrm>
        </p:spPr>
        <p:txBody>
          <a:bodyPr>
            <a:normAutofit/>
          </a:bodyPr>
          <a:lstStyle/>
          <a:p>
            <a:pPr marL="0" indent="0">
              <a:spcBef>
                <a:spcPts val="2500"/>
              </a:spcBef>
              <a:spcAft>
                <a:spcPts val="600"/>
              </a:spcAft>
              <a:buFont typeface="Arial" panose="020B0604020202020204" pitchFamily="34" charset="0"/>
              <a:buNone/>
            </a:pPr>
            <a:r>
              <a:rPr lang="en-US" b="1"/>
              <a:t>Key Predictive Features Identified</a:t>
            </a:r>
          </a:p>
          <a:p>
            <a:pPr marL="0" lvl="1" indent="0">
              <a:spcAft>
                <a:spcPts val="600"/>
              </a:spcAft>
              <a:buFont typeface="Arial" panose="020B0604020202020204" pitchFamily="34" charset="0"/>
              <a:buNone/>
            </a:pPr>
            <a:r>
              <a:t>Permutation importance analysis highlighted clinical and demographic features as top influencers in heart disease prediction accuracy.</a:t>
            </a:r>
            <a:endParaRPr lang="en-US"/>
          </a:p>
          <a:p>
            <a:pPr marL="0" indent="0">
              <a:spcBef>
                <a:spcPts val="2500"/>
              </a:spcBef>
              <a:spcAft>
                <a:spcPts val="600"/>
              </a:spcAft>
              <a:buFont typeface="Arial" panose="020B0604020202020204" pitchFamily="34" charset="0"/>
              <a:buNone/>
            </a:pPr>
            <a:r>
              <a:rPr lang="en-US" b="1"/>
              <a:t>Model Findings Validated</a:t>
            </a:r>
          </a:p>
          <a:p>
            <a:pPr marL="0" lvl="1" indent="0">
              <a:spcAft>
                <a:spcPts val="600"/>
              </a:spcAft>
              <a:buFont typeface="Arial" panose="020B0604020202020204" pitchFamily="34" charset="0"/>
              <a:buNone/>
            </a:pPr>
            <a:r>
              <a:t>The most impactful factors match established cardiovascular risk indicators, confirming the reliability of the model’s results.</a:t>
            </a:r>
            <a:endParaRPr lang="en-US"/>
          </a:p>
          <a:p>
            <a:pPr marL="0" indent="0">
              <a:spcBef>
                <a:spcPts val="2500"/>
              </a:spcBef>
              <a:spcAft>
                <a:spcPts val="600"/>
              </a:spcAft>
              <a:buFont typeface="Arial" panose="020B0604020202020204" pitchFamily="34" charset="0"/>
              <a:buNone/>
            </a:pPr>
            <a:r>
              <a:rPr lang="en-US" b="1"/>
              <a:t>Clinical Decision Support</a:t>
            </a:r>
          </a:p>
          <a:p>
            <a:pPr marL="0" lvl="1" indent="0">
              <a:spcAft>
                <a:spcPts val="600"/>
              </a:spcAft>
              <a:buFont typeface="Arial" panose="020B0604020202020204" pitchFamily="34" charset="0"/>
              <a:buNone/>
            </a:pPr>
            <a:r>
              <a:t>These insights build trust in the model and highlight its value for effective healthcare decision-making.</a:t>
            </a:r>
            <a:endParaRPr lang="en-US"/>
          </a:p>
        </p:txBody>
      </p:sp>
      <p:sp>
        <p:nvSpPr>
          <p:cNvPr id="12" name="Footer Placeholder 4">
            <a:extLst>
              <a:ext uri="{FF2B5EF4-FFF2-40B4-BE49-F238E27FC236}">
                <a16:creationId xmlns:a16="http://schemas.microsoft.com/office/drawing/2014/main" id="{4CD0EEFD-3230-40D4-C7F3-F327F867FFB6}"/>
              </a:ext>
            </a:extLst>
          </p:cNvPr>
          <p:cNvSpPr>
            <a:spLocks noGrp="1"/>
          </p:cNvSpPr>
          <p:nvPr>
            <p:ph type="ftr" sz="quarter" idx="16"/>
          </p:nvPr>
        </p:nvSpPr>
        <p:spPr>
          <a:xfrm>
            <a:off x="152400" y="6400800"/>
            <a:ext cx="5943600" cy="457200"/>
          </a:xfrm>
        </p:spPr>
        <p:txBody>
          <a:bodyPr/>
          <a:lstStyle/>
          <a:p>
            <a:endParaRPr lang="en-US"/>
          </a:p>
        </p:txBody>
      </p:sp>
      <p:sp>
        <p:nvSpPr>
          <p:cNvPr id="6" name="Slide Number Placeholder 5">
            <a:extLst>
              <a:ext uri="{FF2B5EF4-FFF2-40B4-BE49-F238E27FC236}">
                <a16:creationId xmlns:a16="http://schemas.microsoft.com/office/drawing/2014/main" id="{7AA457A0-2054-0960-7266-2951AF603FA1}"/>
              </a:ext>
            </a:extLst>
          </p:cNvPr>
          <p:cNvSpPr>
            <a:spLocks noGrp="1"/>
          </p:cNvSpPr>
          <p:nvPr>
            <p:ph type="sldNum" sz="quarter" idx="17"/>
          </p:nvPr>
        </p:nvSpPr>
        <p:spPr>
          <a:xfrm>
            <a:off x="11049000" y="6400800"/>
            <a:ext cx="990600" cy="457200"/>
          </a:xfrm>
        </p:spPr>
        <p:txBody>
          <a:bodyPr anchor="ctr">
            <a:normAutofit/>
          </a:bodyPr>
          <a:lstStyle/>
          <a:p>
            <a:pPr>
              <a:spcAft>
                <a:spcPts val="600"/>
              </a:spcAft>
            </a:pPr>
            <a:fld id="{AEAA3239-9EA4-4A65-A281-97F994456D9F}" type="slidenum">
              <a:rPr lang="en-US" smtClean="0"/>
              <a:pPr>
                <a:spcAft>
                  <a:spcPts val="600"/>
                </a:spcAft>
              </a:pPr>
              <a:t>16</a:t>
            </a:fld>
            <a:endParaRPr lang="en-US"/>
          </a:p>
        </p:txBody>
      </p:sp>
    </p:spTree>
    <p:extLst>
      <p:ext uri="{BB962C8B-B14F-4D97-AF65-F5344CB8AC3E}">
        <p14:creationId xmlns:p14="http://schemas.microsoft.com/office/powerpoint/2010/main" val="401926139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9AE9904-037A-4965-A3E2-1684D7185E6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F12CDBE-6155-6351-0F32-479044499450}"/>
              </a:ext>
            </a:extLst>
          </p:cNvPr>
          <p:cNvSpPr>
            <a:spLocks noGrp="1"/>
          </p:cNvSpPr>
          <p:nvPr>
            <p:ph sz="quarter" idx="16"/>
          </p:nvPr>
        </p:nvSpPr>
        <p:spPr>
          <a:xfrm>
            <a:off x="828675" y="1190625"/>
            <a:ext cx="10534650" cy="4838700"/>
          </a:xfrm>
        </p:spPr>
        <p:txBody>
          <a:bodyPr>
            <a:normAutofit/>
          </a:bodyPr>
          <a:lstStyle/>
          <a:p>
            <a:pPr marL="0" marR="0" indent="0" algn="l" fontAlgn="b">
              <a:buNone/>
            </a:pPr>
            <a:r>
              <a:rPr lang="en-US" sz="8250" dirty="0">
                <a:solidFill>
                  <a:srgbClr val="000000"/>
                </a:solidFill>
                <a:effectLst/>
                <a:latin typeface="Mongolian Baiti" panose="03000500000000000000" pitchFamily="66" charset="0"/>
              </a:rPr>
              <a:t>Business Im</a:t>
            </a:r>
            <a:r>
              <a:rPr lang="en-US" sz="8250" dirty="0">
                <a:solidFill>
                  <a:srgbClr val="000000"/>
                </a:solidFill>
                <a:latin typeface="Mongolian Baiti" panose="03000500000000000000" pitchFamily="66" charset="0"/>
              </a:rPr>
              <a:t>pact </a:t>
            </a:r>
            <a:r>
              <a:rPr sz="8250" dirty="0">
                <a:solidFill>
                  <a:srgbClr val="000000"/>
                </a:solidFill>
                <a:effectLst/>
                <a:latin typeface="Mongolian Baiti" panose="03000500000000000000" pitchFamily="66" charset="0"/>
              </a:rPr>
              <a:t>and Improving Patient Outcomes</a:t>
            </a:r>
            <a:r>
              <a:rPr dirty="0">
                <a:effectLst/>
              </a:rPr>
              <a:t> </a:t>
            </a:r>
            <a:endParaRPr lang="en-US" dirty="0"/>
          </a:p>
        </p:txBody>
      </p:sp>
      <p:sp>
        <p:nvSpPr>
          <p:cNvPr id="6" name="Slide Number Placeholder 5">
            <a:extLst>
              <a:ext uri="{FF2B5EF4-FFF2-40B4-BE49-F238E27FC236}">
                <a16:creationId xmlns:a16="http://schemas.microsoft.com/office/drawing/2014/main" id="{8F27DE97-E5FF-5EE7-9261-D7D83D4CF51B}"/>
              </a:ext>
            </a:extLst>
          </p:cNvPr>
          <p:cNvSpPr>
            <a:spLocks noGrp="1"/>
          </p:cNvSpPr>
          <p:nvPr>
            <p:ph type="sldNum" sz="quarter" idx="12"/>
          </p:nvPr>
        </p:nvSpPr>
        <p:spPr/>
        <p:txBody>
          <a:bodyPr/>
          <a:lstStyle/>
          <a:p>
            <a:fld id="{AEAA3239-9EA4-4A65-A281-97F994456D9F}" type="slidenum">
              <a:rPr lang="en-US" smtClean="0"/>
              <a:t>17</a:t>
            </a:fld>
            <a:endParaRPr lang="en-US" dirty="0"/>
          </a:p>
        </p:txBody>
      </p:sp>
    </p:spTree>
    <p:extLst>
      <p:ext uri="{BB962C8B-B14F-4D97-AF65-F5344CB8AC3E}">
        <p14:creationId xmlns:p14="http://schemas.microsoft.com/office/powerpoint/2010/main" val="4100252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B1FBD-24B8-D614-765C-4C04E5618851}"/>
              </a:ext>
            </a:extLst>
          </p:cNvPr>
          <p:cNvSpPr>
            <a:spLocks noGrp="1"/>
          </p:cNvSpPr>
          <p:nvPr>
            <p:ph type="title"/>
          </p:nvPr>
        </p:nvSpPr>
        <p:spPr>
          <a:xfrm>
            <a:off x="6492241" y="685800"/>
            <a:ext cx="4546423" cy="914400"/>
          </a:xfrm>
        </p:spPr>
        <p:txBody>
          <a:bodyPr anchor="t">
            <a:normAutofit/>
          </a:bodyPr>
          <a:lstStyle/>
          <a:p>
            <a:r>
              <a:rPr lang="en-US" sz="3300"/>
              <a:t>Business Impact Highlights</a:t>
            </a:r>
          </a:p>
        </p:txBody>
      </p:sp>
      <p:pic>
        <p:nvPicPr>
          <p:cNvPr id="7" name="Content Placeholder 6" descr="Surgeon in protective mask preparing for operation">
            <a:extLst>
              <a:ext uri="{FF2B5EF4-FFF2-40B4-BE49-F238E27FC236}">
                <a16:creationId xmlns:a16="http://schemas.microsoft.com/office/drawing/2014/main" id="{C289358E-314B-4F40-91A2-76F4D556C20D}"/>
              </a:ext>
            </a:extLst>
          </p:cNvPr>
          <p:cNvPicPr>
            <a:picLocks noGrp="1" noChangeAspect="1"/>
          </p:cNvPicPr>
          <p:nvPr>
            <p:ph type="pic" sz="quarter" idx="15"/>
          </p:nvPr>
        </p:nvPicPr>
        <p:blipFill>
          <a:blip r:embed="rId3"/>
          <a:srcRect l="38815" r="2313" b="-1"/>
          <a:stretch>
            <a:fillRect/>
          </a:stretch>
        </p:blipFill>
        <p:spPr>
          <a:xfrm>
            <a:off x="1153336" y="685800"/>
            <a:ext cx="4637225" cy="5257800"/>
          </a:xfrm>
        </p:spPr>
      </p:pic>
      <p:sp>
        <p:nvSpPr>
          <p:cNvPr id="4" name="Content Placeholder 3">
            <a:extLst>
              <a:ext uri="{FF2B5EF4-FFF2-40B4-BE49-F238E27FC236}">
                <a16:creationId xmlns:a16="http://schemas.microsoft.com/office/drawing/2014/main" id="{1EFE3A16-2D5A-8B68-32DF-3FF0069CCC2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241" y="1828300"/>
            <a:ext cx="4556759" cy="4115300"/>
          </a:xfrm>
        </p:spPr>
        <p:txBody>
          <a:bodyPr>
            <a:normAutofit/>
          </a:bodyPr>
          <a:lstStyle/>
          <a:p>
            <a:pPr marL="0" indent="0">
              <a:lnSpc>
                <a:spcPct val="110000"/>
              </a:lnSpc>
              <a:spcBef>
                <a:spcPts val="2500"/>
              </a:spcBef>
              <a:spcAft>
                <a:spcPts val="600"/>
              </a:spcAft>
              <a:buFont typeface="Arial" panose="020B0604020202020204" pitchFamily="34" charset="0"/>
              <a:buNone/>
            </a:pPr>
            <a:r>
              <a:rPr lang="en-US" b="1"/>
              <a:t>Early Risk Identification</a:t>
            </a:r>
          </a:p>
          <a:p>
            <a:pPr marL="0" lvl="1" indent="0">
              <a:lnSpc>
                <a:spcPct val="110000"/>
              </a:lnSpc>
              <a:spcAft>
                <a:spcPts val="600"/>
              </a:spcAft>
              <a:buFont typeface="Arial" panose="020B0604020202020204" pitchFamily="34" charset="0"/>
              <a:buNone/>
            </a:pPr>
            <a:r>
              <a:t>The model allows healthcare teams to spot high-risk patients earlier, enabling prompt and effective interventions.</a:t>
            </a:r>
            <a:endParaRPr lang="en-US"/>
          </a:p>
          <a:p>
            <a:pPr marL="0" indent="0">
              <a:lnSpc>
                <a:spcPct val="110000"/>
              </a:lnSpc>
              <a:spcBef>
                <a:spcPts val="2500"/>
              </a:spcBef>
              <a:spcAft>
                <a:spcPts val="600"/>
              </a:spcAft>
              <a:buFont typeface="Arial" panose="020B0604020202020204" pitchFamily="34" charset="0"/>
              <a:buNone/>
            </a:pPr>
            <a:r>
              <a:rPr lang="en-US" b="1"/>
              <a:t>Optimized Resource Allocation</a:t>
            </a:r>
          </a:p>
          <a:p>
            <a:pPr marL="0" lvl="1" indent="0">
              <a:lnSpc>
                <a:spcPct val="110000"/>
              </a:lnSpc>
              <a:spcAft>
                <a:spcPts val="600"/>
              </a:spcAft>
              <a:buFont typeface="Arial" panose="020B0604020202020204" pitchFamily="34" charset="0"/>
              <a:buNone/>
            </a:pPr>
            <a:r>
              <a:t>Preventive care resources are better targeted, ensuring that support reaches patients who need it most.</a:t>
            </a:r>
            <a:endParaRPr lang="en-US"/>
          </a:p>
          <a:p>
            <a:pPr marL="0" indent="0">
              <a:lnSpc>
                <a:spcPct val="110000"/>
              </a:lnSpc>
              <a:spcBef>
                <a:spcPts val="2500"/>
              </a:spcBef>
              <a:spcAft>
                <a:spcPts val="600"/>
              </a:spcAft>
              <a:buFont typeface="Arial" panose="020B0604020202020204" pitchFamily="34" charset="0"/>
              <a:buNone/>
            </a:pPr>
            <a:r>
              <a:rPr lang="en-US" b="1"/>
              <a:t>Improved Clinical Outcomes</a:t>
            </a:r>
          </a:p>
          <a:p>
            <a:pPr marL="0" lvl="1" indent="0">
              <a:lnSpc>
                <a:spcPct val="110000"/>
              </a:lnSpc>
              <a:spcAft>
                <a:spcPts val="600"/>
              </a:spcAft>
              <a:buFont typeface="Arial" panose="020B0604020202020204" pitchFamily="34" charset="0"/>
              <a:buNone/>
            </a:pPr>
            <a:r>
              <a:t>The model reduces missed diagnoses and strengthens clinical decision support, which leads to better patient outcomes.</a:t>
            </a:r>
            <a:endParaRPr lang="en-US"/>
          </a:p>
        </p:txBody>
      </p:sp>
      <p:sp>
        <p:nvSpPr>
          <p:cNvPr id="12" name="Footer Placeholder 4">
            <a:extLst>
              <a:ext uri="{FF2B5EF4-FFF2-40B4-BE49-F238E27FC236}">
                <a16:creationId xmlns:a16="http://schemas.microsoft.com/office/drawing/2014/main" id="{96000162-27AF-4AB4-FF33-122C43406D86}"/>
              </a:ext>
            </a:extLst>
          </p:cNvPr>
          <p:cNvSpPr>
            <a:spLocks noGrp="1"/>
          </p:cNvSpPr>
          <p:nvPr>
            <p:ph type="ftr" sz="quarter" idx="11"/>
          </p:nvPr>
        </p:nvSpPr>
        <p:spPr>
          <a:xfrm>
            <a:off x="152401" y="6404316"/>
            <a:ext cx="5943600" cy="453684"/>
          </a:xfrm>
        </p:spPr>
        <p:txBody>
          <a:bodyPr/>
          <a:lstStyle/>
          <a:p>
            <a:endParaRPr lang="en-US"/>
          </a:p>
        </p:txBody>
      </p:sp>
      <p:sp>
        <p:nvSpPr>
          <p:cNvPr id="6" name="Slide Number Placeholder 5">
            <a:extLst>
              <a:ext uri="{FF2B5EF4-FFF2-40B4-BE49-F238E27FC236}">
                <a16:creationId xmlns:a16="http://schemas.microsoft.com/office/drawing/2014/main" id="{2D9774BA-3247-AC4C-992E-3FA5BE7803D7}"/>
              </a:ext>
            </a:extLst>
          </p:cNvPr>
          <p:cNvSpPr>
            <a:spLocks noGrp="1"/>
          </p:cNvSpPr>
          <p:nvPr>
            <p:ph type="sldNum" sz="quarter" idx="12"/>
          </p:nvPr>
        </p:nvSpPr>
        <p:spPr>
          <a:xfrm>
            <a:off x="11049000" y="6404316"/>
            <a:ext cx="990600" cy="453684"/>
          </a:xfrm>
        </p:spPr>
        <p:txBody>
          <a:bodyPr anchor="ctr">
            <a:normAutofit/>
          </a:bodyPr>
          <a:lstStyle/>
          <a:p>
            <a:pPr>
              <a:spcAft>
                <a:spcPts val="600"/>
              </a:spcAft>
            </a:pPr>
            <a:fld id="{AEAA3239-9EA4-4A65-A281-97F994456D9F}" type="slidenum">
              <a:rPr lang="en-US" smtClean="0"/>
              <a:pPr>
                <a:spcAft>
                  <a:spcPts val="600"/>
                </a:spcAft>
              </a:pPr>
              <a:t>18</a:t>
            </a:fld>
            <a:endParaRPr lang="en-US"/>
          </a:p>
        </p:txBody>
      </p:sp>
    </p:spTree>
    <p:extLst>
      <p:ext uri="{BB962C8B-B14F-4D97-AF65-F5344CB8AC3E}">
        <p14:creationId xmlns:p14="http://schemas.microsoft.com/office/powerpoint/2010/main" val="109047511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178AF-2830-9B3F-A592-C958B69C1501}"/>
              </a:ext>
            </a:extLst>
          </p:cNvPr>
          <p:cNvSpPr>
            <a:spLocks noGrp="1"/>
          </p:cNvSpPr>
          <p:nvPr>
            <p:ph type="title"/>
          </p:nvPr>
        </p:nvSpPr>
        <p:spPr>
          <a:xfrm>
            <a:off x="1143001" y="698501"/>
            <a:ext cx="9906000" cy="1018531"/>
          </a:xfrm>
        </p:spPr>
        <p:txBody>
          <a:bodyPr anchor="t">
            <a:normAutofit/>
          </a:bodyPr>
          <a:lstStyle/>
          <a:p>
            <a:r>
              <a:rPr lang="en-US"/>
              <a:t>Predicting Heart Disease Risk</a:t>
            </a:r>
          </a:p>
        </p:txBody>
      </p:sp>
      <p:sp>
        <p:nvSpPr>
          <p:cNvPr id="11" name="Footer Placeholder 3">
            <a:extLst>
              <a:ext uri="{FF2B5EF4-FFF2-40B4-BE49-F238E27FC236}">
                <a16:creationId xmlns:a16="http://schemas.microsoft.com/office/drawing/2014/main" id="{95DAEED3-0651-32FE-7CFC-1EC56B0FDC53}"/>
              </a:ext>
            </a:extLst>
          </p:cNvPr>
          <p:cNvSpPr>
            <a:spLocks noGrp="1"/>
          </p:cNvSpPr>
          <p:nvPr>
            <p:ph type="ftr" sz="quarter" idx="11"/>
          </p:nvPr>
        </p:nvSpPr>
        <p:spPr>
          <a:xfrm>
            <a:off x="152400" y="6400800"/>
            <a:ext cx="5943599" cy="457200"/>
          </a:xfrm>
        </p:spPr>
        <p:txBody>
          <a:bodyPr/>
          <a:lstStyle/>
          <a:p>
            <a:endParaRPr lang="en-US"/>
          </a:p>
        </p:txBody>
      </p:sp>
      <p:sp>
        <p:nvSpPr>
          <p:cNvPr id="5" name="Slide Number Placeholder 4">
            <a:extLst>
              <a:ext uri="{FF2B5EF4-FFF2-40B4-BE49-F238E27FC236}">
                <a16:creationId xmlns:a16="http://schemas.microsoft.com/office/drawing/2014/main" id="{AC6040A9-60E9-5E96-25F2-32739C63C303}"/>
              </a:ext>
            </a:extLst>
          </p:cNvPr>
          <p:cNvSpPr>
            <a:spLocks noGrp="1"/>
          </p:cNvSpPr>
          <p:nvPr>
            <p:ph type="sldNum" sz="quarter" idx="12"/>
          </p:nvPr>
        </p:nvSpPr>
        <p:spPr>
          <a:xfrm>
            <a:off x="11049000" y="6400800"/>
            <a:ext cx="990599" cy="457200"/>
          </a:xfrm>
        </p:spPr>
        <p:txBody>
          <a:bodyPr anchor="ctr">
            <a:normAutofit/>
          </a:bodyPr>
          <a:lstStyle/>
          <a:p>
            <a:pPr>
              <a:spcAft>
                <a:spcPts val="600"/>
              </a:spcAft>
            </a:pPr>
            <a:fld id="{AEAA3239-9EA4-4A65-A281-97F994456D9F}" type="slidenum">
              <a:rPr lang="en-US" smtClean="0"/>
              <a:pPr>
                <a:spcAft>
                  <a:spcPts val="600"/>
                </a:spcAft>
              </a:pPr>
              <a:t>19</a:t>
            </a:fld>
            <a:endParaRPr lang="en-US"/>
          </a:p>
        </p:txBody>
      </p:sp>
      <p:graphicFrame>
        <p:nvGraphicFramePr>
          <p:cNvPr id="6" name="Content Placeholder 6">
            <a:extLst>
              <a:ext uri="{FF2B5EF4-FFF2-40B4-BE49-F238E27FC236}">
                <a16:creationId xmlns:a16="http://schemas.microsoft.com/office/drawing/2014/main" id="{B7F4A4FA-15EB-4A00-9382-5490843E3046}"/>
              </a:ext>
            </a:extLst>
          </p:cNvPr>
          <p:cNvGraphicFramePr>
            <a:graphicFrameLocks noGrp="1"/>
          </p:cNvGraphicFramePr>
          <p:nvPr>
            <p:ph idx="1"/>
            <p:extLst>
              <p:ext uri="{D42A27DB-BD31-4B8C-83A1-F6EECF244321}">
                <p14:modId xmlns:p14="http://schemas.microsoft.com/office/powerpoint/2010/main" val="421379186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142999" y="1905008"/>
          <a:ext cx="9906001" cy="403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425305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D0306B5-5611-45D3-B4B8-3BB8F1C5FDC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E543328A-AEC6-41B4-5C7E-809C9D2DAEC9}"/>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Ethical, Practical, and Future Considerations</a:t>
            </a:r>
            <a:r>
              <a:rPr>
                <a:effectLst/>
              </a:rPr>
              <a:t> </a:t>
            </a:r>
            <a:endParaRPr lang="en-US"/>
          </a:p>
        </p:txBody>
      </p:sp>
      <p:sp>
        <p:nvSpPr>
          <p:cNvPr id="6" name="Slide Number Placeholder 5">
            <a:extLst>
              <a:ext uri="{FF2B5EF4-FFF2-40B4-BE49-F238E27FC236}">
                <a16:creationId xmlns:a16="http://schemas.microsoft.com/office/drawing/2014/main" id="{9D61A9A0-3074-B8C7-C30E-2C7AA1EE3716}"/>
              </a:ext>
            </a:extLst>
          </p:cNvPr>
          <p:cNvSpPr>
            <a:spLocks noGrp="1"/>
          </p:cNvSpPr>
          <p:nvPr>
            <p:ph type="sldNum" sz="quarter" idx="12"/>
          </p:nvPr>
        </p:nvSpPr>
        <p:spPr/>
        <p:txBody>
          <a:bodyPr/>
          <a:lstStyle/>
          <a:p>
            <a:fld id="{AEAA3239-9EA4-4A65-A281-97F994456D9F}" type="slidenum">
              <a:rPr lang="en-US" smtClean="0"/>
              <a:t>20</a:t>
            </a:fld>
            <a:endParaRPr lang="en-US" dirty="0"/>
          </a:p>
        </p:txBody>
      </p:sp>
    </p:spTree>
    <p:extLst>
      <p:ext uri="{BB962C8B-B14F-4D97-AF65-F5344CB8AC3E}">
        <p14:creationId xmlns:p14="http://schemas.microsoft.com/office/powerpoint/2010/main" val="964651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94BDC42-3D6C-404F-B727-57B296A81ED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8" name="Content Placeholder 7" descr="A visually engaging scene depicting a secure digital health environment: a healthcare professional accessing patient data on a tablet with visible security icons (such as a padlock, shield, and biometric fingerprint) overlaying the interface, and blurred patient silhouettes in the background. The setting should convey advanced technology and strict privacy, with a modern, premium aesthetic. No visible or implied text, letters, or words should appear anywhere in the image">
            <a:extLst>
              <a:ext uri="{FF2B5EF4-FFF2-40B4-BE49-F238E27FC236}">
                <a16:creationId xmlns:a16="http://schemas.microsoft.com/office/drawing/2014/main" id="{1F28C30F-4944-432C-90E1-F51F309B817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6" name="Slide Number Placeholder 5">
            <a:extLst>
              <a:ext uri="{FF2B5EF4-FFF2-40B4-BE49-F238E27FC236}">
                <a16:creationId xmlns:a16="http://schemas.microsoft.com/office/drawing/2014/main" id="{8117FA1B-B3C5-0F4D-28C3-202CA0EC6027}"/>
              </a:ext>
            </a:extLst>
          </p:cNvPr>
          <p:cNvSpPr>
            <a:spLocks noGrp="1"/>
          </p:cNvSpPr>
          <p:nvPr>
            <p:ph type="sldNum" sz="quarter" idx="12"/>
          </p:nvPr>
        </p:nvSpPr>
        <p:spPr/>
        <p:txBody>
          <a:bodyPr/>
          <a:lstStyle/>
          <a:p>
            <a:fld id="{AEAA3239-9EA4-4A65-A281-97F994456D9F}" type="slidenum">
              <a:rPr lang="en-US" smtClean="0"/>
              <a:t>21</a:t>
            </a:fld>
            <a:endParaRPr lang="en-US" dirty="0"/>
          </a:p>
        </p:txBody>
      </p:sp>
      <p:sp>
        <p:nvSpPr>
          <p:cNvPr id="9" name="TextBox 8">
            <a:extLst>
              <a:ext uri="{FF2B5EF4-FFF2-40B4-BE49-F238E27FC236}">
                <a16:creationId xmlns:a16="http://schemas.microsoft.com/office/drawing/2014/main" id="{7E621779-33D5-44C6-9CA0-AF3BBB2999C4}"/>
              </a:ext>
            </a:extLst>
          </p:cNvPr>
          <p:cNvSpPr txBox="1"/>
          <p:nvPr/>
        </p:nvSpPr>
        <p:spPr>
          <a:xfrm>
            <a:off x="7200900"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Patient Privacy and Data Security</a:t>
            </a:r>
            <a:r>
              <a:rPr>
                <a:effectLst/>
              </a:rPr>
              <a:t> </a:t>
            </a:r>
            <a:endParaRPr lang="en-US"/>
          </a:p>
        </p:txBody>
      </p:sp>
      <p:sp>
        <p:nvSpPr>
          <p:cNvPr id="10" name="TextBox 9">
            <a:extLst>
              <a:ext uri="{FF2B5EF4-FFF2-40B4-BE49-F238E27FC236}">
                <a16:creationId xmlns:a16="http://schemas.microsoft.com/office/drawing/2014/main" id="{D379BEC1-AB2B-402B-A83F-6B8F46039C36}"/>
              </a:ext>
            </a:extLst>
          </p:cNvPr>
          <p:cNvSpPr txBox="1"/>
          <p:nvPr/>
        </p:nvSpPr>
        <p:spPr>
          <a:xfrm>
            <a:off x="7200900" y="1929705"/>
            <a:ext cx="4391025" cy="2838450"/>
          </a:xfrm>
          <a:prstGeom prst="rect">
            <a:avLst/>
          </a:prstGeom>
          <a:noFill/>
        </p:spPr>
        <p:txBody>
          <a:bodyPr wrap="square" rtlCol="0">
            <a:normAutofit lnSpcReduction="10000"/>
          </a:bodyPr>
          <a:lstStyle/>
          <a:p>
            <a:pPr marL="0" algn="l">
              <a:buNone/>
            </a:pPr>
            <a:r>
              <a:rPr sz="1500" b="1">
                <a:solidFill>
                  <a:srgbClr val="000000"/>
                </a:solidFill>
                <a:effectLst/>
                <a:latin typeface="Avenir"/>
              </a:rPr>
              <a:t>Compliance Standards</a:t>
            </a:r>
            <a:r>
              <a:rPr>
                <a:effectLst/>
              </a:rPr>
              <a:t> </a:t>
            </a:r>
          </a:p>
          <a:p>
            <a:pPr marL="0" algn="l">
              <a:spcBef>
                <a:spcPts val="750"/>
              </a:spcBef>
              <a:buNone/>
            </a:pPr>
            <a:r>
              <a:rPr sz="1500" b="0">
                <a:solidFill>
                  <a:srgbClr val="000000"/>
                </a:solidFill>
                <a:effectLst/>
                <a:latin typeface="Avenir"/>
              </a:rPr>
              <a:t>Align practices with HIPAA and GDPR to govern handling of sensitive health data.</a:t>
            </a:r>
            <a:r>
              <a:rPr>
                <a:effectLst/>
              </a:rPr>
              <a:t> </a:t>
            </a:r>
          </a:p>
          <a:p>
            <a:pPr marL="0" algn="l">
              <a:spcBef>
                <a:spcPts val="1050"/>
              </a:spcBef>
              <a:buNone/>
            </a:pPr>
            <a:r>
              <a:rPr sz="1500" b="1">
                <a:solidFill>
                  <a:srgbClr val="000000"/>
                </a:solidFill>
                <a:effectLst/>
                <a:latin typeface="Avenir"/>
              </a:rPr>
              <a:t>Protective Techniques</a:t>
            </a:r>
            <a:r>
              <a:rPr>
                <a:effectLst/>
              </a:rPr>
              <a:t> </a:t>
            </a:r>
          </a:p>
          <a:p>
            <a:pPr marL="0" algn="l">
              <a:spcBef>
                <a:spcPts val="750"/>
              </a:spcBef>
              <a:buNone/>
            </a:pPr>
            <a:r>
              <a:rPr sz="1500" b="0">
                <a:solidFill>
                  <a:srgbClr val="000000"/>
                </a:solidFill>
                <a:effectLst/>
                <a:latin typeface="Avenir"/>
              </a:rPr>
              <a:t>Use anonymization, encryption, and role‑based access controls to reduce risk.</a:t>
            </a:r>
            <a:r>
              <a:rPr>
                <a:effectLst/>
              </a:rPr>
              <a:t> </a:t>
            </a:r>
          </a:p>
          <a:p>
            <a:pPr marL="0" algn="l">
              <a:spcBef>
                <a:spcPts val="1050"/>
              </a:spcBef>
              <a:buNone/>
            </a:pPr>
            <a:r>
              <a:rPr sz="1500" b="1">
                <a:solidFill>
                  <a:srgbClr val="000000"/>
                </a:solidFill>
                <a:effectLst/>
                <a:latin typeface="Avenir"/>
              </a:rPr>
              <a:t>Ethical Balance</a:t>
            </a:r>
            <a:r>
              <a:rPr>
                <a:effectLst/>
              </a:rPr>
              <a:t> </a:t>
            </a:r>
          </a:p>
          <a:p>
            <a:pPr marL="0" algn="l">
              <a:spcBef>
                <a:spcPts val="750"/>
              </a:spcBef>
              <a:buNone/>
            </a:pPr>
            <a:r>
              <a:rPr sz="1500" b="0">
                <a:solidFill>
                  <a:srgbClr val="000000"/>
                </a:solidFill>
                <a:effectLst/>
                <a:latin typeface="Avenir"/>
              </a:rPr>
              <a:t>Protect privacy while enabling responsible data utility for predictive modeling.</a:t>
            </a:r>
            <a:r>
              <a:rPr>
                <a:effectLst/>
              </a:rPr>
              <a:t> </a:t>
            </a:r>
            <a:endParaRPr lang="en-US"/>
          </a:p>
        </p:txBody>
      </p:sp>
    </p:spTree>
    <p:extLst>
      <p:ext uri="{BB962C8B-B14F-4D97-AF65-F5344CB8AC3E}">
        <p14:creationId xmlns:p14="http://schemas.microsoft.com/office/powerpoint/2010/main" val="3939093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42EF3CC-D1E7-4D38-9631-9AF9150B526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65C3E4E8-2C37-0F6B-BB11-7FFAC5245352}"/>
              </a:ext>
            </a:extLst>
          </p:cNvPr>
          <p:cNvSpPr>
            <a:spLocks noGrp="1"/>
          </p:cNvSpPr>
          <p:nvPr>
            <p:ph sz="quarter" idx="16"/>
          </p:nvPr>
        </p:nvSpPr>
        <p:spPr>
          <a:xfrm>
            <a:off x="1333500" y="1362223"/>
            <a:ext cx="9525000" cy="3066603"/>
          </a:xfrm>
        </p:spPr>
        <p:txBody>
          <a:bodyPr>
            <a:normAutofit fontScale="92500"/>
          </a:bodyPr>
          <a:lstStyle/>
          <a:p>
            <a:pPr marL="0" marR="0" indent="0" algn="l">
              <a:buNone/>
            </a:pPr>
            <a:r>
              <a:rPr sz="4200" b="0">
                <a:solidFill>
                  <a:srgbClr val="DDA152"/>
                </a:solidFill>
                <a:effectLst/>
                <a:latin typeface="Avenir"/>
              </a:rPr>
              <a:t>Ensuring fairness and transparency in AI predictions is not just a technical challenge—it is a moral imperative to prevent the amplification of health disparities.</a:t>
            </a:r>
            <a:r>
              <a:rPr>
                <a:effectLst/>
              </a:rPr>
              <a:t> </a:t>
            </a:r>
            <a:endParaRPr lang="en-US"/>
          </a:p>
        </p:txBody>
      </p:sp>
      <p:sp>
        <p:nvSpPr>
          <p:cNvPr id="6" name="Slide Number Placeholder 5">
            <a:extLst>
              <a:ext uri="{FF2B5EF4-FFF2-40B4-BE49-F238E27FC236}">
                <a16:creationId xmlns:a16="http://schemas.microsoft.com/office/drawing/2014/main" id="{39BA560E-9205-A108-E120-23ECF93A95FE}"/>
              </a:ext>
            </a:extLst>
          </p:cNvPr>
          <p:cNvSpPr>
            <a:spLocks noGrp="1"/>
          </p:cNvSpPr>
          <p:nvPr>
            <p:ph type="sldNum" sz="quarter" idx="12"/>
          </p:nvPr>
        </p:nvSpPr>
        <p:spPr/>
        <p:txBody>
          <a:bodyPr/>
          <a:lstStyle/>
          <a:p>
            <a:fld id="{AEAA3239-9EA4-4A65-A281-97F994456D9F}" type="slidenum">
              <a:rPr lang="en-US" smtClean="0"/>
              <a:t>22</a:t>
            </a:fld>
            <a:endParaRPr lang="en-US" dirty="0"/>
          </a:p>
        </p:txBody>
      </p:sp>
      <p:sp>
        <p:nvSpPr>
          <p:cNvPr id="8" name="TextBox 7">
            <a:extLst>
              <a:ext uri="{FF2B5EF4-FFF2-40B4-BE49-F238E27FC236}">
                <a16:creationId xmlns:a16="http://schemas.microsoft.com/office/drawing/2014/main" id="{964B0B5D-011A-4792-9572-EA7AFCA87AB3}"/>
              </a:ext>
            </a:extLst>
          </p:cNvPr>
          <p:cNvSpPr txBox="1"/>
          <p:nvPr/>
        </p:nvSpPr>
        <p:spPr>
          <a:xfrm>
            <a:off x="1333500" y="4733627"/>
            <a:ext cx="9525000" cy="274290"/>
          </a:xfrm>
          <a:prstGeom prst="rect">
            <a:avLst/>
          </a:prstGeom>
          <a:noFill/>
        </p:spPr>
        <p:txBody>
          <a:bodyPr wrap="square" rtlCol="0">
            <a:normAutofit fontScale="77500" lnSpcReduction="20000"/>
          </a:bodyPr>
          <a:lstStyle/>
          <a:p>
            <a:pPr marL="0" marR="0" algn="r">
              <a:buNone/>
            </a:pPr>
            <a:r>
              <a:rPr sz="1800" b="0">
                <a:solidFill>
                  <a:srgbClr val="DDA152"/>
                </a:solidFill>
                <a:effectLst/>
                <a:latin typeface="Avenir"/>
              </a:rPr>
              <a:t>— World Health Organization</a:t>
            </a:r>
            <a:r>
              <a:rPr>
                <a:effectLst/>
              </a:rPr>
              <a:t> </a:t>
            </a:r>
            <a:endParaRPr lang="en-US"/>
          </a:p>
        </p:txBody>
      </p:sp>
    </p:spTree>
    <p:extLst>
      <p:ext uri="{BB962C8B-B14F-4D97-AF65-F5344CB8AC3E}">
        <p14:creationId xmlns:p14="http://schemas.microsoft.com/office/powerpoint/2010/main" val="3166606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E1F8525-EC16-49CF-99A2-066890177D6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1E67D56E-F632-D6FB-38A5-00A62F080704}"/>
              </a:ext>
            </a:extLst>
          </p:cNvPr>
          <p:cNvSpPr>
            <a:spLocks noGrp="1"/>
          </p:cNvSpPr>
          <p:nvPr>
            <p:ph sz="quarter" idx="16"/>
          </p:nvPr>
        </p:nvSpPr>
        <p:spPr>
          <a:xfrm>
            <a:off x="733425" y="962025"/>
            <a:ext cx="10953750" cy="1340941"/>
          </a:xfrm>
        </p:spPr>
        <p:txBody>
          <a:bodyPr>
            <a:normAutofit fontScale="77500" lnSpcReduction="20000"/>
          </a:bodyPr>
          <a:lstStyle/>
          <a:p>
            <a:pPr marL="0" indent="0" algn="l">
              <a:buNone/>
            </a:pPr>
            <a:r>
              <a:rPr sz="4800">
                <a:solidFill>
                  <a:srgbClr val="000000"/>
                </a:solidFill>
                <a:effectLst/>
                <a:latin typeface="Mongolian Baiti" panose="03000500000000000000" pitchFamily="66" charset="0"/>
              </a:rPr>
              <a:t>Conclusion: Advancing Data-Driven Heart Disease Prediction</a:t>
            </a:r>
            <a:r>
              <a:rPr>
                <a:effectLst/>
              </a:rPr>
              <a:t> </a:t>
            </a:r>
            <a:endParaRPr lang="en-US"/>
          </a:p>
        </p:txBody>
      </p:sp>
      <p:sp>
        <p:nvSpPr>
          <p:cNvPr id="6" name="Slide Number Placeholder 5">
            <a:extLst>
              <a:ext uri="{FF2B5EF4-FFF2-40B4-BE49-F238E27FC236}">
                <a16:creationId xmlns:a16="http://schemas.microsoft.com/office/drawing/2014/main" id="{53846519-4103-EC63-6FD0-F5B73B3A886E}"/>
              </a:ext>
            </a:extLst>
          </p:cNvPr>
          <p:cNvSpPr>
            <a:spLocks noGrp="1"/>
          </p:cNvSpPr>
          <p:nvPr>
            <p:ph type="sldNum" sz="quarter" idx="12"/>
          </p:nvPr>
        </p:nvSpPr>
        <p:spPr/>
        <p:txBody>
          <a:bodyPr/>
          <a:lstStyle/>
          <a:p>
            <a:fld id="{AEAA3239-9EA4-4A65-A281-97F994456D9F}" type="slidenum">
              <a:rPr lang="en-US" smtClean="0"/>
              <a:t>23</a:t>
            </a:fld>
            <a:endParaRPr lang="en-US" dirty="0"/>
          </a:p>
        </p:txBody>
      </p:sp>
      <p:sp>
        <p:nvSpPr>
          <p:cNvPr id="8" name="TextBox 7">
            <a:extLst>
              <a:ext uri="{FF2B5EF4-FFF2-40B4-BE49-F238E27FC236}">
                <a16:creationId xmlns:a16="http://schemas.microsoft.com/office/drawing/2014/main" id="{5ACAFE87-0EC1-41E3-B97A-E0221575C294}"/>
              </a:ext>
            </a:extLst>
          </p:cNvPr>
          <p:cNvSpPr txBox="1"/>
          <p:nvPr/>
        </p:nvSpPr>
        <p:spPr>
          <a:xfrm>
            <a:off x="733425" y="3580358"/>
            <a:ext cx="2524125" cy="1224706"/>
          </a:xfrm>
          <a:prstGeom prst="rect">
            <a:avLst/>
          </a:prstGeom>
          <a:noFill/>
        </p:spPr>
        <p:txBody>
          <a:bodyPr wrap="square" rtlCol="0">
            <a:normAutofit lnSpcReduction="10000"/>
          </a:bodyPr>
          <a:lstStyle/>
          <a:p>
            <a:pPr marL="0" algn="l">
              <a:buNone/>
            </a:pPr>
            <a:r>
              <a:rPr sz="1800" b="1">
                <a:solidFill>
                  <a:srgbClr val="000000"/>
                </a:solidFill>
                <a:effectLst/>
                <a:latin typeface="Avenir"/>
              </a:rPr>
              <a:t>Data-Driven Insight</a:t>
            </a:r>
            <a:r>
              <a:rPr>
                <a:effectLst/>
              </a:rPr>
              <a:t> </a:t>
            </a:r>
          </a:p>
          <a:p>
            <a:pPr marL="0" algn="l">
              <a:spcBef>
                <a:spcPts val="1500"/>
              </a:spcBef>
              <a:buNone/>
            </a:pPr>
            <a:r>
              <a:rPr sz="1425" b="0">
                <a:solidFill>
                  <a:srgbClr val="000000"/>
                </a:solidFill>
                <a:effectLst/>
                <a:latin typeface="Avenir"/>
              </a:rPr>
              <a:t>Demographics and clinical features enable accurate risk prediction.</a:t>
            </a:r>
            <a:r>
              <a:rPr>
                <a:effectLst/>
              </a:rPr>
              <a:t> </a:t>
            </a:r>
            <a:endParaRPr lang="en-US"/>
          </a:p>
        </p:txBody>
      </p:sp>
      <p:sp>
        <p:nvSpPr>
          <p:cNvPr id="9" name="TextBox 8">
            <a:extLst>
              <a:ext uri="{FF2B5EF4-FFF2-40B4-BE49-F238E27FC236}">
                <a16:creationId xmlns:a16="http://schemas.microsoft.com/office/drawing/2014/main" id="{A68B5374-6AE1-4F8D-86E6-7C2A6913206C}"/>
              </a:ext>
            </a:extLst>
          </p:cNvPr>
          <p:cNvSpPr txBox="1"/>
          <p:nvPr/>
        </p:nvSpPr>
        <p:spPr>
          <a:xfrm>
            <a:off x="3543300" y="3580358"/>
            <a:ext cx="2524125" cy="1498996"/>
          </a:xfrm>
          <a:prstGeom prst="rect">
            <a:avLst/>
          </a:prstGeom>
          <a:noFill/>
        </p:spPr>
        <p:txBody>
          <a:bodyPr wrap="square" rtlCol="0">
            <a:normAutofit/>
          </a:bodyPr>
          <a:lstStyle/>
          <a:p>
            <a:pPr marL="0" algn="l">
              <a:buNone/>
            </a:pPr>
            <a:r>
              <a:rPr sz="1800" b="1" dirty="0">
                <a:solidFill>
                  <a:srgbClr val="000000"/>
                </a:solidFill>
                <a:effectLst/>
                <a:latin typeface="Avenir"/>
              </a:rPr>
              <a:t>Methodological Rigor</a:t>
            </a:r>
            <a:r>
              <a:rPr dirty="0">
                <a:effectLst/>
              </a:rPr>
              <a:t> </a:t>
            </a:r>
          </a:p>
          <a:p>
            <a:pPr marL="0" algn="l">
              <a:spcBef>
                <a:spcPts val="1500"/>
              </a:spcBef>
              <a:buNone/>
            </a:pPr>
            <a:r>
              <a:rPr sz="1425" b="0" dirty="0">
                <a:solidFill>
                  <a:srgbClr val="000000"/>
                </a:solidFill>
                <a:effectLst/>
                <a:latin typeface="Avenir"/>
              </a:rPr>
              <a:t>Preprocessing and robust algorithms drive reliable performance.</a:t>
            </a:r>
            <a:r>
              <a:rPr dirty="0">
                <a:effectLst/>
              </a:rPr>
              <a:t> </a:t>
            </a:r>
            <a:endParaRPr lang="en-US" dirty="0"/>
          </a:p>
        </p:txBody>
      </p:sp>
      <p:sp>
        <p:nvSpPr>
          <p:cNvPr id="10" name="TextBox 9">
            <a:extLst>
              <a:ext uri="{FF2B5EF4-FFF2-40B4-BE49-F238E27FC236}">
                <a16:creationId xmlns:a16="http://schemas.microsoft.com/office/drawing/2014/main" id="{24D29F06-7F52-42CE-B98A-D89066B38307}"/>
              </a:ext>
            </a:extLst>
          </p:cNvPr>
          <p:cNvSpPr txBox="1"/>
          <p:nvPr/>
        </p:nvSpPr>
        <p:spPr>
          <a:xfrm>
            <a:off x="6353175" y="3580358"/>
            <a:ext cx="2524125" cy="1224706"/>
          </a:xfrm>
          <a:prstGeom prst="rect">
            <a:avLst/>
          </a:prstGeom>
          <a:noFill/>
        </p:spPr>
        <p:txBody>
          <a:bodyPr wrap="square" rtlCol="0">
            <a:normAutofit lnSpcReduction="10000"/>
          </a:bodyPr>
          <a:lstStyle/>
          <a:p>
            <a:pPr marL="0" algn="l">
              <a:buNone/>
            </a:pPr>
            <a:r>
              <a:rPr sz="1800" b="1">
                <a:solidFill>
                  <a:srgbClr val="000000"/>
                </a:solidFill>
                <a:effectLst/>
                <a:latin typeface="Avenir"/>
              </a:rPr>
              <a:t>Ethics and Trust</a:t>
            </a:r>
            <a:r>
              <a:rPr>
                <a:effectLst/>
              </a:rPr>
              <a:t> </a:t>
            </a:r>
          </a:p>
          <a:p>
            <a:pPr marL="0" algn="l">
              <a:spcBef>
                <a:spcPts val="1500"/>
              </a:spcBef>
              <a:buNone/>
            </a:pPr>
            <a:r>
              <a:rPr sz="1425" b="0">
                <a:solidFill>
                  <a:srgbClr val="000000"/>
                </a:solidFill>
                <a:effectLst/>
                <a:latin typeface="Avenir"/>
              </a:rPr>
              <a:t>Fairness, transparency, and clinical alignment ensure adoption.</a:t>
            </a:r>
            <a:r>
              <a:rPr>
                <a:effectLst/>
              </a:rPr>
              <a:t> </a:t>
            </a:r>
            <a:endParaRPr lang="en-US"/>
          </a:p>
        </p:txBody>
      </p:sp>
      <p:sp>
        <p:nvSpPr>
          <p:cNvPr id="11" name="TextBox 10">
            <a:extLst>
              <a:ext uri="{FF2B5EF4-FFF2-40B4-BE49-F238E27FC236}">
                <a16:creationId xmlns:a16="http://schemas.microsoft.com/office/drawing/2014/main" id="{14BB6189-0139-4329-8628-565E9C95DF34}"/>
              </a:ext>
            </a:extLst>
          </p:cNvPr>
          <p:cNvSpPr txBox="1"/>
          <p:nvPr/>
        </p:nvSpPr>
        <p:spPr>
          <a:xfrm>
            <a:off x="9163050" y="3580358"/>
            <a:ext cx="2524125" cy="1224706"/>
          </a:xfrm>
          <a:prstGeom prst="rect">
            <a:avLst/>
          </a:prstGeom>
          <a:noFill/>
        </p:spPr>
        <p:txBody>
          <a:bodyPr wrap="square" rtlCol="0">
            <a:normAutofit/>
          </a:bodyPr>
          <a:lstStyle/>
          <a:p>
            <a:pPr marL="0" algn="l">
              <a:buNone/>
            </a:pPr>
            <a:r>
              <a:rPr sz="1800" b="1">
                <a:solidFill>
                  <a:srgbClr val="000000"/>
                </a:solidFill>
                <a:effectLst/>
                <a:latin typeface="Avenir"/>
              </a:rPr>
              <a:t>Next Steps</a:t>
            </a:r>
            <a:r>
              <a:rPr>
                <a:effectLst/>
              </a:rPr>
              <a:t> </a:t>
            </a:r>
          </a:p>
          <a:p>
            <a:pPr marL="0" algn="l">
              <a:spcBef>
                <a:spcPts val="1500"/>
              </a:spcBef>
              <a:buNone/>
            </a:pPr>
            <a:r>
              <a:rPr sz="1425" b="0">
                <a:solidFill>
                  <a:srgbClr val="000000"/>
                </a:solidFill>
                <a:effectLst/>
                <a:latin typeface="Avenir"/>
              </a:rPr>
              <a:t>Iterate models and monitor performance to sustain impact.</a:t>
            </a:r>
            <a:r>
              <a:rPr>
                <a:effectLst/>
              </a:rPr>
              <a:t> </a:t>
            </a:r>
            <a:endParaRPr lang="en-US"/>
          </a:p>
        </p:txBody>
      </p:sp>
    </p:spTree>
    <p:extLst>
      <p:ext uri="{BB962C8B-B14F-4D97-AF65-F5344CB8AC3E}">
        <p14:creationId xmlns:p14="http://schemas.microsoft.com/office/powerpoint/2010/main" val="2980626632"/>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4" id="{62319037-9F07-4567-B4F2-AF117ABC5CCB}" vid="{0BC39864-9F70-40C9-9CA9-1A6913D50B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5290</TotalTime>
  <Words>2306</Words>
  <Application>Microsoft Office PowerPoint</Application>
  <PresentationFormat>Widescreen</PresentationFormat>
  <Paragraphs>195</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Avenir</vt:lpstr>
      <vt:lpstr>Avenir Next LT Pro</vt:lpstr>
      <vt:lpstr>Mongolian Baiti</vt:lpstr>
      <vt:lpstr>Quick study</vt:lpstr>
      <vt:lpstr>PowerPoint Presentation</vt:lpstr>
      <vt:lpstr>PowerPoint Presentation</vt:lpstr>
      <vt:lpstr>PowerPoint Presentation</vt:lpstr>
      <vt:lpstr>Project Objective Overview</vt:lpstr>
      <vt:lpstr>PowerPoint Presentation</vt:lpstr>
      <vt:lpstr>PowerPoint Presentation</vt:lpstr>
      <vt:lpstr>Understanding Data with EDA</vt:lpstr>
      <vt:lpstr>Essential Data Preprocessing Steps</vt:lpstr>
      <vt:lpstr>PowerPoint Presentation</vt:lpstr>
      <vt:lpstr>Model Development Overview</vt:lpstr>
      <vt:lpstr>Optimizing Model Performance</vt:lpstr>
      <vt:lpstr>Optimizing Decision Thresholds</vt:lpstr>
      <vt:lpstr>PowerPoint Presentation</vt:lpstr>
      <vt:lpstr>Support Vector Classifier Excels</vt:lpstr>
      <vt:lpstr>Optimized Model Insights</vt:lpstr>
      <vt:lpstr>Understanding Model Insights</vt:lpstr>
      <vt:lpstr>PowerPoint Presentation</vt:lpstr>
      <vt:lpstr>Business Impact Highlights</vt:lpstr>
      <vt:lpstr>Predicting Heart Disease Risk</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Dwayne Maddux</dc:creator>
  <cp:lastModifiedBy>Dwayne Maddux</cp:lastModifiedBy>
  <cp:revision>1</cp:revision>
  <dcterms:created xsi:type="dcterms:W3CDTF">2026-01-26T20:23:37Z</dcterms:created>
  <dcterms:modified xsi:type="dcterms:W3CDTF">2026-02-02T19:30:52Z</dcterms:modified>
</cp:coreProperties>
</file>